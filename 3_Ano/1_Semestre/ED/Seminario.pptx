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19"/>
  </p:notesMasterIdLst>
  <p:sldIdLst>
    <p:sldId id="256" r:id="rId2"/>
    <p:sldId id="257" r:id="rId3"/>
    <p:sldId id="350" r:id="rId4"/>
    <p:sldId id="349" r:id="rId5"/>
    <p:sldId id="347" r:id="rId6"/>
    <p:sldId id="351" r:id="rId7"/>
    <p:sldId id="356" r:id="rId8"/>
    <p:sldId id="358" r:id="rId9"/>
    <p:sldId id="360" r:id="rId10"/>
    <p:sldId id="359" r:id="rId11"/>
    <p:sldId id="361" r:id="rId12"/>
    <p:sldId id="364" r:id="rId13"/>
    <p:sldId id="365" r:id="rId14"/>
    <p:sldId id="366" r:id="rId15"/>
    <p:sldId id="362" r:id="rId16"/>
    <p:sldId id="363" r:id="rId17"/>
    <p:sldId id="367" r:id="rId1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Fira Sans Condensed" panose="020B0503050000020004" pitchFamily="34" charset="0"/>
      <p:regular r:id="rId24"/>
      <p:bold r:id="rId25"/>
      <p:italic r:id="rId26"/>
      <p:boldItalic r:id="rId27"/>
    </p:embeddedFont>
    <p:embeddedFont>
      <p:font typeface="Fira Sans Condensed ExtraBold" panose="020B0903050000020004" pitchFamily="34" charset="0"/>
      <p:bold r:id="rId28"/>
      <p:boldItalic r:id="rId29"/>
    </p:embeddedFont>
    <p:embeddedFont>
      <p:font typeface="Karla" pitchFamily="2" charset="0"/>
      <p:regular r:id="rId30"/>
      <p:bold r:id="rId31"/>
    </p:embeddedFont>
    <p:embeddedFont>
      <p:font typeface="Verdana" panose="020B0604030504040204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3C4222C-BA82-4E09-BC66-316E62CD1453}">
  <a:tblStyle styleId="{43C4222C-BA82-4E09-BC66-316E62CD14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51" autoAdjust="0"/>
    <p:restoredTop sz="83146" autoAdjust="0"/>
  </p:normalViewPr>
  <p:slideViewPr>
    <p:cSldViewPr snapToGrid="0">
      <p:cViewPr varScale="1">
        <p:scale>
          <a:sx n="131" d="100"/>
          <a:sy n="131" d="100"/>
        </p:scale>
        <p:origin x="10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71e60a7887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71e60a7887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A cada execução eliminamos metade da árvore tornando a as operações em complexidade logarítmica (árvore equilibrada)</a:t>
            </a:r>
          </a:p>
        </p:txBody>
      </p:sp>
    </p:spTree>
    <p:extLst>
      <p:ext uri="{BB962C8B-B14F-4D97-AF65-F5344CB8AC3E}">
        <p14:creationId xmlns:p14="http://schemas.microsoft.com/office/powerpoint/2010/main" val="1713525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>
                <a:latin typeface="Consolas" panose="020B0609020204030204" pitchFamily="49" charset="0"/>
              </a:rPr>
              <a:t>Node* </a:t>
            </a:r>
            <a:r>
              <a:rPr lang="pt-PT" dirty="0" err="1">
                <a:latin typeface="Consolas" panose="020B0609020204030204" pitchFamily="49" charset="0"/>
              </a:rPr>
              <a:t>search</a:t>
            </a:r>
            <a:r>
              <a:rPr lang="pt-PT" dirty="0">
                <a:latin typeface="Consolas" panose="020B0609020204030204" pitchFamily="49" charset="0"/>
              </a:rPr>
              <a:t>(Node* </a:t>
            </a:r>
            <a:r>
              <a:rPr lang="pt-PT" dirty="0" err="1">
                <a:latin typeface="Consolas" panose="020B0609020204030204" pitchFamily="49" charset="0"/>
              </a:rPr>
              <a:t>root</a:t>
            </a:r>
            <a:r>
              <a:rPr lang="pt-PT" dirty="0">
                <a:latin typeface="Consolas" panose="020B0609020204030204" pitchFamily="49" charset="0"/>
              </a:rPr>
              <a:t>, </a:t>
            </a:r>
            <a:r>
              <a:rPr lang="pt-PT" dirty="0" err="1">
                <a:latin typeface="Consolas" panose="020B0609020204030204" pitchFamily="49" charset="0"/>
              </a:rPr>
              <a:t>int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key</a:t>
            </a:r>
            <a:r>
              <a:rPr lang="pt-PT" dirty="0">
                <a:latin typeface="Consolas" panose="020B0609020204030204" pitchFamily="49" charset="0"/>
              </a:rPr>
              <a:t>) {</a:t>
            </a:r>
          </a:p>
          <a:p>
            <a:r>
              <a:rPr lang="pt-PT" dirty="0">
                <a:latin typeface="Consolas" panose="020B0609020204030204" pitchFamily="49" charset="0"/>
              </a:rPr>
              <a:t>    Node* </a:t>
            </a:r>
            <a:r>
              <a:rPr lang="pt-PT" dirty="0" err="1">
                <a:latin typeface="Consolas" panose="020B0609020204030204" pitchFamily="49" charset="0"/>
              </a:rPr>
              <a:t>curr</a:t>
            </a:r>
            <a:r>
              <a:rPr lang="pt-PT" dirty="0">
                <a:latin typeface="Consolas" panose="020B0609020204030204" pitchFamily="49" charset="0"/>
              </a:rPr>
              <a:t> = </a:t>
            </a:r>
            <a:r>
              <a:rPr lang="pt-PT" dirty="0" err="1">
                <a:latin typeface="Consolas" panose="020B0609020204030204" pitchFamily="49" charset="0"/>
              </a:rPr>
              <a:t>root</a:t>
            </a:r>
            <a:r>
              <a:rPr lang="pt-PT" dirty="0">
                <a:latin typeface="Consolas" panose="020B0609020204030204" pitchFamily="49" charset="0"/>
              </a:rPr>
              <a:t>;</a:t>
            </a:r>
          </a:p>
          <a:p>
            <a:r>
              <a:rPr lang="pt-PT" dirty="0">
                <a:latin typeface="Consolas" panose="020B0609020204030204" pitchFamily="49" charset="0"/>
              </a:rPr>
              <a:t>    </a:t>
            </a:r>
            <a:r>
              <a:rPr lang="pt-PT" dirty="0" err="1">
                <a:latin typeface="Consolas" panose="020B0609020204030204" pitchFamily="49" charset="0"/>
              </a:rPr>
              <a:t>while</a:t>
            </a:r>
            <a:r>
              <a:rPr lang="pt-PT" dirty="0">
                <a:latin typeface="Consolas" panose="020B0609020204030204" pitchFamily="49" charset="0"/>
              </a:rPr>
              <a:t> (</a:t>
            </a:r>
            <a:r>
              <a:rPr lang="pt-PT" dirty="0" err="1">
                <a:latin typeface="Consolas" panose="020B0609020204030204" pitchFamily="49" charset="0"/>
              </a:rPr>
              <a:t>curr</a:t>
            </a:r>
            <a:r>
              <a:rPr lang="pt-PT" dirty="0">
                <a:latin typeface="Consolas" panose="020B0609020204030204" pitchFamily="49" charset="0"/>
              </a:rPr>
              <a:t> != NULL) {</a:t>
            </a:r>
          </a:p>
          <a:p>
            <a:r>
              <a:rPr lang="pt-PT" dirty="0">
                <a:latin typeface="Consolas" panose="020B0609020204030204" pitchFamily="49" charset="0"/>
              </a:rPr>
              <a:t>        </a:t>
            </a:r>
            <a:r>
              <a:rPr lang="pt-PT" dirty="0" err="1">
                <a:latin typeface="Consolas" panose="020B0609020204030204" pitchFamily="49" charset="0"/>
              </a:rPr>
              <a:t>if</a:t>
            </a:r>
            <a:r>
              <a:rPr lang="pt-PT" dirty="0">
                <a:latin typeface="Consolas" panose="020B0609020204030204" pitchFamily="49" charset="0"/>
              </a:rPr>
              <a:t> (</a:t>
            </a:r>
            <a:r>
              <a:rPr lang="pt-PT" dirty="0" err="1">
                <a:latin typeface="Consolas" panose="020B0609020204030204" pitchFamily="49" charset="0"/>
              </a:rPr>
              <a:t>key</a:t>
            </a:r>
            <a:r>
              <a:rPr lang="pt-PT" dirty="0">
                <a:latin typeface="Consolas" panose="020B0609020204030204" pitchFamily="49" charset="0"/>
              </a:rPr>
              <a:t> == </a:t>
            </a:r>
            <a:r>
              <a:rPr lang="pt-PT" dirty="0" err="1">
                <a:latin typeface="Consolas" panose="020B0609020204030204" pitchFamily="49" charset="0"/>
              </a:rPr>
              <a:t>curr</a:t>
            </a:r>
            <a:r>
              <a:rPr lang="pt-PT" dirty="0">
                <a:latin typeface="Consolas" panose="020B0609020204030204" pitchFamily="49" charset="0"/>
              </a:rPr>
              <a:t>-&gt;data) {</a:t>
            </a:r>
          </a:p>
          <a:p>
            <a:r>
              <a:rPr lang="pt-PT" dirty="0">
                <a:latin typeface="Consolas" panose="020B0609020204030204" pitchFamily="49" charset="0"/>
              </a:rPr>
              <a:t>            </a:t>
            </a:r>
            <a:r>
              <a:rPr lang="pt-PT" dirty="0" err="1">
                <a:latin typeface="Consolas" panose="020B0609020204030204" pitchFamily="49" charset="0"/>
              </a:rPr>
              <a:t>return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curr</a:t>
            </a:r>
            <a:r>
              <a:rPr lang="pt-PT" dirty="0">
                <a:latin typeface="Consolas" panose="020B0609020204030204" pitchFamily="49" charset="0"/>
              </a:rPr>
              <a:t>;</a:t>
            </a:r>
          </a:p>
          <a:p>
            <a:r>
              <a:rPr lang="pt-PT" dirty="0">
                <a:latin typeface="Consolas" panose="020B0609020204030204" pitchFamily="49" charset="0"/>
              </a:rPr>
              <a:t>        } </a:t>
            </a:r>
            <a:r>
              <a:rPr lang="pt-PT" dirty="0" err="1">
                <a:latin typeface="Consolas" panose="020B0609020204030204" pitchFamily="49" charset="0"/>
              </a:rPr>
              <a:t>else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if</a:t>
            </a:r>
            <a:r>
              <a:rPr lang="pt-PT" dirty="0">
                <a:latin typeface="Consolas" panose="020B0609020204030204" pitchFamily="49" charset="0"/>
              </a:rPr>
              <a:t> (</a:t>
            </a:r>
            <a:r>
              <a:rPr lang="pt-PT" dirty="0" err="1">
                <a:latin typeface="Consolas" panose="020B0609020204030204" pitchFamily="49" charset="0"/>
              </a:rPr>
              <a:t>key</a:t>
            </a:r>
            <a:r>
              <a:rPr lang="pt-PT" dirty="0">
                <a:latin typeface="Consolas" panose="020B0609020204030204" pitchFamily="49" charset="0"/>
              </a:rPr>
              <a:t> &lt; </a:t>
            </a:r>
            <a:r>
              <a:rPr lang="pt-PT" dirty="0" err="1">
                <a:latin typeface="Consolas" panose="020B0609020204030204" pitchFamily="49" charset="0"/>
              </a:rPr>
              <a:t>curr</a:t>
            </a:r>
            <a:r>
              <a:rPr lang="pt-PT" dirty="0">
                <a:latin typeface="Consolas" panose="020B0609020204030204" pitchFamily="49" charset="0"/>
              </a:rPr>
              <a:t>-&gt;data) {</a:t>
            </a:r>
          </a:p>
          <a:p>
            <a:r>
              <a:rPr lang="pt-PT" dirty="0">
                <a:latin typeface="Consolas" panose="020B0609020204030204" pitchFamily="49" charset="0"/>
              </a:rPr>
              <a:t>            // Se for um </a:t>
            </a:r>
            <a:r>
              <a:rPr lang="pt-PT" dirty="0" err="1">
                <a:latin typeface="Consolas" panose="020B0609020204030204" pitchFamily="49" charset="0"/>
              </a:rPr>
              <a:t>thread</a:t>
            </a:r>
            <a:r>
              <a:rPr lang="pt-PT" dirty="0">
                <a:latin typeface="Consolas" panose="020B0609020204030204" pitchFamily="49" charset="0"/>
              </a:rPr>
              <a:t>, não podemos seguir para a esquerda, então a chave não está presente</a:t>
            </a:r>
          </a:p>
          <a:p>
            <a:r>
              <a:rPr lang="pt-PT" dirty="0">
                <a:latin typeface="Consolas" panose="020B0609020204030204" pitchFamily="49" charset="0"/>
              </a:rPr>
              <a:t>            </a:t>
            </a:r>
            <a:r>
              <a:rPr lang="pt-PT" dirty="0" err="1">
                <a:latin typeface="Consolas" panose="020B0609020204030204" pitchFamily="49" charset="0"/>
              </a:rPr>
              <a:t>if</a:t>
            </a:r>
            <a:r>
              <a:rPr lang="pt-PT" dirty="0">
                <a:latin typeface="Consolas" panose="020B0609020204030204" pitchFamily="49" charset="0"/>
              </a:rPr>
              <a:t> (</a:t>
            </a:r>
            <a:r>
              <a:rPr lang="pt-PT" dirty="0" err="1">
                <a:latin typeface="Consolas" panose="020B0609020204030204" pitchFamily="49" charset="0"/>
              </a:rPr>
              <a:t>curr</a:t>
            </a:r>
            <a:r>
              <a:rPr lang="pt-PT" dirty="0">
                <a:latin typeface="Consolas" panose="020B0609020204030204" pitchFamily="49" charset="0"/>
              </a:rPr>
              <a:t>-&gt;</a:t>
            </a:r>
            <a:r>
              <a:rPr lang="pt-PT" dirty="0" err="1">
                <a:latin typeface="Consolas" panose="020B0609020204030204" pitchFamily="49" charset="0"/>
              </a:rPr>
              <a:t>leftThread</a:t>
            </a:r>
            <a:r>
              <a:rPr lang="pt-PT" dirty="0">
                <a:latin typeface="Consolas" panose="020B0609020204030204" pitchFamily="49" charset="0"/>
              </a:rPr>
              <a:t>) {</a:t>
            </a:r>
          </a:p>
          <a:p>
            <a:r>
              <a:rPr lang="pt-PT" dirty="0">
                <a:latin typeface="Consolas" panose="020B0609020204030204" pitchFamily="49" charset="0"/>
              </a:rPr>
              <a:t>                </a:t>
            </a:r>
            <a:r>
              <a:rPr lang="pt-PT" dirty="0" err="1">
                <a:latin typeface="Consolas" panose="020B0609020204030204" pitchFamily="49" charset="0"/>
              </a:rPr>
              <a:t>return</a:t>
            </a:r>
            <a:r>
              <a:rPr lang="pt-PT" dirty="0">
                <a:latin typeface="Consolas" panose="020B0609020204030204" pitchFamily="49" charset="0"/>
              </a:rPr>
              <a:t> NULL;</a:t>
            </a:r>
          </a:p>
          <a:p>
            <a:r>
              <a:rPr lang="pt-PT" dirty="0">
                <a:latin typeface="Consolas" panose="020B0609020204030204" pitchFamily="49" charset="0"/>
              </a:rPr>
              <a:t>            }</a:t>
            </a:r>
          </a:p>
          <a:p>
            <a:r>
              <a:rPr lang="pt-PT" dirty="0">
                <a:latin typeface="Consolas" panose="020B0609020204030204" pitchFamily="49" charset="0"/>
              </a:rPr>
              <a:t>            </a:t>
            </a:r>
            <a:r>
              <a:rPr lang="pt-PT" dirty="0" err="1">
                <a:latin typeface="Consolas" panose="020B0609020204030204" pitchFamily="49" charset="0"/>
              </a:rPr>
              <a:t>curr</a:t>
            </a:r>
            <a:r>
              <a:rPr lang="pt-PT" dirty="0">
                <a:latin typeface="Consolas" panose="020B0609020204030204" pitchFamily="49" charset="0"/>
              </a:rPr>
              <a:t> = </a:t>
            </a:r>
            <a:r>
              <a:rPr lang="pt-PT" dirty="0" err="1">
                <a:latin typeface="Consolas" panose="020B0609020204030204" pitchFamily="49" charset="0"/>
              </a:rPr>
              <a:t>curr</a:t>
            </a:r>
            <a:r>
              <a:rPr lang="pt-PT" dirty="0">
                <a:latin typeface="Consolas" panose="020B0609020204030204" pitchFamily="49" charset="0"/>
              </a:rPr>
              <a:t>-&gt;</a:t>
            </a:r>
            <a:r>
              <a:rPr lang="pt-PT" dirty="0" err="1">
                <a:latin typeface="Consolas" panose="020B0609020204030204" pitchFamily="49" charset="0"/>
              </a:rPr>
              <a:t>left</a:t>
            </a:r>
            <a:r>
              <a:rPr lang="pt-PT" dirty="0">
                <a:latin typeface="Consolas" panose="020B0609020204030204" pitchFamily="49" charset="0"/>
              </a:rPr>
              <a:t>;</a:t>
            </a:r>
          </a:p>
          <a:p>
            <a:r>
              <a:rPr lang="pt-PT" dirty="0">
                <a:latin typeface="Consolas" panose="020B0609020204030204" pitchFamily="49" charset="0"/>
              </a:rPr>
              <a:t>        } </a:t>
            </a:r>
            <a:r>
              <a:rPr lang="pt-PT" dirty="0" err="1">
                <a:latin typeface="Consolas" panose="020B0609020204030204" pitchFamily="49" charset="0"/>
              </a:rPr>
              <a:t>else</a:t>
            </a:r>
            <a:r>
              <a:rPr lang="pt-PT" dirty="0">
                <a:latin typeface="Consolas" panose="020B0609020204030204" pitchFamily="49" charset="0"/>
              </a:rPr>
              <a:t> { // </a:t>
            </a:r>
            <a:r>
              <a:rPr lang="pt-PT" dirty="0" err="1">
                <a:latin typeface="Consolas" panose="020B0609020204030204" pitchFamily="49" charset="0"/>
              </a:rPr>
              <a:t>key</a:t>
            </a:r>
            <a:r>
              <a:rPr lang="pt-PT" dirty="0">
                <a:latin typeface="Consolas" panose="020B0609020204030204" pitchFamily="49" charset="0"/>
              </a:rPr>
              <a:t> &gt; </a:t>
            </a:r>
            <a:r>
              <a:rPr lang="pt-PT" dirty="0" err="1">
                <a:latin typeface="Consolas" panose="020B0609020204030204" pitchFamily="49" charset="0"/>
              </a:rPr>
              <a:t>curr</a:t>
            </a:r>
            <a:r>
              <a:rPr lang="pt-PT" dirty="0">
                <a:latin typeface="Consolas" panose="020B0609020204030204" pitchFamily="49" charset="0"/>
              </a:rPr>
              <a:t>-&gt;data</a:t>
            </a:r>
          </a:p>
          <a:p>
            <a:r>
              <a:rPr lang="pt-PT" dirty="0">
                <a:latin typeface="Consolas" panose="020B0609020204030204" pitchFamily="49" charset="0"/>
              </a:rPr>
              <a:t>            // Se for um </a:t>
            </a:r>
            <a:r>
              <a:rPr lang="pt-PT" dirty="0" err="1">
                <a:latin typeface="Consolas" panose="020B0609020204030204" pitchFamily="49" charset="0"/>
              </a:rPr>
              <a:t>thread</a:t>
            </a:r>
            <a:r>
              <a:rPr lang="pt-PT" dirty="0">
                <a:latin typeface="Consolas" panose="020B0609020204030204" pitchFamily="49" charset="0"/>
              </a:rPr>
              <a:t>, não podemos seguir para a direita, então a chave não está presente</a:t>
            </a:r>
          </a:p>
          <a:p>
            <a:r>
              <a:rPr lang="pt-PT" dirty="0">
                <a:latin typeface="Consolas" panose="020B0609020204030204" pitchFamily="49" charset="0"/>
              </a:rPr>
              <a:t>            </a:t>
            </a:r>
            <a:r>
              <a:rPr lang="pt-PT" dirty="0" err="1">
                <a:latin typeface="Consolas" panose="020B0609020204030204" pitchFamily="49" charset="0"/>
              </a:rPr>
              <a:t>if</a:t>
            </a:r>
            <a:r>
              <a:rPr lang="pt-PT" dirty="0">
                <a:latin typeface="Consolas" panose="020B0609020204030204" pitchFamily="49" charset="0"/>
              </a:rPr>
              <a:t> (</a:t>
            </a:r>
            <a:r>
              <a:rPr lang="pt-PT" dirty="0" err="1">
                <a:latin typeface="Consolas" panose="020B0609020204030204" pitchFamily="49" charset="0"/>
              </a:rPr>
              <a:t>curr</a:t>
            </a:r>
            <a:r>
              <a:rPr lang="pt-PT" dirty="0">
                <a:latin typeface="Consolas" panose="020B0609020204030204" pitchFamily="49" charset="0"/>
              </a:rPr>
              <a:t>-&gt;</a:t>
            </a:r>
            <a:r>
              <a:rPr lang="pt-PT" dirty="0" err="1">
                <a:latin typeface="Consolas" panose="020B0609020204030204" pitchFamily="49" charset="0"/>
              </a:rPr>
              <a:t>rightThread</a:t>
            </a:r>
            <a:r>
              <a:rPr lang="pt-PT" dirty="0">
                <a:latin typeface="Consolas" panose="020B0609020204030204" pitchFamily="49" charset="0"/>
              </a:rPr>
              <a:t>) {</a:t>
            </a:r>
          </a:p>
          <a:p>
            <a:r>
              <a:rPr lang="pt-PT" dirty="0">
                <a:latin typeface="Consolas" panose="020B0609020204030204" pitchFamily="49" charset="0"/>
              </a:rPr>
              <a:t>                </a:t>
            </a:r>
            <a:r>
              <a:rPr lang="pt-PT" dirty="0" err="1">
                <a:latin typeface="Consolas" panose="020B0609020204030204" pitchFamily="49" charset="0"/>
              </a:rPr>
              <a:t>return</a:t>
            </a:r>
            <a:r>
              <a:rPr lang="pt-PT" dirty="0">
                <a:latin typeface="Consolas" panose="020B0609020204030204" pitchFamily="49" charset="0"/>
              </a:rPr>
              <a:t> NULL;</a:t>
            </a:r>
          </a:p>
          <a:p>
            <a:r>
              <a:rPr lang="pt-PT" dirty="0">
                <a:latin typeface="Consolas" panose="020B0609020204030204" pitchFamily="49" charset="0"/>
              </a:rPr>
              <a:t>            }</a:t>
            </a:r>
          </a:p>
          <a:p>
            <a:r>
              <a:rPr lang="pt-PT" dirty="0">
                <a:latin typeface="Consolas" panose="020B0609020204030204" pitchFamily="49" charset="0"/>
              </a:rPr>
              <a:t>            </a:t>
            </a:r>
            <a:r>
              <a:rPr lang="pt-PT" dirty="0" err="1">
                <a:latin typeface="Consolas" panose="020B0609020204030204" pitchFamily="49" charset="0"/>
              </a:rPr>
              <a:t>curr</a:t>
            </a:r>
            <a:r>
              <a:rPr lang="pt-PT" dirty="0">
                <a:latin typeface="Consolas" panose="020B0609020204030204" pitchFamily="49" charset="0"/>
              </a:rPr>
              <a:t> = </a:t>
            </a:r>
            <a:r>
              <a:rPr lang="pt-PT" dirty="0" err="1">
                <a:latin typeface="Consolas" panose="020B0609020204030204" pitchFamily="49" charset="0"/>
              </a:rPr>
              <a:t>curr</a:t>
            </a:r>
            <a:r>
              <a:rPr lang="pt-PT" dirty="0">
                <a:latin typeface="Consolas" panose="020B0609020204030204" pitchFamily="49" charset="0"/>
              </a:rPr>
              <a:t>-&gt;</a:t>
            </a:r>
            <a:r>
              <a:rPr lang="pt-PT" dirty="0" err="1">
                <a:latin typeface="Consolas" panose="020B0609020204030204" pitchFamily="49" charset="0"/>
              </a:rPr>
              <a:t>right</a:t>
            </a:r>
            <a:r>
              <a:rPr lang="pt-PT" dirty="0">
                <a:latin typeface="Consolas" panose="020B0609020204030204" pitchFamily="49" charset="0"/>
              </a:rPr>
              <a:t>;</a:t>
            </a:r>
          </a:p>
          <a:p>
            <a:r>
              <a:rPr lang="pt-PT" dirty="0">
                <a:latin typeface="Consolas" panose="020B0609020204030204" pitchFamily="49" charset="0"/>
              </a:rPr>
              <a:t>        }</a:t>
            </a:r>
          </a:p>
          <a:p>
            <a:r>
              <a:rPr lang="pt-PT" dirty="0">
                <a:latin typeface="Consolas" panose="020B0609020204030204" pitchFamily="49" charset="0"/>
              </a:rPr>
              <a:t>    }</a:t>
            </a:r>
          </a:p>
          <a:p>
            <a:r>
              <a:rPr lang="pt-PT" dirty="0">
                <a:latin typeface="Consolas" panose="020B0609020204030204" pitchFamily="49" charset="0"/>
              </a:rPr>
              <a:t>    </a:t>
            </a:r>
            <a:r>
              <a:rPr lang="pt-PT" dirty="0" err="1">
                <a:latin typeface="Consolas" panose="020B0609020204030204" pitchFamily="49" charset="0"/>
              </a:rPr>
              <a:t>return</a:t>
            </a:r>
            <a:r>
              <a:rPr lang="pt-PT" dirty="0">
                <a:latin typeface="Consolas" panose="020B0609020204030204" pitchFamily="49" charset="0"/>
              </a:rPr>
              <a:t> NULL;</a:t>
            </a:r>
          </a:p>
          <a:p>
            <a:r>
              <a:rPr lang="pt-PT" dirty="0">
                <a:latin typeface="Consolas" panose="020B0609020204030204" pitchFamily="49" charset="0"/>
              </a:rPr>
              <a:t>}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739518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20675" indent="-171450"/>
            <a:r>
              <a:rPr lang="pt-PT" dirty="0">
                <a:latin typeface="Consolas" panose="020B0609020204030204" pitchFamily="49" charset="0"/>
              </a:rPr>
              <a:t> Começam a </a:t>
            </a:r>
            <a:r>
              <a:rPr lang="pt-PT" dirty="0" err="1">
                <a:latin typeface="Consolas" panose="020B0609020204030204" pitchFamily="49" charset="0"/>
              </a:rPr>
              <a:t>true</a:t>
            </a:r>
            <a:r>
              <a:rPr lang="pt-PT" dirty="0">
                <a:latin typeface="Consolas" panose="020B0609020204030204" pitchFamily="49" charset="0"/>
              </a:rPr>
              <a:t> porque se assume o nó sentinela</a:t>
            </a:r>
          </a:p>
          <a:p>
            <a:pPr marL="320675" indent="-171450"/>
            <a:r>
              <a:rPr lang="pt-PT" dirty="0" err="1">
                <a:latin typeface="Consolas" panose="020B0609020204030204" pitchFamily="49" charset="0"/>
              </a:rPr>
              <a:t>this.isLeftThread</a:t>
            </a:r>
            <a:r>
              <a:rPr lang="pt-PT" dirty="0">
                <a:latin typeface="Consolas" panose="020B0609020204030204" pitchFamily="49" charset="0"/>
              </a:rPr>
              <a:t> = </a:t>
            </a:r>
            <a:r>
              <a:rPr lang="pt-PT" dirty="0" err="1">
                <a:latin typeface="Consolas" panose="020B0609020204030204" pitchFamily="49" charset="0"/>
              </a:rPr>
              <a:t>true</a:t>
            </a:r>
            <a:r>
              <a:rPr lang="pt-PT" dirty="0">
                <a:latin typeface="Consolas" panose="020B0609020204030204" pitchFamily="49" charset="0"/>
              </a:rPr>
              <a:t>;  </a:t>
            </a:r>
          </a:p>
          <a:p>
            <a:pPr marL="320675" indent="-171450"/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this.isRightThread</a:t>
            </a:r>
            <a:r>
              <a:rPr lang="pt-PT" dirty="0">
                <a:latin typeface="Consolas" panose="020B0609020204030204" pitchFamily="49" charset="0"/>
              </a:rPr>
              <a:t> = </a:t>
            </a:r>
            <a:r>
              <a:rPr lang="pt-PT" dirty="0" err="1">
                <a:latin typeface="Consolas" panose="020B0609020204030204" pitchFamily="49" charset="0"/>
              </a:rPr>
              <a:t>true</a:t>
            </a:r>
            <a:r>
              <a:rPr lang="pt-PT" dirty="0">
                <a:latin typeface="Consolas" panose="020B0609020204030204" pitchFamily="49" charset="0"/>
              </a:rPr>
              <a:t>; 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942429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>
                <a:latin typeface="Consolas" panose="020B0609020204030204" pitchFamily="49" charset="0"/>
              </a:rPr>
              <a:t>// </a:t>
            </a:r>
            <a:r>
              <a:rPr lang="pt-PT" dirty="0" err="1">
                <a:latin typeface="Consolas" panose="020B0609020204030204" pitchFamily="49" charset="0"/>
              </a:rPr>
              <a:t>public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class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ThreadedBinaryTree</a:t>
            </a:r>
            <a:r>
              <a:rPr lang="pt-PT" dirty="0">
                <a:latin typeface="Consolas" panose="020B0609020204030204" pitchFamily="49" charset="0"/>
              </a:rPr>
              <a:t>&lt;T </a:t>
            </a:r>
            <a:r>
              <a:rPr lang="pt-PT" dirty="0" err="1">
                <a:latin typeface="Consolas" panose="020B0609020204030204" pitchFamily="49" charset="0"/>
              </a:rPr>
              <a:t>extends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Comparable</a:t>
            </a:r>
            <a:r>
              <a:rPr lang="pt-PT" dirty="0">
                <a:latin typeface="Consolas" panose="020B0609020204030204" pitchFamily="49" charset="0"/>
              </a:rPr>
              <a:t>&lt;T&gt;&gt; { ... }</a:t>
            </a:r>
          </a:p>
          <a:p>
            <a:endParaRPr lang="pt-PT" dirty="0">
              <a:latin typeface="Consolas" panose="020B0609020204030204" pitchFamily="49" charset="0"/>
            </a:endParaRPr>
          </a:p>
          <a:p>
            <a:r>
              <a:rPr lang="pt-PT" dirty="0" err="1">
                <a:latin typeface="Consolas" panose="020B0609020204030204" pitchFamily="49" charset="0"/>
              </a:rPr>
              <a:t>public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ThreadedNode</a:t>
            </a:r>
            <a:r>
              <a:rPr lang="pt-PT" dirty="0">
                <a:latin typeface="Consolas" panose="020B0609020204030204" pitchFamily="49" charset="0"/>
              </a:rPr>
              <a:t>&lt;T&gt; </a:t>
            </a:r>
            <a:r>
              <a:rPr lang="pt-PT" dirty="0" err="1">
                <a:latin typeface="Consolas" panose="020B0609020204030204" pitchFamily="49" charset="0"/>
              </a:rPr>
              <a:t>insert</a:t>
            </a:r>
            <a:r>
              <a:rPr lang="pt-PT" dirty="0">
                <a:latin typeface="Consolas" panose="020B0609020204030204" pitchFamily="49" charset="0"/>
              </a:rPr>
              <a:t>(</a:t>
            </a:r>
            <a:r>
              <a:rPr lang="pt-PT" dirty="0" err="1">
                <a:latin typeface="Consolas" panose="020B0609020204030204" pitchFamily="49" charset="0"/>
              </a:rPr>
              <a:t>ThreadedNode</a:t>
            </a:r>
            <a:r>
              <a:rPr lang="pt-PT" dirty="0">
                <a:latin typeface="Consolas" panose="020B0609020204030204" pitchFamily="49" charset="0"/>
              </a:rPr>
              <a:t>&lt;T&gt; </a:t>
            </a:r>
            <a:r>
              <a:rPr lang="pt-PT" dirty="0" err="1">
                <a:latin typeface="Consolas" panose="020B0609020204030204" pitchFamily="49" charset="0"/>
              </a:rPr>
              <a:t>root</a:t>
            </a:r>
            <a:r>
              <a:rPr lang="pt-PT" dirty="0">
                <a:latin typeface="Consolas" panose="020B0609020204030204" pitchFamily="49" charset="0"/>
              </a:rPr>
              <a:t>, T data) {</a:t>
            </a:r>
          </a:p>
          <a:p>
            <a:r>
              <a:rPr lang="pt-PT" dirty="0">
                <a:latin typeface="Consolas" panose="020B0609020204030204" pitchFamily="49" charset="0"/>
              </a:rPr>
              <a:t>    </a:t>
            </a:r>
          </a:p>
          <a:p>
            <a:r>
              <a:rPr lang="pt-PT" dirty="0">
                <a:latin typeface="Consolas" panose="020B0609020204030204" pitchFamily="49" charset="0"/>
              </a:rPr>
              <a:t>    // 1. Encontrar o local de inserção e o nó pai</a:t>
            </a:r>
          </a:p>
          <a:p>
            <a:r>
              <a:rPr lang="pt-PT" dirty="0">
                <a:latin typeface="Consolas" panose="020B0609020204030204" pitchFamily="49" charset="0"/>
              </a:rPr>
              <a:t>    </a:t>
            </a:r>
            <a:r>
              <a:rPr lang="pt-PT" dirty="0" err="1">
                <a:latin typeface="Consolas" panose="020B0609020204030204" pitchFamily="49" charset="0"/>
              </a:rPr>
              <a:t>ThreadedNode</a:t>
            </a:r>
            <a:r>
              <a:rPr lang="pt-PT" dirty="0">
                <a:latin typeface="Consolas" panose="020B0609020204030204" pitchFamily="49" charset="0"/>
              </a:rPr>
              <a:t>&lt;T&gt; </a:t>
            </a:r>
            <a:r>
              <a:rPr lang="pt-PT" dirty="0" err="1">
                <a:latin typeface="Consolas" panose="020B0609020204030204" pitchFamily="49" charset="0"/>
              </a:rPr>
              <a:t>parent</a:t>
            </a:r>
            <a:r>
              <a:rPr lang="pt-PT" dirty="0">
                <a:latin typeface="Consolas" panose="020B0609020204030204" pitchFamily="49" charset="0"/>
              </a:rPr>
              <a:t> = </a:t>
            </a:r>
            <a:r>
              <a:rPr lang="pt-PT" dirty="0" err="1">
                <a:latin typeface="Consolas" panose="020B0609020204030204" pitchFamily="49" charset="0"/>
              </a:rPr>
              <a:t>null</a:t>
            </a:r>
            <a:r>
              <a:rPr lang="pt-PT" dirty="0">
                <a:latin typeface="Consolas" panose="020B0609020204030204" pitchFamily="49" charset="0"/>
              </a:rPr>
              <a:t>;</a:t>
            </a:r>
          </a:p>
          <a:p>
            <a:r>
              <a:rPr lang="pt-PT" dirty="0">
                <a:latin typeface="Consolas" panose="020B0609020204030204" pitchFamily="49" charset="0"/>
              </a:rPr>
              <a:t>    </a:t>
            </a:r>
            <a:r>
              <a:rPr lang="pt-PT" dirty="0" err="1">
                <a:latin typeface="Consolas" panose="020B0609020204030204" pitchFamily="49" charset="0"/>
              </a:rPr>
              <a:t>ThreadedNode</a:t>
            </a:r>
            <a:r>
              <a:rPr lang="pt-PT" dirty="0">
                <a:latin typeface="Consolas" panose="020B0609020204030204" pitchFamily="49" charset="0"/>
              </a:rPr>
              <a:t>&lt;T&gt; </a:t>
            </a:r>
            <a:r>
              <a:rPr lang="pt-PT" dirty="0" err="1">
                <a:latin typeface="Consolas" panose="020B0609020204030204" pitchFamily="49" charset="0"/>
              </a:rPr>
              <a:t>curr</a:t>
            </a:r>
            <a:r>
              <a:rPr lang="pt-PT" dirty="0">
                <a:latin typeface="Consolas" panose="020B0609020204030204" pitchFamily="49" charset="0"/>
              </a:rPr>
              <a:t> = </a:t>
            </a:r>
            <a:r>
              <a:rPr lang="pt-PT" dirty="0" err="1">
                <a:latin typeface="Consolas" panose="020B0609020204030204" pitchFamily="49" charset="0"/>
              </a:rPr>
              <a:t>root</a:t>
            </a:r>
            <a:r>
              <a:rPr lang="pt-PT" dirty="0">
                <a:latin typeface="Consolas" panose="020B0609020204030204" pitchFamily="49" charset="0"/>
              </a:rPr>
              <a:t>;</a:t>
            </a:r>
          </a:p>
          <a:p>
            <a:endParaRPr lang="pt-PT" dirty="0">
              <a:latin typeface="Consolas" panose="020B0609020204030204" pitchFamily="49" charset="0"/>
            </a:endParaRPr>
          </a:p>
          <a:p>
            <a:r>
              <a:rPr lang="pt-PT" dirty="0">
                <a:latin typeface="Consolas" panose="020B0609020204030204" pitchFamily="49" charset="0"/>
              </a:rPr>
              <a:t>    </a:t>
            </a:r>
            <a:r>
              <a:rPr lang="pt-PT" dirty="0" err="1">
                <a:latin typeface="Consolas" panose="020B0609020204030204" pitchFamily="49" charset="0"/>
              </a:rPr>
              <a:t>while</a:t>
            </a:r>
            <a:r>
              <a:rPr lang="pt-PT" dirty="0">
                <a:latin typeface="Consolas" panose="020B0609020204030204" pitchFamily="49" charset="0"/>
              </a:rPr>
              <a:t> (</a:t>
            </a:r>
            <a:r>
              <a:rPr lang="pt-PT" dirty="0" err="1">
                <a:latin typeface="Consolas" panose="020B0609020204030204" pitchFamily="49" charset="0"/>
              </a:rPr>
              <a:t>curr</a:t>
            </a:r>
            <a:r>
              <a:rPr lang="pt-PT" dirty="0">
                <a:latin typeface="Consolas" panose="020B0609020204030204" pitchFamily="49" charset="0"/>
              </a:rPr>
              <a:t> != </a:t>
            </a:r>
            <a:r>
              <a:rPr lang="pt-PT" dirty="0" err="1">
                <a:latin typeface="Consolas" panose="020B0609020204030204" pitchFamily="49" charset="0"/>
              </a:rPr>
              <a:t>null</a:t>
            </a:r>
            <a:r>
              <a:rPr lang="pt-PT" dirty="0">
                <a:latin typeface="Consolas" panose="020B0609020204030204" pitchFamily="49" charset="0"/>
              </a:rPr>
              <a:t>) {</a:t>
            </a:r>
          </a:p>
          <a:p>
            <a:r>
              <a:rPr lang="pt-PT" dirty="0">
                <a:latin typeface="Consolas" panose="020B0609020204030204" pitchFamily="49" charset="0"/>
              </a:rPr>
              <a:t>        </a:t>
            </a:r>
            <a:r>
              <a:rPr lang="pt-PT" dirty="0" err="1">
                <a:latin typeface="Consolas" panose="020B0609020204030204" pitchFamily="49" charset="0"/>
              </a:rPr>
              <a:t>parent</a:t>
            </a:r>
            <a:r>
              <a:rPr lang="pt-PT" dirty="0">
                <a:latin typeface="Consolas" panose="020B0609020204030204" pitchFamily="49" charset="0"/>
              </a:rPr>
              <a:t> = </a:t>
            </a:r>
            <a:r>
              <a:rPr lang="pt-PT" dirty="0" err="1">
                <a:latin typeface="Consolas" panose="020B0609020204030204" pitchFamily="49" charset="0"/>
              </a:rPr>
              <a:t>curr</a:t>
            </a:r>
            <a:r>
              <a:rPr lang="pt-PT" dirty="0">
                <a:latin typeface="Consolas" panose="020B0609020204030204" pitchFamily="49" charset="0"/>
              </a:rPr>
              <a:t>;</a:t>
            </a:r>
          </a:p>
          <a:p>
            <a:r>
              <a:rPr lang="pt-PT" dirty="0">
                <a:latin typeface="Consolas" panose="020B0609020204030204" pitchFamily="49" charset="0"/>
              </a:rPr>
              <a:t>        </a:t>
            </a:r>
          </a:p>
          <a:p>
            <a:r>
              <a:rPr lang="pt-PT" dirty="0" err="1">
                <a:latin typeface="Consolas" panose="020B0609020204030204" pitchFamily="49" charset="0"/>
              </a:rPr>
              <a:t>int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compareResult</a:t>
            </a:r>
            <a:r>
              <a:rPr lang="pt-PT" dirty="0">
                <a:latin typeface="Consolas" panose="020B0609020204030204" pitchFamily="49" charset="0"/>
              </a:rPr>
              <a:t> = </a:t>
            </a:r>
            <a:r>
              <a:rPr lang="pt-PT" dirty="0" err="1">
                <a:latin typeface="Consolas" panose="020B0609020204030204" pitchFamily="49" charset="0"/>
              </a:rPr>
              <a:t>data.compareTo</a:t>
            </a:r>
            <a:r>
              <a:rPr lang="pt-PT" dirty="0">
                <a:latin typeface="Consolas" panose="020B0609020204030204" pitchFamily="49" charset="0"/>
              </a:rPr>
              <a:t>(</a:t>
            </a:r>
            <a:r>
              <a:rPr lang="pt-PT" dirty="0" err="1">
                <a:latin typeface="Consolas" panose="020B0609020204030204" pitchFamily="49" charset="0"/>
              </a:rPr>
              <a:t>curr.getData</a:t>
            </a:r>
            <a:r>
              <a:rPr lang="pt-PT" dirty="0">
                <a:latin typeface="Consolas" panose="020B0609020204030204" pitchFamily="49" charset="0"/>
              </a:rPr>
              <a:t>());</a:t>
            </a:r>
          </a:p>
          <a:p>
            <a:r>
              <a:rPr lang="pt-PT" dirty="0">
                <a:latin typeface="Consolas" panose="020B0609020204030204" pitchFamily="49" charset="0"/>
              </a:rPr>
              <a:t>        </a:t>
            </a:r>
          </a:p>
          <a:p>
            <a:r>
              <a:rPr lang="pt-PT" dirty="0">
                <a:latin typeface="Consolas" panose="020B0609020204030204" pitchFamily="49" charset="0"/>
              </a:rPr>
              <a:t>        </a:t>
            </a:r>
            <a:r>
              <a:rPr lang="pt-PT" dirty="0" err="1">
                <a:latin typeface="Consolas" panose="020B0609020204030204" pitchFamily="49" charset="0"/>
              </a:rPr>
              <a:t>if</a:t>
            </a:r>
            <a:r>
              <a:rPr lang="pt-PT" dirty="0">
                <a:latin typeface="Consolas" panose="020B0609020204030204" pitchFamily="49" charset="0"/>
              </a:rPr>
              <a:t> (</a:t>
            </a:r>
            <a:r>
              <a:rPr lang="pt-PT" dirty="0" err="1">
                <a:latin typeface="Consolas" panose="020B0609020204030204" pitchFamily="49" charset="0"/>
              </a:rPr>
              <a:t>compareResult</a:t>
            </a:r>
            <a:r>
              <a:rPr lang="pt-PT" dirty="0">
                <a:latin typeface="Consolas" panose="020B0609020204030204" pitchFamily="49" charset="0"/>
              </a:rPr>
              <a:t> == 0) {</a:t>
            </a:r>
          </a:p>
          <a:p>
            <a:r>
              <a:rPr lang="pt-PT" dirty="0">
                <a:latin typeface="Consolas" panose="020B0609020204030204" pitchFamily="49" charset="0"/>
              </a:rPr>
              <a:t>            </a:t>
            </a:r>
            <a:r>
              <a:rPr lang="pt-PT" dirty="0" err="1">
                <a:latin typeface="Consolas" panose="020B0609020204030204" pitchFamily="49" charset="0"/>
              </a:rPr>
              <a:t>return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root</a:t>
            </a:r>
            <a:r>
              <a:rPr lang="pt-PT" dirty="0">
                <a:latin typeface="Consolas" panose="020B0609020204030204" pitchFamily="49" charset="0"/>
              </a:rPr>
              <a:t>; // Já existe (sem duplicação)</a:t>
            </a:r>
          </a:p>
          <a:p>
            <a:r>
              <a:rPr lang="pt-PT" dirty="0">
                <a:latin typeface="Consolas" panose="020B0609020204030204" pitchFamily="49" charset="0"/>
              </a:rPr>
              <a:t>        } </a:t>
            </a:r>
            <a:r>
              <a:rPr lang="pt-PT" dirty="0" err="1">
                <a:latin typeface="Consolas" panose="020B0609020204030204" pitchFamily="49" charset="0"/>
              </a:rPr>
              <a:t>else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if</a:t>
            </a:r>
            <a:r>
              <a:rPr lang="pt-PT" dirty="0">
                <a:latin typeface="Consolas" panose="020B0609020204030204" pitchFamily="49" charset="0"/>
              </a:rPr>
              <a:t> (</a:t>
            </a:r>
            <a:r>
              <a:rPr lang="pt-PT" dirty="0" err="1">
                <a:latin typeface="Consolas" panose="020B0609020204030204" pitchFamily="49" charset="0"/>
              </a:rPr>
              <a:t>compareResult</a:t>
            </a:r>
            <a:r>
              <a:rPr lang="pt-PT" dirty="0">
                <a:latin typeface="Consolas" panose="020B0609020204030204" pitchFamily="49" charset="0"/>
              </a:rPr>
              <a:t> &lt; 0) { // data &lt; </a:t>
            </a:r>
            <a:r>
              <a:rPr lang="pt-PT" dirty="0" err="1">
                <a:latin typeface="Consolas" panose="020B0609020204030204" pitchFamily="49" charset="0"/>
              </a:rPr>
              <a:t>curr.data</a:t>
            </a:r>
            <a:endParaRPr lang="pt-PT" dirty="0">
              <a:latin typeface="Consolas" panose="020B0609020204030204" pitchFamily="49" charset="0"/>
            </a:endParaRPr>
          </a:p>
          <a:p>
            <a:r>
              <a:rPr lang="pt-PT" dirty="0">
                <a:latin typeface="Consolas" panose="020B0609020204030204" pitchFamily="49" charset="0"/>
              </a:rPr>
              <a:t>            </a:t>
            </a:r>
            <a:r>
              <a:rPr lang="pt-PT" dirty="0" err="1">
                <a:latin typeface="Consolas" panose="020B0609020204030204" pitchFamily="49" charset="0"/>
              </a:rPr>
              <a:t>if</a:t>
            </a:r>
            <a:r>
              <a:rPr lang="pt-PT" dirty="0">
                <a:latin typeface="Consolas" panose="020B0609020204030204" pitchFamily="49" charset="0"/>
              </a:rPr>
              <a:t> (</a:t>
            </a:r>
            <a:r>
              <a:rPr lang="pt-PT" dirty="0" err="1">
                <a:latin typeface="Consolas" panose="020B0609020204030204" pitchFamily="49" charset="0"/>
              </a:rPr>
              <a:t>curr.isLeftThread</a:t>
            </a:r>
            <a:r>
              <a:rPr lang="pt-PT" dirty="0">
                <a:latin typeface="Consolas" panose="020B0609020204030204" pitchFamily="49" charset="0"/>
              </a:rPr>
              <a:t>()) {</a:t>
            </a:r>
          </a:p>
          <a:p>
            <a:r>
              <a:rPr lang="pt-PT" dirty="0">
                <a:latin typeface="Consolas" panose="020B0609020204030204" pitchFamily="49" charset="0"/>
              </a:rPr>
              <a:t>                break; // Local de inserção encontrado (à esquerda)</a:t>
            </a:r>
          </a:p>
          <a:p>
            <a:r>
              <a:rPr lang="pt-PT" dirty="0">
                <a:latin typeface="Consolas" panose="020B0609020204030204" pitchFamily="49" charset="0"/>
              </a:rPr>
              <a:t>            }</a:t>
            </a:r>
          </a:p>
          <a:p>
            <a:r>
              <a:rPr lang="pt-PT" dirty="0">
                <a:latin typeface="Consolas" panose="020B0609020204030204" pitchFamily="49" charset="0"/>
              </a:rPr>
              <a:t>            </a:t>
            </a:r>
            <a:r>
              <a:rPr lang="pt-PT" dirty="0" err="1">
                <a:latin typeface="Consolas" panose="020B0609020204030204" pitchFamily="49" charset="0"/>
              </a:rPr>
              <a:t>curr</a:t>
            </a:r>
            <a:r>
              <a:rPr lang="pt-PT" dirty="0">
                <a:latin typeface="Consolas" panose="020B0609020204030204" pitchFamily="49" charset="0"/>
              </a:rPr>
              <a:t> = </a:t>
            </a:r>
            <a:r>
              <a:rPr lang="pt-PT" dirty="0" err="1">
                <a:latin typeface="Consolas" panose="020B0609020204030204" pitchFamily="49" charset="0"/>
              </a:rPr>
              <a:t>curr.getLeft</a:t>
            </a:r>
            <a:r>
              <a:rPr lang="pt-PT" dirty="0">
                <a:latin typeface="Consolas" panose="020B0609020204030204" pitchFamily="49" charset="0"/>
              </a:rPr>
              <a:t>();</a:t>
            </a:r>
          </a:p>
          <a:p>
            <a:r>
              <a:rPr lang="pt-PT" dirty="0">
                <a:latin typeface="Consolas" panose="020B0609020204030204" pitchFamily="49" charset="0"/>
              </a:rPr>
              <a:t>        } </a:t>
            </a:r>
            <a:r>
              <a:rPr lang="pt-PT" dirty="0" err="1">
                <a:latin typeface="Consolas" panose="020B0609020204030204" pitchFamily="49" charset="0"/>
              </a:rPr>
              <a:t>else</a:t>
            </a:r>
            <a:r>
              <a:rPr lang="pt-PT" dirty="0">
                <a:latin typeface="Consolas" panose="020B0609020204030204" pitchFamily="49" charset="0"/>
              </a:rPr>
              <a:t> { // </a:t>
            </a:r>
            <a:r>
              <a:rPr lang="pt-PT" dirty="0" err="1">
                <a:latin typeface="Consolas" panose="020B0609020204030204" pitchFamily="49" charset="0"/>
              </a:rPr>
              <a:t>compareResult</a:t>
            </a:r>
            <a:r>
              <a:rPr lang="pt-PT" dirty="0">
                <a:latin typeface="Consolas" panose="020B0609020204030204" pitchFamily="49" charset="0"/>
              </a:rPr>
              <a:t> &gt; 0, data &gt; </a:t>
            </a:r>
            <a:r>
              <a:rPr lang="pt-PT" dirty="0" err="1">
                <a:latin typeface="Consolas" panose="020B0609020204030204" pitchFamily="49" charset="0"/>
              </a:rPr>
              <a:t>curr.data</a:t>
            </a:r>
            <a:endParaRPr lang="pt-PT" dirty="0">
              <a:latin typeface="Consolas" panose="020B0609020204030204" pitchFamily="49" charset="0"/>
            </a:endParaRPr>
          </a:p>
          <a:p>
            <a:r>
              <a:rPr lang="pt-PT" dirty="0">
                <a:latin typeface="Consolas" panose="020B0609020204030204" pitchFamily="49" charset="0"/>
              </a:rPr>
              <a:t>            </a:t>
            </a:r>
            <a:r>
              <a:rPr lang="pt-PT" dirty="0" err="1">
                <a:latin typeface="Consolas" panose="020B0609020204030204" pitchFamily="49" charset="0"/>
              </a:rPr>
              <a:t>if</a:t>
            </a:r>
            <a:r>
              <a:rPr lang="pt-PT" dirty="0">
                <a:latin typeface="Consolas" panose="020B0609020204030204" pitchFamily="49" charset="0"/>
              </a:rPr>
              <a:t> (</a:t>
            </a:r>
            <a:r>
              <a:rPr lang="pt-PT" dirty="0" err="1">
                <a:latin typeface="Consolas" panose="020B0609020204030204" pitchFamily="49" charset="0"/>
              </a:rPr>
              <a:t>curr.isRightThread</a:t>
            </a:r>
            <a:r>
              <a:rPr lang="pt-PT" dirty="0">
                <a:latin typeface="Consolas" panose="020B0609020204030204" pitchFamily="49" charset="0"/>
              </a:rPr>
              <a:t>()) {</a:t>
            </a:r>
          </a:p>
          <a:p>
            <a:r>
              <a:rPr lang="pt-PT" dirty="0">
                <a:latin typeface="Consolas" panose="020B0609020204030204" pitchFamily="49" charset="0"/>
              </a:rPr>
              <a:t>                break; // Local de inserção encontrado (à direita)</a:t>
            </a:r>
          </a:p>
          <a:p>
            <a:r>
              <a:rPr lang="pt-PT" dirty="0">
                <a:latin typeface="Consolas" panose="020B0609020204030204" pitchFamily="49" charset="0"/>
              </a:rPr>
              <a:t>            }</a:t>
            </a:r>
          </a:p>
          <a:p>
            <a:r>
              <a:rPr lang="pt-PT" dirty="0">
                <a:latin typeface="Consolas" panose="020B0609020204030204" pitchFamily="49" charset="0"/>
              </a:rPr>
              <a:t>            </a:t>
            </a:r>
            <a:r>
              <a:rPr lang="pt-PT" dirty="0" err="1">
                <a:latin typeface="Consolas" panose="020B0609020204030204" pitchFamily="49" charset="0"/>
              </a:rPr>
              <a:t>curr</a:t>
            </a:r>
            <a:r>
              <a:rPr lang="pt-PT" dirty="0">
                <a:latin typeface="Consolas" panose="020B0609020204030204" pitchFamily="49" charset="0"/>
              </a:rPr>
              <a:t> = </a:t>
            </a:r>
            <a:r>
              <a:rPr lang="pt-PT" dirty="0" err="1">
                <a:latin typeface="Consolas" panose="020B0609020204030204" pitchFamily="49" charset="0"/>
              </a:rPr>
              <a:t>curr.getRight</a:t>
            </a:r>
            <a:r>
              <a:rPr lang="pt-PT" dirty="0">
                <a:latin typeface="Consolas" panose="020B0609020204030204" pitchFamily="49" charset="0"/>
              </a:rPr>
              <a:t>();</a:t>
            </a:r>
          </a:p>
          <a:p>
            <a:r>
              <a:rPr lang="pt-PT" dirty="0">
                <a:latin typeface="Consolas" panose="020B0609020204030204" pitchFamily="49" charset="0"/>
              </a:rPr>
              <a:t>        }</a:t>
            </a:r>
          </a:p>
          <a:p>
            <a:r>
              <a:rPr lang="pt-PT" dirty="0">
                <a:latin typeface="Consolas" panose="020B0609020204030204" pitchFamily="49" charset="0"/>
              </a:rPr>
              <a:t>    }</a:t>
            </a:r>
          </a:p>
          <a:p>
            <a:endParaRPr lang="pt-PT" dirty="0">
              <a:latin typeface="Consolas" panose="020B0609020204030204" pitchFamily="49" charset="0"/>
            </a:endParaRPr>
          </a:p>
          <a:p>
            <a:r>
              <a:rPr lang="pt-PT" dirty="0">
                <a:latin typeface="Consolas" panose="020B0609020204030204" pitchFamily="49" charset="0"/>
              </a:rPr>
              <a:t>    // 2. Criar o novo nó </a:t>
            </a:r>
          </a:p>
          <a:p>
            <a:r>
              <a:rPr lang="pt-PT" dirty="0" err="1">
                <a:latin typeface="Consolas" panose="020B0609020204030204" pitchFamily="49" charset="0"/>
              </a:rPr>
              <a:t>ThreadedNode</a:t>
            </a:r>
            <a:r>
              <a:rPr lang="pt-PT" dirty="0">
                <a:latin typeface="Consolas" panose="020B0609020204030204" pitchFamily="49" charset="0"/>
              </a:rPr>
              <a:t>&lt;T&gt; </a:t>
            </a:r>
            <a:r>
              <a:rPr lang="pt-PT" dirty="0" err="1">
                <a:latin typeface="Consolas" panose="020B0609020204030204" pitchFamily="49" charset="0"/>
              </a:rPr>
              <a:t>newNode</a:t>
            </a:r>
            <a:r>
              <a:rPr lang="pt-PT" dirty="0">
                <a:latin typeface="Consolas" panose="020B0609020204030204" pitchFamily="49" charset="0"/>
              </a:rPr>
              <a:t> = </a:t>
            </a:r>
            <a:r>
              <a:rPr lang="pt-PT" dirty="0" err="1">
                <a:latin typeface="Consolas" panose="020B0609020204030204" pitchFamily="49" charset="0"/>
              </a:rPr>
              <a:t>new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ThreadedNode</a:t>
            </a:r>
            <a:r>
              <a:rPr lang="pt-PT" dirty="0">
                <a:latin typeface="Consolas" panose="020B0609020204030204" pitchFamily="49" charset="0"/>
              </a:rPr>
              <a:t>&lt;&gt;(data);</a:t>
            </a:r>
          </a:p>
          <a:p>
            <a:r>
              <a:rPr lang="pt-PT" dirty="0">
                <a:latin typeface="Consolas" panose="020B0609020204030204" pitchFamily="49" charset="0"/>
              </a:rPr>
              <a:t>    </a:t>
            </a:r>
          </a:p>
          <a:p>
            <a:r>
              <a:rPr lang="pt-PT" dirty="0">
                <a:latin typeface="Consolas" panose="020B0609020204030204" pitchFamily="49" charset="0"/>
              </a:rPr>
              <a:t>    // 3. Inserir o novo nó e ajustar os </a:t>
            </a:r>
            <a:r>
              <a:rPr lang="pt-PT" dirty="0" err="1">
                <a:latin typeface="Consolas" panose="020B0609020204030204" pitchFamily="49" charset="0"/>
              </a:rPr>
              <a:t>threads</a:t>
            </a:r>
            <a:endParaRPr lang="pt-PT" dirty="0">
              <a:latin typeface="Consolas" panose="020B0609020204030204" pitchFamily="49" charset="0"/>
            </a:endParaRPr>
          </a:p>
          <a:p>
            <a:r>
              <a:rPr lang="pt-PT" dirty="0">
                <a:latin typeface="Consolas" panose="020B0609020204030204" pitchFamily="49" charset="0"/>
              </a:rPr>
              <a:t>    </a:t>
            </a:r>
            <a:r>
              <a:rPr lang="pt-PT" dirty="0" err="1">
                <a:latin typeface="Consolas" panose="020B0609020204030204" pitchFamily="49" charset="0"/>
              </a:rPr>
              <a:t>if</a:t>
            </a:r>
            <a:r>
              <a:rPr lang="pt-PT" dirty="0">
                <a:latin typeface="Consolas" panose="020B0609020204030204" pitchFamily="49" charset="0"/>
              </a:rPr>
              <a:t> (</a:t>
            </a:r>
            <a:r>
              <a:rPr lang="pt-PT" dirty="0" err="1">
                <a:latin typeface="Consolas" panose="020B0609020204030204" pitchFamily="49" charset="0"/>
              </a:rPr>
              <a:t>parent</a:t>
            </a:r>
            <a:r>
              <a:rPr lang="pt-PT" dirty="0">
                <a:latin typeface="Consolas" panose="020B0609020204030204" pitchFamily="49" charset="0"/>
              </a:rPr>
              <a:t> == </a:t>
            </a:r>
            <a:r>
              <a:rPr lang="pt-PT" dirty="0" err="1">
                <a:latin typeface="Consolas" panose="020B0609020204030204" pitchFamily="49" charset="0"/>
              </a:rPr>
              <a:t>null</a:t>
            </a:r>
            <a:r>
              <a:rPr lang="pt-PT" dirty="0">
                <a:latin typeface="Consolas" panose="020B0609020204030204" pitchFamily="49" charset="0"/>
              </a:rPr>
              <a:t>) { // Árvore vazia</a:t>
            </a:r>
          </a:p>
          <a:p>
            <a:r>
              <a:rPr lang="pt-PT" dirty="0">
                <a:latin typeface="Consolas" panose="020B0609020204030204" pitchFamily="49" charset="0"/>
              </a:rPr>
              <a:t>        </a:t>
            </a:r>
            <a:r>
              <a:rPr lang="pt-PT" dirty="0" err="1">
                <a:latin typeface="Consolas" panose="020B0609020204030204" pitchFamily="49" charset="0"/>
              </a:rPr>
              <a:t>return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newNode</a:t>
            </a:r>
            <a:r>
              <a:rPr lang="pt-PT" dirty="0">
                <a:latin typeface="Consolas" panose="020B0609020204030204" pitchFamily="49" charset="0"/>
              </a:rPr>
              <a:t>;</a:t>
            </a:r>
          </a:p>
          <a:p>
            <a:r>
              <a:rPr lang="pt-PT" dirty="0">
                <a:latin typeface="Consolas" panose="020B0609020204030204" pitchFamily="49" charset="0"/>
              </a:rPr>
              <a:t>    } </a:t>
            </a:r>
          </a:p>
          <a:p>
            <a:r>
              <a:rPr lang="pt-PT" dirty="0">
                <a:latin typeface="Consolas" panose="020B0609020204030204" pitchFamily="49" charset="0"/>
              </a:rPr>
              <a:t>    </a:t>
            </a:r>
          </a:p>
          <a:p>
            <a:r>
              <a:rPr lang="pt-PT" dirty="0">
                <a:latin typeface="Consolas" panose="020B0609020204030204" pitchFamily="49" charset="0"/>
              </a:rPr>
              <a:t>    </a:t>
            </a:r>
            <a:r>
              <a:rPr lang="pt-PT" dirty="0" err="1">
                <a:latin typeface="Consolas" panose="020B0609020204030204" pitchFamily="49" charset="0"/>
              </a:rPr>
              <a:t>int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compareResult</a:t>
            </a:r>
            <a:r>
              <a:rPr lang="pt-PT" dirty="0">
                <a:latin typeface="Consolas" panose="020B0609020204030204" pitchFamily="49" charset="0"/>
              </a:rPr>
              <a:t> = </a:t>
            </a:r>
            <a:r>
              <a:rPr lang="pt-PT" dirty="0" err="1">
                <a:latin typeface="Consolas" panose="020B0609020204030204" pitchFamily="49" charset="0"/>
              </a:rPr>
              <a:t>data.compareTo</a:t>
            </a:r>
            <a:r>
              <a:rPr lang="pt-PT" dirty="0">
                <a:latin typeface="Consolas" panose="020B0609020204030204" pitchFamily="49" charset="0"/>
              </a:rPr>
              <a:t>(</a:t>
            </a:r>
            <a:r>
              <a:rPr lang="pt-PT" dirty="0" err="1">
                <a:latin typeface="Consolas" panose="020B0609020204030204" pitchFamily="49" charset="0"/>
              </a:rPr>
              <a:t>parent.getData</a:t>
            </a:r>
            <a:r>
              <a:rPr lang="pt-PT" dirty="0">
                <a:latin typeface="Consolas" panose="020B0609020204030204" pitchFamily="49" charset="0"/>
              </a:rPr>
              <a:t>());</a:t>
            </a:r>
          </a:p>
          <a:p>
            <a:r>
              <a:rPr lang="pt-PT" dirty="0">
                <a:latin typeface="Consolas" panose="020B0609020204030204" pitchFamily="49" charset="0"/>
              </a:rPr>
              <a:t>    </a:t>
            </a:r>
          </a:p>
          <a:p>
            <a:r>
              <a:rPr lang="pt-PT" dirty="0">
                <a:latin typeface="Consolas" panose="020B0609020204030204" pitchFamily="49" charset="0"/>
              </a:rPr>
              <a:t>    </a:t>
            </a:r>
            <a:r>
              <a:rPr lang="pt-PT" dirty="0" err="1">
                <a:latin typeface="Consolas" panose="020B0609020204030204" pitchFamily="49" charset="0"/>
              </a:rPr>
              <a:t>if</a:t>
            </a:r>
            <a:r>
              <a:rPr lang="pt-PT" dirty="0">
                <a:latin typeface="Consolas" panose="020B0609020204030204" pitchFamily="49" charset="0"/>
              </a:rPr>
              <a:t> (</a:t>
            </a:r>
            <a:r>
              <a:rPr lang="pt-PT" dirty="0" err="1">
                <a:latin typeface="Consolas" panose="020B0609020204030204" pitchFamily="49" charset="0"/>
              </a:rPr>
              <a:t>compareResult</a:t>
            </a:r>
            <a:r>
              <a:rPr lang="pt-PT" dirty="0">
                <a:latin typeface="Consolas" panose="020B0609020204030204" pitchFamily="49" charset="0"/>
              </a:rPr>
              <a:t> &lt; 0) { // Novo nó é o filho esquerdo do pai</a:t>
            </a:r>
          </a:p>
          <a:p>
            <a:r>
              <a:rPr lang="pt-PT" dirty="0">
                <a:latin typeface="Consolas" panose="020B0609020204030204" pitchFamily="49" charset="0"/>
              </a:rPr>
              <a:t>        // a) Novo nó herda o </a:t>
            </a:r>
            <a:r>
              <a:rPr lang="pt-PT" dirty="0" err="1">
                <a:latin typeface="Consolas" panose="020B0609020204030204" pitchFamily="49" charset="0"/>
              </a:rPr>
              <a:t>thread</a:t>
            </a:r>
            <a:r>
              <a:rPr lang="pt-PT" dirty="0">
                <a:latin typeface="Consolas" panose="020B0609020204030204" pitchFamily="49" charset="0"/>
              </a:rPr>
              <a:t> esquerdo do pai (o predecessor do pai)</a:t>
            </a:r>
          </a:p>
          <a:p>
            <a:r>
              <a:rPr lang="pt-PT" dirty="0">
                <a:latin typeface="Consolas" panose="020B0609020204030204" pitchFamily="49" charset="0"/>
              </a:rPr>
              <a:t>        </a:t>
            </a:r>
            <a:r>
              <a:rPr lang="pt-PT" dirty="0" err="1">
                <a:latin typeface="Consolas" panose="020B0609020204030204" pitchFamily="49" charset="0"/>
              </a:rPr>
              <a:t>newNode.setLeft</a:t>
            </a:r>
            <a:r>
              <a:rPr lang="pt-PT" dirty="0">
                <a:latin typeface="Consolas" panose="020B0609020204030204" pitchFamily="49" charset="0"/>
              </a:rPr>
              <a:t>(</a:t>
            </a:r>
            <a:r>
              <a:rPr lang="pt-PT" dirty="0" err="1">
                <a:latin typeface="Consolas" panose="020B0609020204030204" pitchFamily="49" charset="0"/>
              </a:rPr>
              <a:t>parent.getLeft</a:t>
            </a:r>
            <a:r>
              <a:rPr lang="pt-PT" dirty="0">
                <a:latin typeface="Consolas" panose="020B0609020204030204" pitchFamily="49" charset="0"/>
              </a:rPr>
              <a:t>());</a:t>
            </a:r>
          </a:p>
          <a:p>
            <a:r>
              <a:rPr lang="pt-PT" dirty="0">
                <a:latin typeface="Consolas" panose="020B0609020204030204" pitchFamily="49" charset="0"/>
              </a:rPr>
              <a:t>        // b) Novo nó aponta para o pai como seu sucessor </a:t>
            </a:r>
            <a:r>
              <a:rPr lang="pt-PT" dirty="0" err="1">
                <a:latin typeface="Consolas" panose="020B0609020204030204" pitchFamily="49" charset="0"/>
              </a:rPr>
              <a:t>in-order</a:t>
            </a:r>
            <a:endParaRPr lang="pt-PT" dirty="0">
              <a:latin typeface="Consolas" panose="020B0609020204030204" pitchFamily="49" charset="0"/>
            </a:endParaRPr>
          </a:p>
          <a:p>
            <a:r>
              <a:rPr lang="pt-PT" dirty="0">
                <a:latin typeface="Consolas" panose="020B0609020204030204" pitchFamily="49" charset="0"/>
              </a:rPr>
              <a:t>        </a:t>
            </a:r>
            <a:r>
              <a:rPr lang="pt-PT" dirty="0" err="1">
                <a:latin typeface="Consolas" panose="020B0609020204030204" pitchFamily="49" charset="0"/>
              </a:rPr>
              <a:t>newNode.setRight</a:t>
            </a:r>
            <a:r>
              <a:rPr lang="pt-PT" dirty="0">
                <a:latin typeface="Consolas" panose="020B0609020204030204" pitchFamily="49" charset="0"/>
              </a:rPr>
              <a:t>(</a:t>
            </a:r>
            <a:r>
              <a:rPr lang="pt-PT" dirty="0" err="1">
                <a:latin typeface="Consolas" panose="020B0609020204030204" pitchFamily="49" charset="0"/>
              </a:rPr>
              <a:t>parent</a:t>
            </a:r>
            <a:r>
              <a:rPr lang="pt-PT" dirty="0">
                <a:latin typeface="Consolas" panose="020B0609020204030204" pitchFamily="49" charset="0"/>
              </a:rPr>
              <a:t>);</a:t>
            </a:r>
          </a:p>
          <a:p>
            <a:r>
              <a:rPr lang="pt-PT" dirty="0">
                <a:latin typeface="Consolas" panose="020B0609020204030204" pitchFamily="49" charset="0"/>
              </a:rPr>
              <a:t>        </a:t>
            </a:r>
          </a:p>
          <a:p>
            <a:r>
              <a:rPr lang="pt-PT" dirty="0">
                <a:latin typeface="Consolas" panose="020B0609020204030204" pitchFamily="49" charset="0"/>
              </a:rPr>
              <a:t>        // c) O ponteiro esquerdo do pai deixa de ser </a:t>
            </a:r>
            <a:r>
              <a:rPr lang="pt-PT" dirty="0" err="1">
                <a:latin typeface="Consolas" panose="020B0609020204030204" pitchFamily="49" charset="0"/>
              </a:rPr>
              <a:t>thread</a:t>
            </a:r>
            <a:endParaRPr lang="pt-PT" dirty="0">
              <a:latin typeface="Consolas" panose="020B0609020204030204" pitchFamily="49" charset="0"/>
            </a:endParaRPr>
          </a:p>
          <a:p>
            <a:r>
              <a:rPr lang="pt-PT" dirty="0">
                <a:latin typeface="Consolas" panose="020B0609020204030204" pitchFamily="49" charset="0"/>
              </a:rPr>
              <a:t>        </a:t>
            </a:r>
            <a:r>
              <a:rPr lang="pt-PT" dirty="0" err="1">
                <a:latin typeface="Consolas" panose="020B0609020204030204" pitchFamily="49" charset="0"/>
              </a:rPr>
              <a:t>parent.setIsLeftThread</a:t>
            </a:r>
            <a:r>
              <a:rPr lang="pt-PT" dirty="0">
                <a:latin typeface="Consolas" panose="020B0609020204030204" pitchFamily="49" charset="0"/>
              </a:rPr>
              <a:t>(false);</a:t>
            </a:r>
          </a:p>
          <a:p>
            <a:r>
              <a:rPr lang="pt-PT" dirty="0">
                <a:latin typeface="Consolas" panose="020B0609020204030204" pitchFamily="49" charset="0"/>
              </a:rPr>
              <a:t>        // d) O pai aponta para o novo nó como filho esquerdo real</a:t>
            </a:r>
          </a:p>
          <a:p>
            <a:r>
              <a:rPr lang="pt-PT" dirty="0">
                <a:latin typeface="Consolas" panose="020B0609020204030204" pitchFamily="49" charset="0"/>
              </a:rPr>
              <a:t>        </a:t>
            </a:r>
            <a:r>
              <a:rPr lang="pt-PT" dirty="0" err="1">
                <a:latin typeface="Consolas" panose="020B0609020204030204" pitchFamily="49" charset="0"/>
              </a:rPr>
              <a:t>parent.setLeft</a:t>
            </a:r>
            <a:r>
              <a:rPr lang="pt-PT" dirty="0">
                <a:latin typeface="Consolas" panose="020B0609020204030204" pitchFamily="49" charset="0"/>
              </a:rPr>
              <a:t>(</a:t>
            </a:r>
            <a:r>
              <a:rPr lang="pt-PT" dirty="0" err="1">
                <a:latin typeface="Consolas" panose="020B0609020204030204" pitchFamily="49" charset="0"/>
              </a:rPr>
              <a:t>newNode</a:t>
            </a:r>
            <a:r>
              <a:rPr lang="pt-PT" dirty="0">
                <a:latin typeface="Consolas" panose="020B0609020204030204" pitchFamily="49" charset="0"/>
              </a:rPr>
              <a:t>);</a:t>
            </a:r>
          </a:p>
          <a:p>
            <a:r>
              <a:rPr lang="pt-PT" dirty="0">
                <a:latin typeface="Consolas" panose="020B0609020204030204" pitchFamily="49" charset="0"/>
              </a:rPr>
              <a:t>    } </a:t>
            </a:r>
            <a:r>
              <a:rPr lang="pt-PT" dirty="0" err="1">
                <a:latin typeface="Consolas" panose="020B0609020204030204" pitchFamily="49" charset="0"/>
              </a:rPr>
              <a:t>else</a:t>
            </a:r>
            <a:r>
              <a:rPr lang="pt-PT" dirty="0">
                <a:latin typeface="Consolas" panose="020B0609020204030204" pitchFamily="49" charset="0"/>
              </a:rPr>
              <a:t> { // Novo nó é o filho direito do pai</a:t>
            </a:r>
          </a:p>
          <a:p>
            <a:r>
              <a:rPr lang="pt-PT" dirty="0">
                <a:latin typeface="Consolas" panose="020B0609020204030204" pitchFamily="49" charset="0"/>
              </a:rPr>
              <a:t>        // a) Novo nó aponta para o pai como seu predecessor </a:t>
            </a:r>
            <a:r>
              <a:rPr lang="pt-PT" dirty="0" err="1">
                <a:latin typeface="Consolas" panose="020B0609020204030204" pitchFamily="49" charset="0"/>
              </a:rPr>
              <a:t>in-order</a:t>
            </a:r>
            <a:endParaRPr lang="pt-PT" dirty="0">
              <a:latin typeface="Consolas" panose="020B0609020204030204" pitchFamily="49" charset="0"/>
            </a:endParaRPr>
          </a:p>
          <a:p>
            <a:r>
              <a:rPr lang="pt-PT" dirty="0">
                <a:latin typeface="Consolas" panose="020B0609020204030204" pitchFamily="49" charset="0"/>
              </a:rPr>
              <a:t>        </a:t>
            </a:r>
            <a:r>
              <a:rPr lang="pt-PT" dirty="0" err="1">
                <a:latin typeface="Consolas" panose="020B0609020204030204" pitchFamily="49" charset="0"/>
              </a:rPr>
              <a:t>newNode.setLeft</a:t>
            </a:r>
            <a:r>
              <a:rPr lang="pt-PT" dirty="0">
                <a:latin typeface="Consolas" panose="020B0609020204030204" pitchFamily="49" charset="0"/>
              </a:rPr>
              <a:t>(</a:t>
            </a:r>
            <a:r>
              <a:rPr lang="pt-PT" dirty="0" err="1">
                <a:latin typeface="Consolas" panose="020B0609020204030204" pitchFamily="49" charset="0"/>
              </a:rPr>
              <a:t>parent</a:t>
            </a:r>
            <a:r>
              <a:rPr lang="pt-PT" dirty="0">
                <a:latin typeface="Consolas" panose="020B0609020204030204" pitchFamily="49" charset="0"/>
              </a:rPr>
              <a:t>);</a:t>
            </a:r>
          </a:p>
          <a:p>
            <a:r>
              <a:rPr lang="pt-PT" dirty="0">
                <a:latin typeface="Consolas" panose="020B0609020204030204" pitchFamily="49" charset="0"/>
              </a:rPr>
              <a:t>        // b) Novo nó herda o </a:t>
            </a:r>
            <a:r>
              <a:rPr lang="pt-PT" dirty="0" err="1">
                <a:latin typeface="Consolas" panose="020B0609020204030204" pitchFamily="49" charset="0"/>
              </a:rPr>
              <a:t>thread</a:t>
            </a:r>
            <a:r>
              <a:rPr lang="pt-PT" dirty="0">
                <a:latin typeface="Consolas" panose="020B0609020204030204" pitchFamily="49" charset="0"/>
              </a:rPr>
              <a:t> direito do pai (o sucessor do pai)</a:t>
            </a:r>
          </a:p>
          <a:p>
            <a:r>
              <a:rPr lang="pt-PT" dirty="0">
                <a:latin typeface="Consolas" panose="020B0609020204030204" pitchFamily="49" charset="0"/>
              </a:rPr>
              <a:t>        </a:t>
            </a:r>
            <a:r>
              <a:rPr lang="pt-PT" dirty="0" err="1">
                <a:latin typeface="Consolas" panose="020B0609020204030204" pitchFamily="49" charset="0"/>
              </a:rPr>
              <a:t>newNode.setRight</a:t>
            </a:r>
            <a:r>
              <a:rPr lang="pt-PT" dirty="0">
                <a:latin typeface="Consolas" panose="020B0609020204030204" pitchFamily="49" charset="0"/>
              </a:rPr>
              <a:t>(</a:t>
            </a:r>
            <a:r>
              <a:rPr lang="pt-PT" dirty="0" err="1">
                <a:latin typeface="Consolas" panose="020B0609020204030204" pitchFamily="49" charset="0"/>
              </a:rPr>
              <a:t>parent.getRight</a:t>
            </a:r>
            <a:r>
              <a:rPr lang="pt-PT" dirty="0">
                <a:latin typeface="Consolas" panose="020B0609020204030204" pitchFamily="49" charset="0"/>
              </a:rPr>
              <a:t>());</a:t>
            </a:r>
          </a:p>
          <a:p>
            <a:r>
              <a:rPr lang="pt-PT" dirty="0">
                <a:latin typeface="Consolas" panose="020B0609020204030204" pitchFamily="49" charset="0"/>
              </a:rPr>
              <a:t>        </a:t>
            </a:r>
          </a:p>
          <a:p>
            <a:r>
              <a:rPr lang="pt-PT" dirty="0">
                <a:latin typeface="Consolas" panose="020B0609020204030204" pitchFamily="49" charset="0"/>
              </a:rPr>
              <a:t>        // c) O ponteiro direito do pai deixa de ser </a:t>
            </a:r>
            <a:r>
              <a:rPr lang="pt-PT" dirty="0" err="1">
                <a:latin typeface="Consolas" panose="020B0609020204030204" pitchFamily="49" charset="0"/>
              </a:rPr>
              <a:t>thread</a:t>
            </a:r>
            <a:endParaRPr lang="pt-PT" dirty="0">
              <a:latin typeface="Consolas" panose="020B0609020204030204" pitchFamily="49" charset="0"/>
            </a:endParaRPr>
          </a:p>
          <a:p>
            <a:r>
              <a:rPr lang="pt-PT" dirty="0">
                <a:latin typeface="Consolas" panose="020B0609020204030204" pitchFamily="49" charset="0"/>
              </a:rPr>
              <a:t>        </a:t>
            </a:r>
            <a:r>
              <a:rPr lang="pt-PT" dirty="0" err="1">
                <a:latin typeface="Consolas" panose="020B0609020204030204" pitchFamily="49" charset="0"/>
              </a:rPr>
              <a:t>parent.setIsRightThread</a:t>
            </a:r>
            <a:r>
              <a:rPr lang="pt-PT" dirty="0">
                <a:latin typeface="Consolas" panose="020B0609020204030204" pitchFamily="49" charset="0"/>
              </a:rPr>
              <a:t>(false);</a:t>
            </a:r>
          </a:p>
          <a:p>
            <a:r>
              <a:rPr lang="pt-PT" dirty="0">
                <a:latin typeface="Consolas" panose="020B0609020204030204" pitchFamily="49" charset="0"/>
              </a:rPr>
              <a:t>        // d) O pai aponta para o novo nó como filho direito real</a:t>
            </a:r>
          </a:p>
          <a:p>
            <a:r>
              <a:rPr lang="pt-PT" dirty="0">
                <a:latin typeface="Consolas" panose="020B0609020204030204" pitchFamily="49" charset="0"/>
              </a:rPr>
              <a:t>        </a:t>
            </a:r>
            <a:r>
              <a:rPr lang="pt-PT" dirty="0" err="1">
                <a:latin typeface="Consolas" panose="020B0609020204030204" pitchFamily="49" charset="0"/>
              </a:rPr>
              <a:t>parent.setRight</a:t>
            </a:r>
            <a:r>
              <a:rPr lang="pt-PT" dirty="0">
                <a:latin typeface="Consolas" panose="020B0609020204030204" pitchFamily="49" charset="0"/>
              </a:rPr>
              <a:t>(</a:t>
            </a:r>
            <a:r>
              <a:rPr lang="pt-PT" dirty="0" err="1">
                <a:latin typeface="Consolas" panose="020B0609020204030204" pitchFamily="49" charset="0"/>
              </a:rPr>
              <a:t>newNode</a:t>
            </a:r>
            <a:r>
              <a:rPr lang="pt-PT" dirty="0">
                <a:latin typeface="Consolas" panose="020B0609020204030204" pitchFamily="49" charset="0"/>
              </a:rPr>
              <a:t>);</a:t>
            </a:r>
          </a:p>
          <a:p>
            <a:r>
              <a:rPr lang="pt-PT" dirty="0">
                <a:latin typeface="Consolas" panose="020B0609020204030204" pitchFamily="49" charset="0"/>
              </a:rPr>
              <a:t>    }</a:t>
            </a:r>
          </a:p>
          <a:p>
            <a:endParaRPr lang="pt-PT" dirty="0">
              <a:latin typeface="Consolas" panose="020B0609020204030204" pitchFamily="49" charset="0"/>
            </a:endParaRPr>
          </a:p>
          <a:p>
            <a:r>
              <a:rPr lang="pt-PT" dirty="0">
                <a:latin typeface="Consolas" panose="020B0609020204030204" pitchFamily="49" charset="0"/>
              </a:rPr>
              <a:t>    // Nota: Aqui seria o local para chamar a lógica de balanceamento</a:t>
            </a:r>
          </a:p>
          <a:p>
            <a:r>
              <a:rPr lang="pt-PT" dirty="0">
                <a:latin typeface="Consolas" panose="020B0609020204030204" pitchFamily="49" charset="0"/>
              </a:rPr>
              <a:t>    </a:t>
            </a:r>
          </a:p>
          <a:p>
            <a:r>
              <a:rPr lang="pt-PT" dirty="0">
                <a:latin typeface="Consolas" panose="020B0609020204030204" pitchFamily="49" charset="0"/>
              </a:rPr>
              <a:t>    </a:t>
            </a:r>
            <a:r>
              <a:rPr lang="pt-PT" dirty="0" err="1">
                <a:latin typeface="Consolas" panose="020B0609020204030204" pitchFamily="49" charset="0"/>
              </a:rPr>
              <a:t>return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root</a:t>
            </a:r>
            <a:r>
              <a:rPr lang="pt-PT" dirty="0">
                <a:latin typeface="Consolas" panose="020B0609020204030204" pitchFamily="49" charset="0"/>
              </a:rPr>
              <a:t>;</a:t>
            </a:r>
          </a:p>
          <a:p>
            <a:r>
              <a:rPr lang="pt-PT" dirty="0">
                <a:latin typeface="Consolas" panose="020B0609020204030204" pitchFamily="49" charset="0"/>
              </a:rPr>
              <a:t>}</a:t>
            </a:r>
            <a:endParaRPr lang="pt-PT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708205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0210223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792290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787233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 err="1"/>
              <a:t>public</a:t>
            </a:r>
            <a:r>
              <a:rPr lang="pt-PT" dirty="0"/>
              <a:t> </a:t>
            </a:r>
            <a:r>
              <a:rPr lang="pt-PT" dirty="0" err="1"/>
              <a:t>ThreadedNode</a:t>
            </a:r>
            <a:r>
              <a:rPr lang="pt-PT" dirty="0"/>
              <a:t>&lt;T&gt; </a:t>
            </a:r>
            <a:r>
              <a:rPr lang="pt-PT" dirty="0" err="1"/>
              <a:t>deleteNode</a:t>
            </a:r>
            <a:r>
              <a:rPr lang="pt-PT" dirty="0"/>
              <a:t>(</a:t>
            </a:r>
            <a:r>
              <a:rPr lang="pt-PT" dirty="0" err="1"/>
              <a:t>ThreadedNode</a:t>
            </a:r>
            <a:r>
              <a:rPr lang="pt-PT" dirty="0"/>
              <a:t>&lt;T&gt; </a:t>
            </a:r>
            <a:r>
              <a:rPr lang="pt-PT" dirty="0" err="1"/>
              <a:t>root</a:t>
            </a:r>
            <a:r>
              <a:rPr lang="pt-PT" dirty="0"/>
              <a:t>, T </a:t>
            </a:r>
            <a:r>
              <a:rPr lang="pt-PT" dirty="0" err="1"/>
              <a:t>key</a:t>
            </a:r>
            <a:r>
              <a:rPr lang="pt-PT" dirty="0"/>
              <a:t>) {</a:t>
            </a:r>
          </a:p>
          <a:p>
            <a:r>
              <a:rPr lang="pt-PT" dirty="0"/>
              <a:t>    </a:t>
            </a:r>
          </a:p>
          <a:p>
            <a:r>
              <a:rPr lang="pt-PT" dirty="0" err="1"/>
              <a:t>ThreadedNode</a:t>
            </a:r>
            <a:r>
              <a:rPr lang="pt-PT" dirty="0"/>
              <a:t>&lt;T&gt; </a:t>
            </a:r>
            <a:r>
              <a:rPr lang="pt-PT" dirty="0" err="1"/>
              <a:t>nodeRemovido</a:t>
            </a:r>
            <a:r>
              <a:rPr lang="pt-PT" dirty="0"/>
              <a:t> = </a:t>
            </a:r>
            <a:r>
              <a:rPr lang="pt-PT" dirty="0" err="1"/>
              <a:t>null</a:t>
            </a:r>
            <a:r>
              <a:rPr lang="pt-PT" dirty="0"/>
              <a:t>; </a:t>
            </a:r>
          </a:p>
          <a:p>
            <a:r>
              <a:rPr lang="pt-PT" dirty="0"/>
              <a:t>    </a:t>
            </a:r>
            <a:r>
              <a:rPr lang="pt-PT" dirty="0" err="1"/>
              <a:t>ThreadedNode</a:t>
            </a:r>
            <a:r>
              <a:rPr lang="pt-PT" dirty="0"/>
              <a:t>&lt;T&gt; </a:t>
            </a:r>
            <a:r>
              <a:rPr lang="pt-PT" dirty="0" err="1"/>
              <a:t>paiDoRemovido</a:t>
            </a:r>
            <a:r>
              <a:rPr lang="pt-PT" dirty="0"/>
              <a:t> = </a:t>
            </a:r>
            <a:r>
              <a:rPr lang="pt-PT" dirty="0" err="1"/>
              <a:t>null</a:t>
            </a:r>
            <a:r>
              <a:rPr lang="pt-PT" dirty="0"/>
              <a:t>; </a:t>
            </a:r>
          </a:p>
          <a:p>
            <a:r>
              <a:rPr lang="pt-PT" dirty="0"/>
              <a:t>    </a:t>
            </a:r>
          </a:p>
          <a:p>
            <a:r>
              <a:rPr lang="pt-PT" dirty="0"/>
              <a:t>    </a:t>
            </a:r>
          </a:p>
          <a:p>
            <a:r>
              <a:rPr lang="pt-PT" dirty="0"/>
              <a:t>    // --- 3. Ajustar os </a:t>
            </a:r>
            <a:r>
              <a:rPr lang="pt-PT" dirty="0" err="1"/>
              <a:t>Threads</a:t>
            </a:r>
            <a:r>
              <a:rPr lang="pt-PT" dirty="0"/>
              <a:t> (Lógica Central da DTBT) ---</a:t>
            </a:r>
          </a:p>
          <a:p>
            <a:r>
              <a:rPr lang="pt-PT" dirty="0"/>
              <a:t>        </a:t>
            </a:r>
          </a:p>
          <a:p>
            <a:r>
              <a:rPr lang="pt-PT" dirty="0"/>
              <a:t>    // Determinar se o nó removido era o filho esquerdo do seu pai.</a:t>
            </a:r>
          </a:p>
          <a:p>
            <a:r>
              <a:rPr lang="pt-PT" dirty="0"/>
              <a:t>    </a:t>
            </a:r>
            <a:r>
              <a:rPr lang="pt-PT" dirty="0" err="1"/>
              <a:t>boolean</a:t>
            </a:r>
            <a:r>
              <a:rPr lang="pt-PT" dirty="0"/>
              <a:t> </a:t>
            </a:r>
            <a:r>
              <a:rPr lang="pt-PT" dirty="0" err="1"/>
              <a:t>nodeRemovidoEraFilhoEsquerdo</a:t>
            </a:r>
            <a:r>
              <a:rPr lang="pt-PT" dirty="0"/>
              <a:t> = (</a:t>
            </a:r>
            <a:r>
              <a:rPr lang="pt-PT" dirty="0" err="1"/>
              <a:t>paiDoRemovido</a:t>
            </a:r>
            <a:r>
              <a:rPr lang="pt-PT" dirty="0"/>
              <a:t> != </a:t>
            </a:r>
            <a:r>
              <a:rPr lang="pt-PT" dirty="0" err="1"/>
              <a:t>null</a:t>
            </a:r>
            <a:r>
              <a:rPr lang="pt-PT" dirty="0"/>
              <a:t> &amp;&amp; </a:t>
            </a:r>
            <a:r>
              <a:rPr lang="pt-PT" dirty="0" err="1"/>
              <a:t>paiDoRemovido.getLeft</a:t>
            </a:r>
            <a:r>
              <a:rPr lang="pt-PT" dirty="0"/>
              <a:t>() == </a:t>
            </a:r>
            <a:r>
              <a:rPr lang="pt-PT" dirty="0" err="1"/>
              <a:t>nodeRemovido</a:t>
            </a:r>
            <a:r>
              <a:rPr lang="pt-PT" dirty="0"/>
              <a:t>);</a:t>
            </a:r>
          </a:p>
          <a:p>
            <a:endParaRPr lang="pt-PT" dirty="0"/>
          </a:p>
          <a:p>
            <a:r>
              <a:rPr lang="pt-PT" dirty="0"/>
              <a:t>    </a:t>
            </a:r>
            <a:r>
              <a:rPr lang="pt-PT" dirty="0" err="1"/>
              <a:t>if</a:t>
            </a:r>
            <a:r>
              <a:rPr lang="pt-PT" dirty="0"/>
              <a:t> (</a:t>
            </a:r>
            <a:r>
              <a:rPr lang="pt-PT" dirty="0" err="1"/>
              <a:t>nodeRemovidoEraFilhoEsquerdo</a:t>
            </a:r>
            <a:r>
              <a:rPr lang="pt-PT" dirty="0"/>
              <a:t>) {</a:t>
            </a:r>
          </a:p>
          <a:p>
            <a:r>
              <a:rPr lang="pt-PT" dirty="0"/>
              <a:t>        </a:t>
            </a:r>
          </a:p>
          <a:p>
            <a:r>
              <a:rPr lang="pt-PT" dirty="0"/>
              <a:t>        // Verificação: O nó removido tinha um </a:t>
            </a:r>
            <a:r>
              <a:rPr lang="pt-PT" dirty="0" err="1"/>
              <a:t>thread</a:t>
            </a:r>
            <a:r>
              <a:rPr lang="pt-PT" dirty="0"/>
              <a:t> esquerdo? (Sim, se for folha ou tiver 1 filho)</a:t>
            </a:r>
          </a:p>
          <a:p>
            <a:r>
              <a:rPr lang="pt-PT" dirty="0"/>
              <a:t>        </a:t>
            </a:r>
            <a:r>
              <a:rPr lang="pt-PT" dirty="0" err="1"/>
              <a:t>if</a:t>
            </a:r>
            <a:r>
              <a:rPr lang="pt-PT" dirty="0"/>
              <a:t> (</a:t>
            </a:r>
            <a:r>
              <a:rPr lang="pt-PT" dirty="0" err="1"/>
              <a:t>nodeRemovido.isLeftThread</a:t>
            </a:r>
            <a:r>
              <a:rPr lang="pt-PT" dirty="0"/>
              <a:t>()) {</a:t>
            </a:r>
          </a:p>
          <a:p>
            <a:r>
              <a:rPr lang="pt-PT" dirty="0"/>
              <a:t>            </a:t>
            </a:r>
          </a:p>
          <a:p>
            <a:r>
              <a:rPr lang="pt-PT" dirty="0"/>
              <a:t>            // O predecessor </a:t>
            </a:r>
            <a:r>
              <a:rPr lang="pt-PT" dirty="0" err="1"/>
              <a:t>in-order</a:t>
            </a:r>
            <a:r>
              <a:rPr lang="pt-PT" dirty="0"/>
              <a:t> (que é o </a:t>
            </a:r>
            <a:r>
              <a:rPr lang="pt-PT" dirty="0" err="1"/>
              <a:t>thread</a:t>
            </a:r>
            <a:r>
              <a:rPr lang="pt-PT" dirty="0"/>
              <a:t> esquerdo de </a:t>
            </a:r>
            <a:r>
              <a:rPr lang="pt-PT" dirty="0" err="1"/>
              <a:t>nodeRemovido</a:t>
            </a:r>
            <a:r>
              <a:rPr lang="pt-PT" dirty="0"/>
              <a:t>)</a:t>
            </a:r>
          </a:p>
          <a:p>
            <a:r>
              <a:rPr lang="pt-PT" dirty="0"/>
              <a:t>            </a:t>
            </a:r>
            <a:r>
              <a:rPr lang="pt-PT" dirty="0" err="1"/>
              <a:t>ThreadedNode</a:t>
            </a:r>
            <a:r>
              <a:rPr lang="pt-PT" dirty="0"/>
              <a:t>&lt;T&gt; </a:t>
            </a:r>
            <a:r>
              <a:rPr lang="pt-PT" dirty="0" err="1"/>
              <a:t>pred</a:t>
            </a:r>
            <a:r>
              <a:rPr lang="pt-PT" dirty="0"/>
              <a:t> = </a:t>
            </a:r>
            <a:r>
              <a:rPr lang="pt-PT" dirty="0" err="1"/>
              <a:t>nodeRemovido.getLeft</a:t>
            </a:r>
            <a:r>
              <a:rPr lang="pt-PT" dirty="0"/>
              <a:t>();</a:t>
            </a:r>
          </a:p>
          <a:p>
            <a:r>
              <a:rPr lang="pt-PT" dirty="0"/>
              <a:t>            </a:t>
            </a:r>
          </a:p>
          <a:p>
            <a:r>
              <a:rPr lang="pt-PT" dirty="0"/>
              <a:t>            // Se o predecessor não for nulo e tiver um </a:t>
            </a:r>
            <a:r>
              <a:rPr lang="pt-PT" dirty="0" err="1"/>
              <a:t>thread</a:t>
            </a:r>
            <a:r>
              <a:rPr lang="pt-PT" dirty="0"/>
              <a:t> direito, ajustamos</a:t>
            </a:r>
          </a:p>
          <a:p>
            <a:r>
              <a:rPr lang="pt-PT" dirty="0"/>
              <a:t>            </a:t>
            </a:r>
            <a:r>
              <a:rPr lang="pt-PT" dirty="0" err="1"/>
              <a:t>if</a:t>
            </a:r>
            <a:r>
              <a:rPr lang="pt-PT" dirty="0"/>
              <a:t> (</a:t>
            </a:r>
            <a:r>
              <a:rPr lang="pt-PT" dirty="0" err="1"/>
              <a:t>pred</a:t>
            </a:r>
            <a:r>
              <a:rPr lang="pt-PT" dirty="0"/>
              <a:t> != </a:t>
            </a:r>
            <a:r>
              <a:rPr lang="pt-PT" dirty="0" err="1"/>
              <a:t>null</a:t>
            </a:r>
            <a:r>
              <a:rPr lang="pt-PT" dirty="0"/>
              <a:t> &amp;&amp; </a:t>
            </a:r>
            <a:r>
              <a:rPr lang="pt-PT" dirty="0" err="1"/>
              <a:t>pred.isRightThread</a:t>
            </a:r>
            <a:r>
              <a:rPr lang="pt-PT" dirty="0"/>
              <a:t>()) {</a:t>
            </a:r>
          </a:p>
          <a:p>
            <a:r>
              <a:rPr lang="pt-PT" dirty="0"/>
              <a:t>                </a:t>
            </a:r>
          </a:p>
          <a:p>
            <a:r>
              <a:rPr lang="pt-PT" dirty="0"/>
              <a:t>                // O </a:t>
            </a:r>
            <a:r>
              <a:rPr lang="pt-PT" dirty="0" err="1"/>
              <a:t>rightThread</a:t>
            </a:r>
            <a:r>
              <a:rPr lang="pt-PT" dirty="0"/>
              <a:t> do predecessor agora aponta para o pai do nó removido.</a:t>
            </a:r>
          </a:p>
          <a:p>
            <a:r>
              <a:rPr lang="pt-PT" dirty="0"/>
              <a:t>                // (O pai é o novo sucessor </a:t>
            </a:r>
            <a:r>
              <a:rPr lang="pt-PT" dirty="0" err="1"/>
              <a:t>in-order</a:t>
            </a:r>
            <a:r>
              <a:rPr lang="pt-PT" dirty="0"/>
              <a:t> de '</a:t>
            </a:r>
            <a:r>
              <a:rPr lang="pt-PT" dirty="0" err="1"/>
              <a:t>pred</a:t>
            </a:r>
            <a:r>
              <a:rPr lang="pt-PT" dirty="0"/>
              <a:t>')</a:t>
            </a:r>
          </a:p>
          <a:p>
            <a:r>
              <a:rPr lang="pt-PT" dirty="0"/>
              <a:t>                </a:t>
            </a:r>
            <a:r>
              <a:rPr lang="pt-PT" dirty="0" err="1"/>
              <a:t>pred.setRight</a:t>
            </a:r>
            <a:r>
              <a:rPr lang="pt-PT" dirty="0"/>
              <a:t>(</a:t>
            </a:r>
            <a:r>
              <a:rPr lang="pt-PT" dirty="0" err="1"/>
              <a:t>paiDoRemovido</a:t>
            </a:r>
            <a:r>
              <a:rPr lang="pt-PT" dirty="0"/>
              <a:t>);</a:t>
            </a:r>
          </a:p>
          <a:p>
            <a:r>
              <a:rPr lang="pt-PT" dirty="0"/>
              <a:t>            }</a:t>
            </a:r>
          </a:p>
          <a:p>
            <a:r>
              <a:rPr lang="pt-PT" dirty="0"/>
              <a:t>        }</a:t>
            </a:r>
          </a:p>
          <a:p>
            <a:r>
              <a:rPr lang="pt-PT" dirty="0"/>
              <a:t>    }</a:t>
            </a:r>
          </a:p>
          <a:p>
            <a:r>
              <a:rPr lang="pt-PT" dirty="0"/>
              <a:t>    // Lógica similar seria necessária para o caso em que o nó removido era o filho direito.</a:t>
            </a:r>
          </a:p>
          <a:p>
            <a:r>
              <a:rPr lang="pt-PT" dirty="0"/>
              <a:t>    // Lógica adicional para garantir que o pai (</a:t>
            </a:r>
            <a:r>
              <a:rPr lang="pt-PT" dirty="0" err="1"/>
              <a:t>paiDoRemovido</a:t>
            </a:r>
            <a:r>
              <a:rPr lang="pt-PT" dirty="0"/>
              <a:t>) estabeleça o seu novo </a:t>
            </a:r>
            <a:r>
              <a:rPr lang="pt-PT" dirty="0" err="1"/>
              <a:t>thread</a:t>
            </a:r>
            <a:r>
              <a:rPr lang="pt-PT" dirty="0"/>
              <a:t>,</a:t>
            </a:r>
          </a:p>
          <a:p>
            <a:r>
              <a:rPr lang="pt-PT" dirty="0"/>
              <a:t>    // se o nó removido fosse um filho folha (como no exemplo do 11).</a:t>
            </a:r>
          </a:p>
          <a:p>
            <a:endParaRPr lang="pt-PT" dirty="0"/>
          </a:p>
          <a:p>
            <a:r>
              <a:rPr lang="pt-PT" dirty="0"/>
              <a:t>    // Aplicar balanceamento</a:t>
            </a:r>
          </a:p>
          <a:p>
            <a:r>
              <a:rPr lang="pt-PT" dirty="0"/>
              <a:t>    </a:t>
            </a:r>
            <a:r>
              <a:rPr lang="pt-PT" dirty="0" err="1"/>
              <a:t>return</a:t>
            </a:r>
            <a:r>
              <a:rPr lang="pt-PT" dirty="0"/>
              <a:t> </a:t>
            </a:r>
            <a:r>
              <a:rPr lang="pt-PT" dirty="0" err="1"/>
              <a:t>root</a:t>
            </a:r>
            <a:r>
              <a:rPr lang="pt-PT" dirty="0"/>
              <a:t>;</a:t>
            </a:r>
          </a:p>
          <a:p>
            <a:r>
              <a:rPr lang="pt-PT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353337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648182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546828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Node* </a:t>
            </a:r>
            <a:r>
              <a:rPr lang="pt-PT" dirty="0" err="1"/>
              <a:t>findMin</a:t>
            </a:r>
            <a:r>
              <a:rPr lang="pt-PT" dirty="0"/>
              <a:t>(Node* </a:t>
            </a:r>
            <a:r>
              <a:rPr lang="pt-PT" dirty="0" err="1"/>
              <a:t>root</a:t>
            </a:r>
            <a:r>
              <a:rPr lang="pt-PT" dirty="0"/>
              <a:t>) {</a:t>
            </a:r>
          </a:p>
          <a:p>
            <a:r>
              <a:rPr lang="pt-PT" dirty="0"/>
              <a:t>    </a:t>
            </a:r>
            <a:r>
              <a:rPr lang="pt-PT" dirty="0" err="1"/>
              <a:t>if</a:t>
            </a:r>
            <a:r>
              <a:rPr lang="pt-PT" dirty="0"/>
              <a:t> (</a:t>
            </a:r>
            <a:r>
              <a:rPr lang="pt-PT" dirty="0" err="1"/>
              <a:t>root</a:t>
            </a:r>
            <a:r>
              <a:rPr lang="pt-PT" dirty="0"/>
              <a:t> == NULL) {</a:t>
            </a:r>
          </a:p>
          <a:p>
            <a:r>
              <a:rPr lang="pt-PT" dirty="0"/>
              <a:t>        </a:t>
            </a:r>
            <a:r>
              <a:rPr lang="pt-PT" dirty="0" err="1"/>
              <a:t>return</a:t>
            </a:r>
            <a:r>
              <a:rPr lang="pt-PT" dirty="0"/>
              <a:t> NULL;</a:t>
            </a:r>
          </a:p>
          <a:p>
            <a:r>
              <a:rPr lang="pt-PT" dirty="0"/>
              <a:t>    }</a:t>
            </a:r>
          </a:p>
          <a:p>
            <a:r>
              <a:rPr lang="pt-PT" dirty="0"/>
              <a:t>    Node* </a:t>
            </a:r>
            <a:r>
              <a:rPr lang="pt-PT" dirty="0" err="1"/>
              <a:t>curr</a:t>
            </a:r>
            <a:r>
              <a:rPr lang="pt-PT" dirty="0"/>
              <a:t> = </a:t>
            </a:r>
            <a:r>
              <a:rPr lang="pt-PT" dirty="0" err="1"/>
              <a:t>root</a:t>
            </a:r>
            <a:r>
              <a:rPr lang="pt-PT" dirty="0"/>
              <a:t>;</a:t>
            </a:r>
          </a:p>
          <a:p>
            <a:r>
              <a:rPr lang="pt-PT" dirty="0"/>
              <a:t>    // Percorre até o nó mais à esquerda que não tem um filho à esquerda real</a:t>
            </a:r>
          </a:p>
          <a:p>
            <a:r>
              <a:rPr lang="pt-PT" dirty="0"/>
              <a:t>    </a:t>
            </a:r>
            <a:r>
              <a:rPr lang="pt-PT" dirty="0" err="1"/>
              <a:t>while</a:t>
            </a:r>
            <a:r>
              <a:rPr lang="pt-PT" dirty="0"/>
              <a:t> (!</a:t>
            </a:r>
            <a:r>
              <a:rPr lang="pt-PT" dirty="0" err="1"/>
              <a:t>curr</a:t>
            </a:r>
            <a:r>
              <a:rPr lang="pt-PT" dirty="0"/>
              <a:t>-&gt;</a:t>
            </a:r>
            <a:r>
              <a:rPr lang="pt-PT" dirty="0" err="1"/>
              <a:t>leftThread</a:t>
            </a:r>
            <a:r>
              <a:rPr lang="pt-PT" dirty="0"/>
              <a:t> &amp;&amp; </a:t>
            </a:r>
            <a:r>
              <a:rPr lang="pt-PT" dirty="0" err="1"/>
              <a:t>curr</a:t>
            </a:r>
            <a:r>
              <a:rPr lang="pt-PT" dirty="0"/>
              <a:t>-&gt;</a:t>
            </a:r>
            <a:r>
              <a:rPr lang="pt-PT" dirty="0" err="1"/>
              <a:t>left</a:t>
            </a:r>
            <a:r>
              <a:rPr lang="pt-PT" dirty="0"/>
              <a:t> != NULL) {</a:t>
            </a:r>
          </a:p>
          <a:p>
            <a:r>
              <a:rPr lang="pt-PT" dirty="0"/>
              <a:t>        </a:t>
            </a:r>
            <a:r>
              <a:rPr lang="pt-PT" dirty="0" err="1"/>
              <a:t>curr</a:t>
            </a:r>
            <a:r>
              <a:rPr lang="pt-PT" dirty="0"/>
              <a:t> = </a:t>
            </a:r>
            <a:r>
              <a:rPr lang="pt-PT" dirty="0" err="1"/>
              <a:t>curr</a:t>
            </a:r>
            <a:r>
              <a:rPr lang="pt-PT" dirty="0"/>
              <a:t>-&gt;</a:t>
            </a:r>
            <a:r>
              <a:rPr lang="pt-PT" dirty="0" err="1"/>
              <a:t>left</a:t>
            </a:r>
            <a:r>
              <a:rPr lang="pt-PT" dirty="0"/>
              <a:t>;</a:t>
            </a:r>
          </a:p>
          <a:p>
            <a:r>
              <a:rPr lang="pt-PT" dirty="0"/>
              <a:t>    }</a:t>
            </a:r>
          </a:p>
          <a:p>
            <a:r>
              <a:rPr lang="pt-PT" dirty="0"/>
              <a:t>    </a:t>
            </a:r>
            <a:r>
              <a:rPr lang="pt-PT" dirty="0" err="1"/>
              <a:t>return</a:t>
            </a:r>
            <a:r>
              <a:rPr lang="pt-PT" dirty="0"/>
              <a:t> </a:t>
            </a:r>
            <a:r>
              <a:rPr lang="pt-PT" dirty="0" err="1"/>
              <a:t>curr</a:t>
            </a:r>
            <a:r>
              <a:rPr lang="pt-PT" dirty="0"/>
              <a:t>;</a:t>
            </a:r>
          </a:p>
          <a:p>
            <a:r>
              <a:rPr lang="pt-PT" dirty="0"/>
              <a:t>}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1520035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/>
              <a:t>Node* </a:t>
            </a:r>
            <a:r>
              <a:rPr lang="pt-PT" dirty="0" err="1"/>
              <a:t>findMax</a:t>
            </a:r>
            <a:r>
              <a:rPr lang="pt-PT" dirty="0"/>
              <a:t>(Node* </a:t>
            </a:r>
            <a:r>
              <a:rPr lang="pt-PT" dirty="0" err="1"/>
              <a:t>root</a:t>
            </a:r>
            <a:r>
              <a:rPr lang="pt-PT" dirty="0"/>
              <a:t>) {</a:t>
            </a:r>
          </a:p>
          <a:p>
            <a:r>
              <a:rPr lang="pt-PT" dirty="0"/>
              <a:t>    </a:t>
            </a:r>
            <a:r>
              <a:rPr lang="pt-PT" dirty="0" err="1"/>
              <a:t>if</a:t>
            </a:r>
            <a:r>
              <a:rPr lang="pt-PT" dirty="0"/>
              <a:t> (</a:t>
            </a:r>
            <a:r>
              <a:rPr lang="pt-PT" dirty="0" err="1"/>
              <a:t>root</a:t>
            </a:r>
            <a:r>
              <a:rPr lang="pt-PT" dirty="0"/>
              <a:t> == NULL) {</a:t>
            </a:r>
          </a:p>
          <a:p>
            <a:r>
              <a:rPr lang="pt-PT" dirty="0"/>
              <a:t>        </a:t>
            </a:r>
            <a:r>
              <a:rPr lang="pt-PT" dirty="0" err="1"/>
              <a:t>return</a:t>
            </a:r>
            <a:r>
              <a:rPr lang="pt-PT" dirty="0"/>
              <a:t> NULL;</a:t>
            </a:r>
          </a:p>
          <a:p>
            <a:r>
              <a:rPr lang="pt-PT" dirty="0"/>
              <a:t>    }</a:t>
            </a:r>
          </a:p>
          <a:p>
            <a:r>
              <a:rPr lang="pt-PT" dirty="0"/>
              <a:t>    Node* </a:t>
            </a:r>
            <a:r>
              <a:rPr lang="pt-PT" dirty="0" err="1"/>
              <a:t>curr</a:t>
            </a:r>
            <a:r>
              <a:rPr lang="pt-PT" dirty="0"/>
              <a:t> = </a:t>
            </a:r>
            <a:r>
              <a:rPr lang="pt-PT" dirty="0" err="1"/>
              <a:t>root</a:t>
            </a:r>
            <a:r>
              <a:rPr lang="pt-PT" dirty="0"/>
              <a:t>;</a:t>
            </a:r>
          </a:p>
          <a:p>
            <a:r>
              <a:rPr lang="pt-PT" dirty="0"/>
              <a:t>    // Percorre até o nó mais à direita que não tem um filho à direita real</a:t>
            </a:r>
          </a:p>
          <a:p>
            <a:r>
              <a:rPr lang="pt-PT" dirty="0"/>
              <a:t>    </a:t>
            </a:r>
            <a:r>
              <a:rPr lang="pt-PT" dirty="0" err="1"/>
              <a:t>while</a:t>
            </a:r>
            <a:r>
              <a:rPr lang="pt-PT" dirty="0"/>
              <a:t> (!</a:t>
            </a:r>
            <a:r>
              <a:rPr lang="pt-PT" dirty="0" err="1"/>
              <a:t>curr</a:t>
            </a:r>
            <a:r>
              <a:rPr lang="pt-PT" dirty="0"/>
              <a:t>-&gt;</a:t>
            </a:r>
            <a:r>
              <a:rPr lang="pt-PT" dirty="0" err="1"/>
              <a:t>rightThread</a:t>
            </a:r>
            <a:r>
              <a:rPr lang="pt-PT" dirty="0"/>
              <a:t> &amp;&amp; </a:t>
            </a:r>
            <a:r>
              <a:rPr lang="pt-PT" dirty="0" err="1"/>
              <a:t>curr</a:t>
            </a:r>
            <a:r>
              <a:rPr lang="pt-PT" dirty="0"/>
              <a:t>-&gt;</a:t>
            </a:r>
            <a:r>
              <a:rPr lang="pt-PT" dirty="0" err="1"/>
              <a:t>right</a:t>
            </a:r>
            <a:r>
              <a:rPr lang="pt-PT" dirty="0"/>
              <a:t> != NULL) {</a:t>
            </a:r>
          </a:p>
          <a:p>
            <a:r>
              <a:rPr lang="pt-PT" dirty="0"/>
              <a:t>        </a:t>
            </a:r>
            <a:r>
              <a:rPr lang="pt-PT" dirty="0" err="1"/>
              <a:t>curr</a:t>
            </a:r>
            <a:r>
              <a:rPr lang="pt-PT" dirty="0"/>
              <a:t> = </a:t>
            </a:r>
            <a:r>
              <a:rPr lang="pt-PT" dirty="0" err="1"/>
              <a:t>curr</a:t>
            </a:r>
            <a:r>
              <a:rPr lang="pt-PT" dirty="0"/>
              <a:t>-&gt;</a:t>
            </a:r>
            <a:r>
              <a:rPr lang="pt-PT" dirty="0" err="1"/>
              <a:t>right</a:t>
            </a:r>
            <a:r>
              <a:rPr lang="pt-PT" dirty="0"/>
              <a:t>;</a:t>
            </a:r>
          </a:p>
          <a:p>
            <a:r>
              <a:rPr lang="pt-PT" dirty="0"/>
              <a:t>    }</a:t>
            </a:r>
          </a:p>
          <a:p>
            <a:r>
              <a:rPr lang="pt-PT" dirty="0"/>
              <a:t>    </a:t>
            </a:r>
            <a:r>
              <a:rPr lang="pt-PT" dirty="0" err="1"/>
              <a:t>return</a:t>
            </a:r>
            <a:r>
              <a:rPr lang="pt-PT" dirty="0"/>
              <a:t> </a:t>
            </a:r>
            <a:r>
              <a:rPr lang="pt-PT" dirty="0" err="1"/>
              <a:t>curr</a:t>
            </a:r>
            <a:r>
              <a:rPr lang="pt-PT" dirty="0"/>
              <a:t>;</a:t>
            </a:r>
          </a:p>
          <a:p>
            <a:r>
              <a:rPr lang="pt-PT" dirty="0"/>
              <a:t>}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7746190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446526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126775" y="-82000"/>
            <a:ext cx="9474200" cy="5289550"/>
          </a:xfrm>
          <a:custGeom>
            <a:avLst/>
            <a:gdLst/>
            <a:ahLst/>
            <a:cxnLst/>
            <a:rect l="l" t="t" r="r" b="b"/>
            <a:pathLst>
              <a:path w="378968" h="211582" extrusionOk="0">
                <a:moveTo>
                  <a:pt x="0" y="60960"/>
                </a:moveTo>
                <a:lnTo>
                  <a:pt x="50038" y="0"/>
                </a:lnTo>
                <a:lnTo>
                  <a:pt x="1778" y="114554"/>
                </a:lnTo>
                <a:lnTo>
                  <a:pt x="106172" y="762"/>
                </a:lnTo>
                <a:lnTo>
                  <a:pt x="289560" y="211074"/>
                </a:lnTo>
                <a:lnTo>
                  <a:pt x="374650" y="153924"/>
                </a:lnTo>
                <a:lnTo>
                  <a:pt x="322326" y="211582"/>
                </a:lnTo>
                <a:lnTo>
                  <a:pt x="378968" y="19050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7150" dist="19050" dir="5400000" algn="bl" rotWithShape="0">
              <a:srgbClr val="000000">
                <a:alpha val="9000"/>
              </a:srgbClr>
            </a:outerShdw>
          </a:effectLst>
        </p:spPr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2207018"/>
            <a:ext cx="8520600" cy="57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744468"/>
            <a:ext cx="8520600" cy="4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ullet points">
  <p:cSld name="TITLE_AND_TWO_COLUMNS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body" idx="1"/>
          </p:nvPr>
        </p:nvSpPr>
        <p:spPr>
          <a:xfrm>
            <a:off x="789500" y="1184750"/>
            <a:ext cx="7111200" cy="343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797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  <a:defRPr sz="1250">
                <a:solidFill>
                  <a:schemeClr val="dk1"/>
                </a:solidFill>
              </a:defRPr>
            </a:lvl1pPr>
            <a:lvl2pPr marL="914400" lvl="1" indent="-30797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  <a:defRPr sz="1250">
                <a:solidFill>
                  <a:schemeClr val="dk1"/>
                </a:solidFill>
              </a:defRPr>
            </a:lvl2pPr>
            <a:lvl3pPr marL="1371600" lvl="2" indent="-30797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50"/>
              <a:buChar char="■"/>
              <a:defRPr sz="1250">
                <a:solidFill>
                  <a:schemeClr val="dk1"/>
                </a:solidFill>
              </a:defRPr>
            </a:lvl3pPr>
            <a:lvl4pPr marL="1828800" lvl="3" indent="-30797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  <a:defRPr sz="1250">
                <a:solidFill>
                  <a:schemeClr val="dk1"/>
                </a:solidFill>
              </a:defRPr>
            </a:lvl4pPr>
            <a:lvl5pPr marL="2286000" lvl="4" indent="-30797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  <a:defRPr sz="1250">
                <a:solidFill>
                  <a:schemeClr val="dk1"/>
                </a:solidFill>
              </a:defRPr>
            </a:lvl5pPr>
            <a:lvl6pPr marL="2743200" lvl="5" indent="-30797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50"/>
              <a:buChar char="■"/>
              <a:defRPr sz="1250">
                <a:solidFill>
                  <a:schemeClr val="dk1"/>
                </a:solidFill>
              </a:defRPr>
            </a:lvl6pPr>
            <a:lvl7pPr marL="3200400" lvl="6" indent="-30797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  <a:defRPr sz="1250">
                <a:solidFill>
                  <a:schemeClr val="dk1"/>
                </a:solidFill>
              </a:defRPr>
            </a:lvl7pPr>
            <a:lvl8pPr marL="3657600" lvl="7" indent="-307975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  <a:defRPr sz="1250">
                <a:solidFill>
                  <a:schemeClr val="dk1"/>
                </a:solidFill>
              </a:defRPr>
            </a:lvl8pPr>
            <a:lvl9pPr marL="4114800" lvl="8" indent="-307975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50"/>
              <a:buChar char="■"/>
              <a:defRPr sz="125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627071" y="54925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Fira Sans Condensed ExtraBold"/>
              <a:buNone/>
              <a:defRPr sz="24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7071" y="50329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Fira Sans Condensed ExtraBold"/>
              <a:buNone/>
              <a:defRPr sz="2800">
                <a:solidFill>
                  <a:schemeClr val="accent2"/>
                </a:solidFill>
                <a:latin typeface="Fira Sans Condensed ExtraBold"/>
                <a:ea typeface="Fira Sans Condensed ExtraBold"/>
                <a:cs typeface="Fira Sans Condensed ExtraBold"/>
                <a:sym typeface="Fira Sans Condensed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Muli"/>
              <a:buNone/>
              <a:defRPr sz="2800">
                <a:solidFill>
                  <a:schemeClr val="accent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07200" y="1152475"/>
            <a:ext cx="7726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Fira Sans Condensed"/>
              <a:buChar char="●"/>
              <a:defRPr sz="1800"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marL="914400" lvl="1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Fira Sans Condensed"/>
              <a:buChar char="○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Fira Sans Condensed"/>
              <a:buChar char="■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Fira Sans Condensed"/>
              <a:buChar char="●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Fira Sans Condensed"/>
              <a:buChar char="○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Fira Sans Condensed"/>
              <a:buChar char="■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Fira Sans Condensed"/>
              <a:buChar char="●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Fira Sans Condensed"/>
              <a:buChar char="○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2"/>
              </a:buClr>
              <a:buSzPts val="1400"/>
              <a:buFont typeface="Fira Sans Condensed"/>
              <a:buChar char="■"/>
              <a:defRPr>
                <a:solidFill>
                  <a:schemeClr val="accent2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8" r:id="rId2"/>
    <p:sldLayoutId id="2147483660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0020-0190(79)90068-1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geeksforgeeks.org/dsa/threaded-binary-tre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9"/>
          <p:cNvSpPr txBox="1">
            <a:spLocks noGrp="1"/>
          </p:cNvSpPr>
          <p:nvPr>
            <p:ph type="ctrTitle"/>
          </p:nvPr>
        </p:nvSpPr>
        <p:spPr>
          <a:xfrm>
            <a:off x="311700" y="2207018"/>
            <a:ext cx="8520600" cy="57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pt-PT" dirty="0" err="1">
                <a:latin typeface="Fira Sans Condensed ExtraBold" panose="020B0903050000020004" pitchFamily="34" charset="0"/>
              </a:rPr>
              <a:t>Threaded</a:t>
            </a:r>
            <a:r>
              <a:rPr lang="pt-PT" dirty="0">
                <a:latin typeface="Fira Sans Condensed ExtraBold" panose="020B0903050000020004" pitchFamily="34" charset="0"/>
              </a:rPr>
              <a:t> </a:t>
            </a:r>
            <a:r>
              <a:rPr lang="pt-PT" dirty="0" err="1">
                <a:latin typeface="Fira Sans Condensed ExtraBold" panose="020B0903050000020004" pitchFamily="34" charset="0"/>
              </a:rPr>
              <a:t>Binary</a:t>
            </a:r>
            <a:r>
              <a:rPr lang="pt-PT" dirty="0">
                <a:latin typeface="Fira Sans Condensed ExtraBold" panose="020B0903050000020004" pitchFamily="34" charset="0"/>
              </a:rPr>
              <a:t> </a:t>
            </a:r>
            <a:r>
              <a:rPr lang="pt-PT" dirty="0" err="1">
                <a:latin typeface="Fira Sans Condensed ExtraBold" panose="020B0903050000020004" pitchFamily="34" charset="0"/>
              </a:rPr>
              <a:t>Trees</a:t>
            </a:r>
            <a:endParaRPr dirty="0">
              <a:latin typeface="Fira Sans Condensed ExtraBold" panose="020B0903050000020004" pitchFamily="34" charset="0"/>
            </a:endParaRPr>
          </a:p>
        </p:txBody>
      </p:sp>
      <p:sp>
        <p:nvSpPr>
          <p:cNvPr id="348" name="Google Shape;348;p59"/>
          <p:cNvSpPr txBox="1">
            <a:spLocks noGrp="1"/>
          </p:cNvSpPr>
          <p:nvPr>
            <p:ph type="subTitle" idx="1"/>
          </p:nvPr>
        </p:nvSpPr>
        <p:spPr>
          <a:xfrm>
            <a:off x="5337702" y="4349463"/>
            <a:ext cx="3806298" cy="6893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Tiago Gouveia Filipe – 2019112767</a:t>
            </a:r>
          </a:p>
          <a:p>
            <a:pPr marL="0" lvl="0" indent="0"/>
            <a:r>
              <a:rPr lang="en" dirty="0"/>
              <a:t>David Martins Correia - </a:t>
            </a:r>
            <a:r>
              <a:rPr lang="pt-PT" dirty="0">
                <a:solidFill>
                  <a:schemeClr val="dk1"/>
                </a:solidFill>
                <a:latin typeface="Karla"/>
              </a:rPr>
              <a:t>2023140410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0"/>
          <p:cNvSpPr txBox="1">
            <a:spLocks noGrp="1"/>
          </p:cNvSpPr>
          <p:nvPr>
            <p:ph type="body" idx="1"/>
          </p:nvPr>
        </p:nvSpPr>
        <p:spPr>
          <a:xfrm>
            <a:off x="789500" y="1184750"/>
            <a:ext cx="8026840" cy="20940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600"/>
              </a:spcAft>
              <a:buNone/>
            </a:pPr>
            <a:r>
              <a:rPr lang="pt-PT" sz="1200" dirty="0">
                <a:latin typeface="Verdana" panose="020B0604030504040204" pitchFamily="34" charset="0"/>
                <a:ea typeface="Verdana" panose="020B0604030504040204" pitchFamily="34" charset="0"/>
              </a:rPr>
              <a:t>Uma árvore binária </a:t>
            </a:r>
            <a:r>
              <a:rPr lang="pt-PT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threaded</a:t>
            </a:r>
            <a:r>
              <a:rPr lang="pt-PT" sz="1200" dirty="0">
                <a:latin typeface="Verdana" panose="020B0604030504040204" pitchFamily="34" charset="0"/>
                <a:ea typeface="Verdana" panose="020B0604030504040204" pitchFamily="34" charset="0"/>
              </a:rPr>
              <a:t> é um tipo de estrutura de dados de árvore binária em que os ponteiros esquerdo e direito que seriam </a:t>
            </a:r>
            <a:r>
              <a:rPr lang="pt-PT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null</a:t>
            </a:r>
            <a:r>
              <a:rPr lang="pt-PT" sz="1200" dirty="0">
                <a:latin typeface="Verdana" panose="020B0604030504040204" pitchFamily="34" charset="0"/>
                <a:ea typeface="Verdana" panose="020B0604030504040204" pitchFamily="34" charset="0"/>
              </a:rPr>
              <a:t> são substituídos por </a:t>
            </a:r>
            <a:r>
              <a:rPr lang="pt-PT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threads</a:t>
            </a:r>
            <a:r>
              <a:rPr lang="pt-PT" sz="1200" dirty="0">
                <a:latin typeface="Verdana" panose="020B0604030504040204" pitchFamily="34" charset="0"/>
                <a:ea typeface="Verdana" panose="020B0604030504040204" pitchFamily="34" charset="0"/>
              </a:rPr>
              <a:t>. Estas </a:t>
            </a:r>
            <a:r>
              <a:rPr lang="pt-PT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threads</a:t>
            </a:r>
            <a:r>
              <a:rPr lang="pt-PT" sz="1200" dirty="0">
                <a:latin typeface="Verdana" panose="020B0604030504040204" pitchFamily="34" charset="0"/>
                <a:ea typeface="Verdana" panose="020B0604030504040204" pitchFamily="34" charset="0"/>
              </a:rPr>
              <a:t> ligam os nós diretamente ao seu predecessor ou sucessor no percurso </a:t>
            </a:r>
            <a:r>
              <a:rPr lang="pt-PT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in-order</a:t>
            </a:r>
            <a:r>
              <a:rPr lang="pt-PT" sz="1200" dirty="0">
                <a:latin typeface="Verdana" panose="020B0604030504040204" pitchFamily="34" charset="0"/>
                <a:ea typeface="Verdana" panose="020B0604030504040204" pitchFamily="34" charset="0"/>
              </a:rPr>
              <a:t>, permitindo percorrer a árvore sem necessidade de usar recursividade ou pilha (</a:t>
            </a:r>
            <a:r>
              <a:rPr lang="pt-PT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stack</a:t>
            </a:r>
            <a:r>
              <a:rPr lang="pt-PT" sz="1200" dirty="0">
                <a:latin typeface="Verdana" panose="020B0604030504040204" pitchFamily="34" charset="0"/>
                <a:ea typeface="Verdana" panose="020B0604030504040204" pitchFamily="34" charset="0"/>
              </a:rPr>
              <a:t>). Existem dois tipos de árvores binárias </a:t>
            </a:r>
            <a:r>
              <a:rPr lang="pt-PT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threaded</a:t>
            </a:r>
            <a:r>
              <a:rPr lang="pt-PT" sz="12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354" name="Google Shape;354;p60"/>
          <p:cNvSpPr txBox="1">
            <a:spLocks noGrp="1"/>
          </p:cNvSpPr>
          <p:nvPr>
            <p:ph type="title"/>
          </p:nvPr>
        </p:nvSpPr>
        <p:spPr>
          <a:xfrm>
            <a:off x="627071" y="54925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Objetivo desta árvore 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4039AC26-FEC9-43EB-A36F-2651425C8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9225" indent="0">
              <a:buNone/>
            </a:pPr>
            <a:r>
              <a:rPr lang="pt-PT" sz="1400" dirty="0">
                <a:latin typeface="Verdana" panose="020B0604030504040204" pitchFamily="34" charset="0"/>
                <a:ea typeface="Verdana" panose="020B0604030504040204" pitchFamily="34" charset="0"/>
              </a:rPr>
              <a:t>Onde um ponteiro NULL à direita de um nó é substituído por uma </a:t>
            </a:r>
            <a:r>
              <a:rPr lang="pt-PT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thread</a:t>
            </a:r>
            <a:r>
              <a:rPr lang="pt-PT" sz="1400" dirty="0">
                <a:latin typeface="Verdana" panose="020B0604030504040204" pitchFamily="34" charset="0"/>
                <a:ea typeface="Verdana" panose="020B0604030504040204" pitchFamily="34" charset="0"/>
              </a:rPr>
              <a:t> que aponta para o seu para o sucessor em ordem (se existir sucessor)</a:t>
            </a:r>
          </a:p>
          <a:p>
            <a:pPr marL="149225" indent="0">
              <a:buNone/>
            </a:pPr>
            <a:endParaRPr lang="pt-PT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6687094-C55E-44C7-8A93-C6E31C08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400" b="1" dirty="0">
                <a:latin typeface="Verdana" panose="020B0604030504040204" pitchFamily="34" charset="0"/>
                <a:ea typeface="Verdana" panose="020B0604030504040204" pitchFamily="34" charset="0"/>
              </a:rPr>
              <a:t>Single </a:t>
            </a:r>
            <a:r>
              <a:rPr lang="pt-PT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Threaded</a:t>
            </a:r>
            <a:endParaRPr lang="pt-PT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E96147D-A1A4-4D93-95B7-D25FDE5F58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8300" r="92200">
                        <a14:foregroundMark x1="23200" y1="18667" x2="23200" y2="18667"/>
                        <a14:foregroundMark x1="32800" y1="28667" x2="32800" y2="28667"/>
                        <a14:foregroundMark x1="28500" y1="45667" x2="28500" y2="45667"/>
                        <a14:foregroundMark x1="34000" y1="57833" x2="34000" y2="57833"/>
                        <a14:foregroundMark x1="38800" y1="45000" x2="38800" y2="45000"/>
                        <a14:foregroundMark x1="42900" y1="58167" x2="42900" y2="58167"/>
                        <a14:foregroundMark x1="8500" y1="44000" x2="8500" y2="44000"/>
                        <a14:foregroundMark x1="13500" y1="34333" x2="13500" y2="34333"/>
                        <a14:foregroundMark x1="20100" y1="47000" x2="20100" y2="47000"/>
                        <a14:foregroundMark x1="62600" y1="33667" x2="62600" y2="34167"/>
                        <a14:foregroundMark x1="68200" y1="47167" x2="68200" y2="47167"/>
                        <a14:foregroundMark x1="77200" y1="46333" x2="77200" y2="46333"/>
                        <a14:foregroundMark x1="71900" y1="18500" x2="71900" y2="18500"/>
                        <a14:foregroundMark x1="81200" y1="30667" x2="81200" y2="30667"/>
                        <a14:foregroundMark x1="85600" y1="46500" x2="85600" y2="46500"/>
                        <a14:foregroundMark x1="82400" y1="61667" x2="82400" y2="61667"/>
                        <a14:foregroundMark x1="92300" y1="58167" x2="92300" y2="58167"/>
                        <a14:foregroundMark x1="43400" y1="54167" x2="43400" y2="54167"/>
                        <a14:foregroundMark x1="43000" y1="53000" x2="43000" y2="53000"/>
                        <a14:foregroundMark x1="41300" y1="49000" x2="41300" y2="49000"/>
                        <a14:foregroundMark x1="38900" y1="50667" x2="38900" y2="50667"/>
                        <a14:foregroundMark x1="38800" y1="54500" x2="38800" y2="54500"/>
                        <a14:foregroundMark x1="38500" y1="58500" x2="38500" y2="58500"/>
                        <a14:foregroundMark x1="38100" y1="61667" x2="38100" y2="61667"/>
                        <a14:foregroundMark x1="37600" y1="64500" x2="37600" y2="64500"/>
                        <a14:foregroundMark x1="35800" y1="66333" x2="35800" y2="66333"/>
                        <a14:foregroundMark x1="34200" y1="63667" x2="34200" y2="63667"/>
                        <a14:foregroundMark x1="32800" y1="37500" x2="32800" y2="37500"/>
                        <a14:foregroundMark x1="32800" y1="35500" x2="32800" y2="35500"/>
                        <a14:foregroundMark x1="29700" y1="36500" x2="29700" y2="36500"/>
                        <a14:foregroundMark x1="32600" y1="41000" x2="32600" y2="41000"/>
                        <a14:foregroundMark x1="32400" y1="44500" x2="32400" y2="44500"/>
                        <a14:foregroundMark x1="31900" y1="47667" x2="31900" y2="47667"/>
                        <a14:foregroundMark x1="31200" y1="51167" x2="31200" y2="51167"/>
                        <a14:foregroundMark x1="29800" y1="52667" x2="29800" y2="52667"/>
                        <a14:foregroundMark x1="36000" y1="50500" x2="36000" y2="50500"/>
                        <a14:foregroundMark x1="36500" y1="36500" x2="36500" y2="36500"/>
                        <a14:foregroundMark x1="34900" y1="33500" x2="34900" y2="33500"/>
                        <a14:foregroundMark x1="12700" y1="48833" x2="12700" y2="48833"/>
                        <a14:foregroundMark x1="13200" y1="45500" x2="13200" y2="45500"/>
                        <a14:foregroundMark x1="13500" y1="41667" x2="13500" y2="41667"/>
                        <a14:foregroundMark x1="13600" y1="37833" x2="13600" y2="37833"/>
                        <a14:foregroundMark x1="11200" y1="36333" x2="11200" y2="36333"/>
                        <a14:foregroundMark x1="16600" y1="37000" x2="16600" y2="37000"/>
                        <a14:foregroundMark x1="17800" y1="38833" x2="17800" y2="38833"/>
                        <a14:foregroundMark x1="20800" y1="52667" x2="20800" y2="52667"/>
                        <a14:foregroundMark x1="11700" y1="51833" x2="11700" y2="51833"/>
                        <a14:foregroundMark x1="9900" y1="52500" x2="9900" y2="52500"/>
                        <a14:foregroundMark x1="8300" y1="50167" x2="8300" y2="50167"/>
                        <a14:foregroundMark x1="21700" y1="50667" x2="21700" y2="50667"/>
                        <a14:foregroundMark x1="22300" y1="46667" x2="22300" y2="46667"/>
                        <a14:foregroundMark x1="22600" y1="43167" x2="22600" y2="43167"/>
                        <a14:foregroundMark x1="22800" y1="40000" x2="22800" y2="40000"/>
                        <a14:foregroundMark x1="23000" y1="36667" x2="23000" y2="36667"/>
                        <a14:foregroundMark x1="23000" y1="33667" x2="23000" y2="33667"/>
                        <a14:foregroundMark x1="19000" y1="23167" x2="19000" y2="23167"/>
                        <a14:foregroundMark x1="17200" y1="24833" x2="17200" y2="24833"/>
                        <a14:foregroundMark x1="20500" y1="21500" x2="20500" y2="21500"/>
                        <a14:foregroundMark x1="23100" y1="23000" x2="23100" y2="23000"/>
                        <a14:foregroundMark x1="23100" y1="26000" x2="23100" y2="26000"/>
                        <a14:foregroundMark x1="23200" y1="29833" x2="23200" y2="29833"/>
                        <a14:foregroundMark x1="65400" y1="25333" x2="65400" y2="25333"/>
                        <a14:foregroundMark x1="66900" y1="23500" x2="66900" y2="23500"/>
                        <a14:foregroundMark x1="64000" y1="26500" x2="64000" y2="26500"/>
                        <a14:foregroundMark x1="71100" y1="23667" x2="71100" y2="23667"/>
                        <a14:foregroundMark x1="71200" y1="26833" x2="71200" y2="26833"/>
                        <a14:foregroundMark x1="71200" y1="30167" x2="71200" y2="30167"/>
                        <a14:foregroundMark x1="71100" y1="33333" x2="71100" y2="33333"/>
                        <a14:foregroundMark x1="71600" y1="37333" x2="71600" y2="37333"/>
                        <a14:foregroundMark x1="70900" y1="40000" x2="70900" y2="40000"/>
                        <a14:foregroundMark x1="71900" y1="41167" x2="71900" y2="41167"/>
                        <a14:foregroundMark x1="70600" y1="43833" x2="70600" y2="43833"/>
                        <a14:foregroundMark x1="72100" y1="44500" x2="72100" y2="44500"/>
                        <a14:foregroundMark x1="80700" y1="36500" x2="80700" y2="36500"/>
                        <a14:foregroundMark x1="78200" y1="35500" x2="78200" y2="35500"/>
                        <a14:foregroundMark x1="84500" y1="37000" x2="84500" y2="37000"/>
                        <a14:foregroundMark x1="83200" y1="34500" x2="83200" y2="34500"/>
                        <a14:foregroundMark x1="85300" y1="38667" x2="85300" y2="38667"/>
                        <a14:foregroundMark x1="80800" y1="40167" x2="80800" y2="40167"/>
                        <a14:foregroundMark x1="80600" y1="44000" x2="80600" y2="44000"/>
                        <a14:foregroundMark x1="80500" y1="47333" x2="80500" y2="47333"/>
                        <a14:foregroundMark x1="59800" y1="51833" x2="59800" y2="51833"/>
                        <a14:foregroundMark x1="60700" y1="49000" x2="60700" y2="49000"/>
                        <a14:foregroundMark x1="61200" y1="46000" x2="61200" y2="46000"/>
                        <a14:foregroundMark x1="61700" y1="42167" x2="61700" y2="42167"/>
                        <a14:foregroundMark x1="61800" y1="38667" x2="61800" y2="38667"/>
                        <a14:foregroundMark x1="64700" y1="37667" x2="64700" y2="37667"/>
                        <a14:foregroundMark x1="65800" y1="39500" x2="65800" y2="39500"/>
                        <a14:foregroundMark x1="62100" y1="45500" x2="62100" y2="45500"/>
                        <a14:foregroundMark x1="62600" y1="49333" x2="62600" y2="49333"/>
                        <a14:foregroundMark x1="63500" y1="52333" x2="63500" y2="52333"/>
                        <a14:foregroundMark x1="65600" y1="52667" x2="65600" y2="52667"/>
                        <a14:foregroundMark x1="58100" y1="53167" x2="58100" y2="53167"/>
                        <a14:foregroundMark x1="56300" y1="50333" x2="56300" y2="50333"/>
                        <a14:foregroundMark x1="68900" y1="53167" x2="68900" y2="53167"/>
                        <a14:foregroundMark x1="69900" y1="50833" x2="69900" y2="50833"/>
                        <a14:foregroundMark x1="70200" y1="47333" x2="70200" y2="47333"/>
                        <a14:foregroundMark x1="72600" y1="47667" x2="72600" y2="47667"/>
                        <a14:foregroundMark x1="72800" y1="50833" x2="72800" y2="50833"/>
                        <a14:foregroundMark x1="74400" y1="53167" x2="74400" y2="53167"/>
                        <a14:foregroundMark x1="77900" y1="52667" x2="77900" y2="52667"/>
                        <a14:foregroundMark x1="79300" y1="51500" x2="79300" y2="51500"/>
                        <a14:foregroundMark x1="80300" y1="50833" x2="80300" y2="50833"/>
                        <a14:foregroundMark x1="79900" y1="54000" x2="79900" y2="54000"/>
                        <a14:foregroundMark x1="78800" y1="56333" x2="78800" y2="56333"/>
                        <a14:foregroundMark x1="77500" y1="59333" x2="77500" y2="59333"/>
                        <a14:foregroundMark x1="77400" y1="62833" x2="77400" y2="62833"/>
                        <a14:foregroundMark x1="78400" y1="66000" x2="78400" y2="66000"/>
                        <a14:foregroundMark x1="80800" y1="66333" x2="80800" y2="66333"/>
                        <a14:foregroundMark x1="83800" y1="66833" x2="83800" y2="66833"/>
                        <a14:foregroundMark x1="85500" y1="65333" x2="85500" y2="65333"/>
                        <a14:foregroundMark x1="85900" y1="62667" x2="85900" y2="62667"/>
                        <a14:foregroundMark x1="86500" y1="58667" x2="86500" y2="58667"/>
                        <a14:foregroundMark x1="86800" y1="54833" x2="86800" y2="54833"/>
                        <a14:foregroundMark x1="86800" y1="51000" x2="86800" y2="51167"/>
                        <a14:foregroundMark x1="83700" y1="51667" x2="83700" y2="51667"/>
                        <a14:foregroundMark x1="84500" y1="49667" x2="84500" y2="49667"/>
                        <a14:foregroundMark x1="83200" y1="52500" x2="83200" y2="52500"/>
                        <a14:foregroundMark x1="89700" y1="59333" x2="89700" y2="59333"/>
                        <a14:foregroundMark x1="87700" y1="62000" x2="87700" y2="62000"/>
                        <a14:foregroundMark x1="87300" y1="58500" x2="87300" y2="58500"/>
                        <a14:foregroundMark x1="88400" y1="65167" x2="88400" y2="65167"/>
                        <a14:foregroundMark x1="90200" y1="66500" x2="90200" y2="66500"/>
                        <a14:foregroundMark x1="32600" y1="31500" x2="32600" y2="31500"/>
                        <a14:foregroundMark x1="45800" y1="58833" x2="45800" y2="58833"/>
                        <a14:foregroundMark x1="42300" y1="51500" x2="42300" y2="51500"/>
                      </a14:backgroundRemoval>
                    </a14:imgEffect>
                  </a14:imgLayer>
                </a14:imgProps>
              </a:ext>
            </a:extLst>
          </a:blip>
          <a:srcRect t="12729" r="52284" b="30622"/>
          <a:stretch/>
        </p:blipFill>
        <p:spPr>
          <a:xfrm>
            <a:off x="1962150" y="1897380"/>
            <a:ext cx="3893819" cy="277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98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4039AC26-FEC9-43EB-A36F-2651425C8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9225" indent="0">
              <a:buNone/>
            </a:pPr>
            <a:r>
              <a:rPr lang="pt-PT" sz="1400" dirty="0">
                <a:latin typeface="Verdana" panose="020B0604030504040204" pitchFamily="34" charset="0"/>
                <a:ea typeface="Verdana" panose="020B0604030504040204" pitchFamily="34" charset="0"/>
              </a:rPr>
              <a:t>Onde tanto os ponteiros NULL esquerdo e direito são </a:t>
            </a:r>
            <a:r>
              <a:rPr lang="pt-PT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threads</a:t>
            </a:r>
            <a:r>
              <a:rPr lang="pt-PT" sz="1400" dirty="0">
                <a:latin typeface="Verdana" panose="020B0604030504040204" pitchFamily="34" charset="0"/>
                <a:ea typeface="Verdana" panose="020B0604030504040204" pitchFamily="34" charset="0"/>
              </a:rPr>
              <a:t>. O ponteiro nulo à esquerda aponta para o predecessor no percurso </a:t>
            </a:r>
            <a:r>
              <a:rPr lang="pt-PT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in-order</a:t>
            </a:r>
            <a:r>
              <a:rPr lang="pt-PT" sz="1400" dirty="0">
                <a:latin typeface="Verdana" panose="020B0604030504040204" pitchFamily="34" charset="0"/>
                <a:ea typeface="Verdana" panose="020B0604030504040204" pitchFamily="34" charset="0"/>
              </a:rPr>
              <a:t> e o ponteiro direito aponta para o sucessor no percurso </a:t>
            </a:r>
            <a:r>
              <a:rPr lang="pt-PT" sz="1400" dirty="0" err="1">
                <a:latin typeface="Verdana" panose="020B0604030504040204" pitchFamily="34" charset="0"/>
                <a:ea typeface="Verdana" panose="020B0604030504040204" pitchFamily="34" charset="0"/>
              </a:rPr>
              <a:t>in-order</a:t>
            </a:r>
            <a:r>
              <a:rPr lang="pt-PT" sz="14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149225" indent="0">
              <a:buNone/>
            </a:pPr>
            <a:endParaRPr lang="pt-PT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6687094-C55E-44C7-8A93-C6E31C08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Double</a:t>
            </a:r>
            <a:r>
              <a:rPr lang="pt-PT" sz="24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PT" sz="2400" b="1" dirty="0" err="1">
                <a:latin typeface="Verdana" panose="020B0604030504040204" pitchFamily="34" charset="0"/>
                <a:ea typeface="Verdana" panose="020B0604030504040204" pitchFamily="34" charset="0"/>
              </a:rPr>
              <a:t>Threaded</a:t>
            </a:r>
            <a:endParaRPr lang="pt-PT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AB78018-BD85-49C2-9273-9DAC4D8C7B8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8300" r="92200">
                        <a14:foregroundMark x1="23200" y1="18667" x2="23200" y2="18667"/>
                        <a14:foregroundMark x1="32800" y1="28667" x2="32800" y2="28667"/>
                        <a14:foregroundMark x1="28500" y1="45667" x2="28500" y2="45667"/>
                        <a14:foregroundMark x1="34000" y1="57833" x2="34000" y2="57833"/>
                        <a14:foregroundMark x1="38800" y1="45000" x2="38800" y2="45000"/>
                        <a14:foregroundMark x1="42900" y1="58167" x2="42900" y2="58167"/>
                        <a14:foregroundMark x1="8500" y1="44000" x2="8500" y2="44000"/>
                        <a14:foregroundMark x1="13500" y1="34333" x2="13500" y2="34333"/>
                        <a14:foregroundMark x1="20100" y1="47000" x2="20100" y2="47000"/>
                        <a14:foregroundMark x1="62600" y1="33667" x2="62600" y2="34167"/>
                        <a14:foregroundMark x1="68200" y1="47167" x2="68200" y2="47167"/>
                        <a14:foregroundMark x1="77200" y1="46333" x2="77200" y2="46333"/>
                        <a14:foregroundMark x1="71900" y1="18500" x2="71900" y2="18500"/>
                        <a14:foregroundMark x1="81200" y1="30667" x2="81200" y2="30667"/>
                        <a14:foregroundMark x1="85600" y1="46500" x2="85600" y2="46500"/>
                        <a14:foregroundMark x1="82400" y1="61667" x2="82400" y2="61667"/>
                        <a14:foregroundMark x1="92300" y1="58167" x2="92300" y2="58167"/>
                        <a14:foregroundMark x1="43400" y1="54167" x2="43400" y2="54167"/>
                        <a14:foregroundMark x1="43000" y1="53000" x2="43000" y2="53000"/>
                        <a14:foregroundMark x1="41300" y1="49000" x2="41300" y2="49000"/>
                        <a14:foregroundMark x1="38900" y1="50667" x2="38900" y2="50667"/>
                        <a14:foregroundMark x1="38800" y1="54500" x2="38800" y2="54500"/>
                        <a14:foregroundMark x1="38500" y1="58500" x2="38500" y2="58500"/>
                        <a14:foregroundMark x1="38100" y1="61667" x2="38100" y2="61667"/>
                        <a14:foregroundMark x1="37600" y1="64500" x2="37600" y2="64500"/>
                        <a14:foregroundMark x1="35800" y1="66333" x2="35800" y2="66333"/>
                        <a14:foregroundMark x1="34200" y1="63667" x2="34200" y2="63667"/>
                        <a14:foregroundMark x1="32800" y1="37500" x2="32800" y2="37500"/>
                        <a14:foregroundMark x1="32800" y1="35500" x2="32800" y2="35500"/>
                        <a14:foregroundMark x1="29700" y1="36500" x2="29700" y2="36500"/>
                        <a14:foregroundMark x1="32600" y1="41000" x2="32600" y2="41000"/>
                        <a14:foregroundMark x1="32400" y1="44500" x2="32400" y2="44500"/>
                        <a14:foregroundMark x1="31900" y1="47667" x2="31900" y2="47667"/>
                        <a14:foregroundMark x1="31200" y1="51167" x2="31200" y2="51167"/>
                        <a14:foregroundMark x1="29800" y1="52667" x2="29800" y2="52667"/>
                        <a14:foregroundMark x1="36000" y1="50500" x2="36000" y2="50500"/>
                        <a14:foregroundMark x1="36500" y1="36500" x2="36500" y2="36500"/>
                        <a14:foregroundMark x1="34900" y1="33500" x2="34900" y2="33500"/>
                        <a14:foregroundMark x1="12700" y1="48833" x2="12700" y2="48833"/>
                        <a14:foregroundMark x1="13200" y1="45500" x2="13200" y2="45500"/>
                        <a14:foregroundMark x1="13500" y1="41667" x2="13500" y2="41667"/>
                        <a14:foregroundMark x1="13600" y1="37833" x2="13600" y2="37833"/>
                        <a14:foregroundMark x1="11200" y1="36333" x2="11200" y2="36333"/>
                        <a14:foregroundMark x1="16600" y1="37000" x2="16600" y2="37000"/>
                        <a14:foregroundMark x1="17800" y1="38833" x2="17800" y2="38833"/>
                        <a14:foregroundMark x1="20800" y1="52667" x2="20800" y2="52667"/>
                        <a14:foregroundMark x1="11700" y1="51833" x2="11700" y2="51833"/>
                        <a14:foregroundMark x1="9900" y1="52500" x2="9900" y2="52500"/>
                        <a14:foregroundMark x1="8300" y1="50167" x2="8300" y2="50167"/>
                        <a14:foregroundMark x1="21700" y1="50667" x2="21700" y2="50667"/>
                        <a14:foregroundMark x1="22300" y1="46667" x2="22300" y2="46667"/>
                        <a14:foregroundMark x1="22600" y1="43167" x2="22600" y2="43167"/>
                        <a14:foregroundMark x1="22800" y1="40000" x2="22800" y2="40000"/>
                        <a14:foregroundMark x1="23000" y1="36667" x2="23000" y2="36667"/>
                        <a14:foregroundMark x1="23000" y1="33667" x2="23000" y2="33667"/>
                        <a14:foregroundMark x1="19000" y1="23167" x2="19000" y2="23167"/>
                        <a14:foregroundMark x1="17200" y1="24833" x2="17200" y2="24833"/>
                        <a14:foregroundMark x1="20500" y1="21500" x2="20500" y2="21500"/>
                        <a14:foregroundMark x1="23100" y1="23000" x2="23100" y2="23000"/>
                        <a14:foregroundMark x1="23100" y1="26000" x2="23100" y2="26000"/>
                        <a14:foregroundMark x1="23200" y1="29833" x2="23200" y2="29833"/>
                        <a14:foregroundMark x1="65400" y1="25333" x2="65400" y2="25333"/>
                        <a14:foregroundMark x1="66900" y1="23500" x2="66900" y2="23500"/>
                        <a14:foregroundMark x1="64000" y1="26500" x2="64000" y2="26500"/>
                        <a14:foregroundMark x1="71100" y1="23667" x2="71100" y2="23667"/>
                        <a14:foregroundMark x1="71200" y1="26833" x2="71200" y2="26833"/>
                        <a14:foregroundMark x1="71200" y1="30167" x2="71200" y2="30167"/>
                        <a14:foregroundMark x1="71100" y1="33333" x2="71100" y2="33333"/>
                        <a14:foregroundMark x1="71600" y1="37333" x2="71600" y2="37333"/>
                        <a14:foregroundMark x1="70900" y1="40000" x2="70900" y2="40000"/>
                        <a14:foregroundMark x1="71900" y1="41167" x2="71900" y2="41167"/>
                        <a14:foregroundMark x1="70600" y1="43833" x2="70600" y2="43833"/>
                        <a14:foregroundMark x1="72100" y1="44500" x2="72100" y2="44500"/>
                        <a14:foregroundMark x1="80700" y1="36500" x2="80700" y2="36500"/>
                        <a14:foregroundMark x1="78200" y1="35500" x2="78200" y2="35500"/>
                        <a14:foregroundMark x1="84500" y1="37000" x2="84500" y2="37000"/>
                        <a14:foregroundMark x1="83200" y1="34500" x2="83200" y2="34500"/>
                        <a14:foregroundMark x1="85300" y1="38667" x2="85300" y2="38667"/>
                        <a14:foregroundMark x1="80800" y1="40167" x2="80800" y2="40167"/>
                        <a14:foregroundMark x1="80600" y1="44000" x2="80600" y2="44000"/>
                        <a14:foregroundMark x1="80500" y1="47333" x2="80500" y2="47333"/>
                        <a14:foregroundMark x1="59800" y1="51833" x2="59800" y2="51833"/>
                        <a14:foregroundMark x1="60700" y1="49000" x2="60700" y2="49000"/>
                        <a14:foregroundMark x1="61200" y1="46000" x2="61200" y2="46000"/>
                        <a14:foregroundMark x1="61700" y1="42167" x2="61700" y2="42167"/>
                        <a14:foregroundMark x1="61800" y1="38667" x2="61800" y2="38667"/>
                        <a14:foregroundMark x1="64700" y1="37667" x2="64700" y2="37667"/>
                        <a14:foregroundMark x1="65800" y1="39500" x2="65800" y2="39500"/>
                        <a14:foregroundMark x1="62100" y1="45500" x2="62100" y2="45500"/>
                        <a14:foregroundMark x1="62600" y1="49333" x2="62600" y2="49333"/>
                        <a14:foregroundMark x1="63500" y1="52333" x2="63500" y2="52333"/>
                        <a14:foregroundMark x1="65600" y1="52667" x2="65600" y2="52667"/>
                        <a14:foregroundMark x1="58100" y1="53167" x2="58100" y2="53167"/>
                        <a14:foregroundMark x1="56300" y1="50333" x2="56300" y2="50333"/>
                        <a14:foregroundMark x1="68900" y1="53167" x2="68900" y2="53167"/>
                        <a14:foregroundMark x1="69900" y1="50833" x2="69900" y2="50833"/>
                        <a14:foregroundMark x1="70200" y1="47333" x2="70200" y2="47333"/>
                        <a14:foregroundMark x1="72600" y1="47667" x2="72600" y2="47667"/>
                        <a14:foregroundMark x1="72800" y1="50833" x2="72800" y2="50833"/>
                        <a14:foregroundMark x1="74400" y1="53167" x2="74400" y2="53167"/>
                        <a14:foregroundMark x1="77900" y1="52667" x2="77900" y2="52667"/>
                        <a14:foregroundMark x1="79300" y1="51500" x2="79300" y2="51500"/>
                        <a14:foregroundMark x1="80300" y1="50833" x2="80300" y2="50833"/>
                        <a14:foregroundMark x1="79900" y1="54000" x2="79900" y2="54000"/>
                        <a14:foregroundMark x1="78800" y1="56333" x2="78800" y2="56333"/>
                        <a14:foregroundMark x1="77500" y1="59333" x2="77500" y2="59333"/>
                        <a14:foregroundMark x1="77400" y1="62833" x2="77400" y2="62833"/>
                        <a14:foregroundMark x1="78400" y1="66000" x2="78400" y2="66000"/>
                        <a14:foregroundMark x1="80800" y1="66333" x2="80800" y2="66333"/>
                        <a14:foregroundMark x1="83800" y1="66833" x2="83800" y2="66833"/>
                        <a14:foregroundMark x1="85500" y1="65333" x2="85500" y2="65333"/>
                        <a14:foregroundMark x1="85900" y1="62667" x2="85900" y2="62667"/>
                        <a14:foregroundMark x1="86500" y1="58667" x2="86500" y2="58667"/>
                        <a14:foregroundMark x1="86800" y1="54833" x2="86800" y2="54833"/>
                        <a14:foregroundMark x1="86800" y1="51000" x2="86800" y2="51167"/>
                        <a14:foregroundMark x1="83700" y1="51667" x2="83700" y2="51667"/>
                        <a14:foregroundMark x1="84500" y1="49667" x2="84500" y2="49667"/>
                        <a14:foregroundMark x1="83200" y1="52500" x2="83200" y2="52500"/>
                        <a14:foregroundMark x1="89700" y1="59333" x2="89700" y2="59333"/>
                        <a14:foregroundMark x1="87700" y1="62000" x2="87700" y2="62000"/>
                        <a14:foregroundMark x1="87300" y1="58500" x2="87300" y2="58500"/>
                        <a14:foregroundMark x1="88400" y1="65167" x2="88400" y2="65167"/>
                        <a14:foregroundMark x1="90200" y1="66500" x2="90200" y2="66500"/>
                        <a14:foregroundMark x1="32600" y1="31500" x2="32600" y2="31500"/>
                        <a14:foregroundMark x1="45800" y1="58833" x2="45800" y2="58833"/>
                      </a14:backgroundRemoval>
                    </a14:imgEffect>
                  </a14:imgLayer>
                </a14:imgProps>
              </a:ext>
            </a:extLst>
          </a:blip>
          <a:srcRect l="49855" t="9048" r="1437" b="25334"/>
          <a:stretch/>
        </p:blipFill>
        <p:spPr>
          <a:xfrm>
            <a:off x="2859520" y="2263140"/>
            <a:ext cx="3424960" cy="276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8789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47450A0-C880-4BD7-BBC9-4FD877AD5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Operações</a:t>
            </a:r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4011A9B7-06B8-4F79-95C1-E75CB2A12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664445"/>
              </p:ext>
            </p:extLst>
          </p:nvPr>
        </p:nvGraphicFramePr>
        <p:xfrm>
          <a:off x="627071" y="1121958"/>
          <a:ext cx="7889858" cy="333574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944929">
                  <a:extLst>
                    <a:ext uri="{9D8B030D-6E8A-4147-A177-3AD203B41FA5}">
                      <a16:colId xmlns:a16="http://schemas.microsoft.com/office/drawing/2014/main" val="1665456761"/>
                    </a:ext>
                  </a:extLst>
                </a:gridCol>
                <a:gridCol w="3944929">
                  <a:extLst>
                    <a:ext uri="{9D8B030D-6E8A-4147-A177-3AD203B41FA5}">
                      <a16:colId xmlns:a16="http://schemas.microsoft.com/office/drawing/2014/main" val="4013567504"/>
                    </a:ext>
                  </a:extLst>
                </a:gridCol>
              </a:tblGrid>
              <a:tr h="476535">
                <a:tc>
                  <a:txBody>
                    <a:bodyPr/>
                    <a:lstStyle/>
                    <a:p>
                      <a:r>
                        <a:rPr lang="pt-PT" dirty="0"/>
                        <a:t>Operação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Complexidade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336562"/>
                  </a:ext>
                </a:extLst>
              </a:tr>
              <a:tr h="476535">
                <a:tc>
                  <a:txBody>
                    <a:bodyPr/>
                    <a:lstStyle/>
                    <a:p>
                      <a:r>
                        <a:rPr lang="pt-PT" dirty="0"/>
                        <a:t>Pesquisa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O(log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47872"/>
                  </a:ext>
                </a:extLst>
              </a:tr>
              <a:tr h="476535">
                <a:tc>
                  <a:txBody>
                    <a:bodyPr/>
                    <a:lstStyle/>
                    <a:p>
                      <a:r>
                        <a:rPr lang="pt-PT" dirty="0"/>
                        <a:t>Inserção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PT" dirty="0"/>
                        <a:t>O(log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152139"/>
                  </a:ext>
                </a:extLst>
              </a:tr>
              <a:tr h="476535">
                <a:tc>
                  <a:txBody>
                    <a:bodyPr/>
                    <a:lstStyle/>
                    <a:p>
                      <a:r>
                        <a:rPr lang="pt-PT" dirty="0"/>
                        <a:t>Remoção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PT" dirty="0"/>
                        <a:t>O(log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4462070"/>
                  </a:ext>
                </a:extLst>
              </a:tr>
              <a:tr h="476535">
                <a:tc>
                  <a:txBody>
                    <a:bodyPr/>
                    <a:lstStyle/>
                    <a:p>
                      <a:r>
                        <a:rPr lang="pt-PT" dirty="0"/>
                        <a:t>Encontrar o mínimo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PT" dirty="0"/>
                        <a:t>O(log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8691878"/>
                  </a:ext>
                </a:extLst>
              </a:tr>
              <a:tr h="476535">
                <a:tc>
                  <a:txBody>
                    <a:bodyPr/>
                    <a:lstStyle/>
                    <a:p>
                      <a:r>
                        <a:rPr lang="pt-PT" dirty="0"/>
                        <a:t>Encontrar o máximo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pt-PT" dirty="0"/>
                        <a:t>O(log 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3961914"/>
                  </a:ext>
                </a:extLst>
              </a:tr>
              <a:tr h="476535">
                <a:tc>
                  <a:txBody>
                    <a:bodyPr/>
                    <a:lstStyle/>
                    <a:p>
                      <a:r>
                        <a:rPr lang="pt-PT" dirty="0"/>
                        <a:t>Encontrar Sucessor/Predecessor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PT" dirty="0"/>
                        <a:t>O(1)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2406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7683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4039AC26-FEC9-43EB-A36F-2651425C8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8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Fira Sans Condensed" panose="020B0503050000020004" pitchFamily="34" charset="0"/>
              </a:rPr>
              <a:t>Cada nodo tem 2 ou menos descendentes</a:t>
            </a:r>
          </a:p>
          <a:p>
            <a:r>
              <a:rPr lang="pt-PT" sz="1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Fira Sans Condensed" panose="020B0503050000020004" pitchFamily="34" charset="0"/>
              </a:rPr>
              <a:t>A travessia da árvore pode ser efetuada sem uso de pilha com recurso a </a:t>
            </a:r>
            <a:r>
              <a:rPr lang="pt-PT" sz="18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Fira Sans Condensed" panose="020B0503050000020004" pitchFamily="34" charset="0"/>
              </a:rPr>
              <a:t>threads</a:t>
            </a:r>
            <a:endParaRPr lang="pt-PT" sz="1800" dirty="0">
              <a:solidFill>
                <a:srgbClr val="000000"/>
              </a:solidFill>
              <a:latin typeface="Verdana" panose="020B0604030504040204" pitchFamily="34" charset="0"/>
              <a:ea typeface="Verdana" panose="020B0604030504040204" pitchFamily="34" charset="0"/>
              <a:cs typeface="Fira Sans Condensed" panose="020B0503050000020004" pitchFamily="34" charset="0"/>
            </a:endParaRPr>
          </a:p>
          <a:p>
            <a:r>
              <a:rPr lang="pt-PT" sz="18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Fira Sans Condensed" panose="020B0503050000020004" pitchFamily="34" charset="0"/>
              </a:rPr>
              <a:t>Cada nó pode ter ate 2 </a:t>
            </a:r>
            <a:r>
              <a:rPr lang="pt-PT" sz="1800" dirty="0" err="1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Fira Sans Condensed" panose="020B0503050000020004" pitchFamily="34" charset="0"/>
              </a:rPr>
              <a:t>threads</a:t>
            </a:r>
            <a:endParaRPr lang="pt-PT" sz="1800" b="0" i="0" dirty="0">
              <a:solidFill>
                <a:srgbClr val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Fira Sans Condensed" panose="020B0503050000020004" pitchFamily="34" charset="0"/>
            </a:endParaRPr>
          </a:p>
          <a:p>
            <a:endParaRPr lang="pt-PT" sz="1800" dirty="0">
              <a:effectLst/>
            </a:endParaRPr>
          </a:p>
          <a:p>
            <a:pPr marL="149225" indent="0">
              <a:buNone/>
            </a:pPr>
            <a:endParaRPr lang="pt-PT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6687094-C55E-44C7-8A93-C6E31C08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400" b="1" dirty="0">
                <a:latin typeface="Verdana" panose="020B0604030504040204" pitchFamily="34" charset="0"/>
                <a:ea typeface="Verdana" panose="020B0604030504040204" pitchFamily="34" charset="0"/>
              </a:rPr>
              <a:t>Pesquisa</a:t>
            </a:r>
            <a:endParaRPr lang="pt-PT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244A1AD-1550-46E2-9180-4408C0CE849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8300" r="92200">
                        <a14:foregroundMark x1="23200" y1="18667" x2="23200" y2="18667"/>
                        <a14:foregroundMark x1="32800" y1="28667" x2="32800" y2="28667"/>
                        <a14:foregroundMark x1="28500" y1="45667" x2="28500" y2="45667"/>
                        <a14:foregroundMark x1="34000" y1="57833" x2="34000" y2="57833"/>
                        <a14:foregroundMark x1="38800" y1="45000" x2="38800" y2="45000"/>
                        <a14:foregroundMark x1="42900" y1="58167" x2="42900" y2="58167"/>
                        <a14:foregroundMark x1="8500" y1="44000" x2="8500" y2="44000"/>
                        <a14:foregroundMark x1="13500" y1="34333" x2="13500" y2="34333"/>
                        <a14:foregroundMark x1="20100" y1="47000" x2="20100" y2="47000"/>
                        <a14:foregroundMark x1="62600" y1="33667" x2="62600" y2="34167"/>
                        <a14:foregroundMark x1="68200" y1="47167" x2="68200" y2="47167"/>
                        <a14:foregroundMark x1="77200" y1="46333" x2="77200" y2="46333"/>
                        <a14:foregroundMark x1="71900" y1="18500" x2="71900" y2="18500"/>
                        <a14:foregroundMark x1="81200" y1="30667" x2="81200" y2="30667"/>
                        <a14:foregroundMark x1="85600" y1="46500" x2="85600" y2="46500"/>
                        <a14:foregroundMark x1="82400" y1="61667" x2="82400" y2="61667"/>
                        <a14:foregroundMark x1="92300" y1="58167" x2="92300" y2="58167"/>
                        <a14:foregroundMark x1="43400" y1="54167" x2="43400" y2="54167"/>
                        <a14:foregroundMark x1="43000" y1="53000" x2="43000" y2="53000"/>
                        <a14:foregroundMark x1="41300" y1="49000" x2="41300" y2="49000"/>
                        <a14:foregroundMark x1="38900" y1="50667" x2="38900" y2="50667"/>
                        <a14:foregroundMark x1="38800" y1="54500" x2="38800" y2="54500"/>
                        <a14:foregroundMark x1="38500" y1="58500" x2="38500" y2="58500"/>
                        <a14:foregroundMark x1="38100" y1="61667" x2="38100" y2="61667"/>
                        <a14:foregroundMark x1="37600" y1="64500" x2="37600" y2="64500"/>
                        <a14:foregroundMark x1="35800" y1="66333" x2="35800" y2="66333"/>
                        <a14:foregroundMark x1="34200" y1="63667" x2="34200" y2="63667"/>
                        <a14:foregroundMark x1="32800" y1="37500" x2="32800" y2="37500"/>
                        <a14:foregroundMark x1="32800" y1="35500" x2="32800" y2="35500"/>
                        <a14:foregroundMark x1="29700" y1="36500" x2="29700" y2="36500"/>
                        <a14:foregroundMark x1="32600" y1="41000" x2="32600" y2="41000"/>
                        <a14:foregroundMark x1="32400" y1="44500" x2="32400" y2="44500"/>
                        <a14:foregroundMark x1="31900" y1="47667" x2="31900" y2="47667"/>
                        <a14:foregroundMark x1="31200" y1="51167" x2="31200" y2="51167"/>
                        <a14:foregroundMark x1="29800" y1="52667" x2="29800" y2="52667"/>
                        <a14:foregroundMark x1="36000" y1="50500" x2="36000" y2="50500"/>
                        <a14:foregroundMark x1="36500" y1="36500" x2="36500" y2="36500"/>
                        <a14:foregroundMark x1="34900" y1="33500" x2="34900" y2="33500"/>
                        <a14:foregroundMark x1="12700" y1="48833" x2="12700" y2="48833"/>
                        <a14:foregroundMark x1="13200" y1="45500" x2="13200" y2="45500"/>
                        <a14:foregroundMark x1="13500" y1="41667" x2="13500" y2="41667"/>
                        <a14:foregroundMark x1="13600" y1="37833" x2="13600" y2="37833"/>
                        <a14:foregroundMark x1="11200" y1="36333" x2="11200" y2="36333"/>
                        <a14:foregroundMark x1="16600" y1="37000" x2="16600" y2="37000"/>
                        <a14:foregroundMark x1="17800" y1="38833" x2="17800" y2="38833"/>
                        <a14:foregroundMark x1="20800" y1="52667" x2="20800" y2="52667"/>
                        <a14:foregroundMark x1="11700" y1="51833" x2="11700" y2="51833"/>
                        <a14:foregroundMark x1="9900" y1="52500" x2="9900" y2="52500"/>
                        <a14:foregroundMark x1="8300" y1="50167" x2="8300" y2="50167"/>
                        <a14:foregroundMark x1="21700" y1="50667" x2="21700" y2="50667"/>
                        <a14:foregroundMark x1="22300" y1="46667" x2="22300" y2="46667"/>
                        <a14:foregroundMark x1="22600" y1="43167" x2="22600" y2="43167"/>
                        <a14:foregroundMark x1="22800" y1="40000" x2="22800" y2="40000"/>
                        <a14:foregroundMark x1="23000" y1="36667" x2="23000" y2="36667"/>
                        <a14:foregroundMark x1="23000" y1="33667" x2="23000" y2="33667"/>
                        <a14:foregroundMark x1="19000" y1="23167" x2="19000" y2="23167"/>
                        <a14:foregroundMark x1="17200" y1="24833" x2="17200" y2="24833"/>
                        <a14:foregroundMark x1="20500" y1="21500" x2="20500" y2="21500"/>
                        <a14:foregroundMark x1="23100" y1="23000" x2="23100" y2="23000"/>
                        <a14:foregroundMark x1="23100" y1="26000" x2="23100" y2="26000"/>
                        <a14:foregroundMark x1="23200" y1="29833" x2="23200" y2="29833"/>
                        <a14:foregroundMark x1="65400" y1="25333" x2="65400" y2="25333"/>
                        <a14:foregroundMark x1="66900" y1="23500" x2="66900" y2="23500"/>
                        <a14:foregroundMark x1="64000" y1="26500" x2="64000" y2="26500"/>
                        <a14:foregroundMark x1="71100" y1="23667" x2="71100" y2="23667"/>
                        <a14:foregroundMark x1="71200" y1="26833" x2="71200" y2="26833"/>
                        <a14:foregroundMark x1="71200" y1="30167" x2="71200" y2="30167"/>
                        <a14:foregroundMark x1="71100" y1="33333" x2="71100" y2="33333"/>
                        <a14:foregroundMark x1="71600" y1="37333" x2="71600" y2="37333"/>
                        <a14:foregroundMark x1="70900" y1="40000" x2="70900" y2="40000"/>
                        <a14:foregroundMark x1="71900" y1="41167" x2="71900" y2="41167"/>
                        <a14:foregroundMark x1="70600" y1="43833" x2="70600" y2="43833"/>
                        <a14:foregroundMark x1="72100" y1="44500" x2="72100" y2="44500"/>
                        <a14:foregroundMark x1="80700" y1="36500" x2="80700" y2="36500"/>
                        <a14:foregroundMark x1="78200" y1="35500" x2="78200" y2="35500"/>
                        <a14:foregroundMark x1="84500" y1="37000" x2="84500" y2="37000"/>
                        <a14:foregroundMark x1="83200" y1="34500" x2="83200" y2="34500"/>
                        <a14:foregroundMark x1="85300" y1="38667" x2="85300" y2="38667"/>
                        <a14:foregroundMark x1="80800" y1="40167" x2="80800" y2="40167"/>
                        <a14:foregroundMark x1="80600" y1="44000" x2="80600" y2="44000"/>
                        <a14:foregroundMark x1="80500" y1="47333" x2="80500" y2="47333"/>
                        <a14:foregroundMark x1="59800" y1="51833" x2="59800" y2="51833"/>
                        <a14:foregroundMark x1="60700" y1="49000" x2="60700" y2="49000"/>
                        <a14:foregroundMark x1="61200" y1="46000" x2="61200" y2="46000"/>
                        <a14:foregroundMark x1="61700" y1="42167" x2="61700" y2="42167"/>
                        <a14:foregroundMark x1="61800" y1="38667" x2="61800" y2="38667"/>
                        <a14:foregroundMark x1="64700" y1="37667" x2="64700" y2="37667"/>
                        <a14:foregroundMark x1="65800" y1="39500" x2="65800" y2="39500"/>
                        <a14:foregroundMark x1="62100" y1="45500" x2="62100" y2="45500"/>
                        <a14:foregroundMark x1="62600" y1="49333" x2="62600" y2="49333"/>
                        <a14:foregroundMark x1="63500" y1="52333" x2="63500" y2="52333"/>
                        <a14:foregroundMark x1="65600" y1="52667" x2="65600" y2="52667"/>
                        <a14:foregroundMark x1="58100" y1="53167" x2="58100" y2="53167"/>
                        <a14:foregroundMark x1="56300" y1="50333" x2="56300" y2="50333"/>
                        <a14:foregroundMark x1="68900" y1="53167" x2="68900" y2="53167"/>
                        <a14:foregroundMark x1="69900" y1="50833" x2="69900" y2="50833"/>
                        <a14:foregroundMark x1="70200" y1="47333" x2="70200" y2="47333"/>
                        <a14:foregroundMark x1="72600" y1="47667" x2="72600" y2="47667"/>
                        <a14:foregroundMark x1="72800" y1="50833" x2="72800" y2="50833"/>
                        <a14:foregroundMark x1="74400" y1="53167" x2="74400" y2="53167"/>
                        <a14:foregroundMark x1="77900" y1="52667" x2="77900" y2="52667"/>
                        <a14:foregroundMark x1="79300" y1="51500" x2="79300" y2="51500"/>
                        <a14:foregroundMark x1="80300" y1="50833" x2="80300" y2="50833"/>
                        <a14:foregroundMark x1="79900" y1="54000" x2="79900" y2="54000"/>
                        <a14:foregroundMark x1="78800" y1="56333" x2="78800" y2="56333"/>
                        <a14:foregroundMark x1="77500" y1="59333" x2="77500" y2="59333"/>
                        <a14:foregroundMark x1="77400" y1="62833" x2="77400" y2="62833"/>
                        <a14:foregroundMark x1="78400" y1="66000" x2="78400" y2="66000"/>
                        <a14:foregroundMark x1="80800" y1="66333" x2="80800" y2="66333"/>
                        <a14:foregroundMark x1="83800" y1="66833" x2="83800" y2="66833"/>
                        <a14:foregroundMark x1="85500" y1="65333" x2="85500" y2="65333"/>
                        <a14:foregroundMark x1="85900" y1="62667" x2="85900" y2="62667"/>
                        <a14:foregroundMark x1="86500" y1="58667" x2="86500" y2="58667"/>
                        <a14:foregroundMark x1="86800" y1="54833" x2="86800" y2="54833"/>
                        <a14:foregroundMark x1="86800" y1="51000" x2="86800" y2="51167"/>
                        <a14:foregroundMark x1="83700" y1="51667" x2="83700" y2="51667"/>
                        <a14:foregroundMark x1="84500" y1="49667" x2="84500" y2="49667"/>
                        <a14:foregroundMark x1="83200" y1="52500" x2="83200" y2="52500"/>
                        <a14:foregroundMark x1="89700" y1="59333" x2="89700" y2="59333"/>
                        <a14:foregroundMark x1="87700" y1="62000" x2="87700" y2="62000"/>
                        <a14:foregroundMark x1="87300" y1="58500" x2="87300" y2="58500"/>
                        <a14:foregroundMark x1="88400" y1="65167" x2="88400" y2="65167"/>
                        <a14:foregroundMark x1="90200" y1="66500" x2="90200" y2="66500"/>
                        <a14:foregroundMark x1="32600" y1="31500" x2="32600" y2="31500"/>
                        <a14:foregroundMark x1="45800" y1="58833" x2="45800" y2="58833"/>
                      </a14:backgroundRemoval>
                    </a14:imgEffect>
                  </a14:imgLayer>
                </a14:imgProps>
              </a:ext>
            </a:extLst>
          </a:blip>
          <a:srcRect l="49855" t="9048" r="1437" b="25334"/>
          <a:stretch/>
        </p:blipFill>
        <p:spPr>
          <a:xfrm>
            <a:off x="5719040" y="2112243"/>
            <a:ext cx="3424960" cy="2768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768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4039AC26-FEC9-43EB-A36F-2651425C8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9225" indent="0">
              <a:buNone/>
            </a:pPr>
            <a:r>
              <a:rPr lang="pt-PT" dirty="0" err="1">
                <a:latin typeface="Consolas" panose="020B0609020204030204" pitchFamily="49" charset="0"/>
              </a:rPr>
              <a:t>public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class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ThreadedNode</a:t>
            </a:r>
            <a:r>
              <a:rPr lang="pt-PT" dirty="0">
                <a:latin typeface="Consolas" panose="020B0609020204030204" pitchFamily="49" charset="0"/>
              </a:rPr>
              <a:t> {</a:t>
            </a:r>
          </a:p>
          <a:p>
            <a:pPr marL="149225" indent="0">
              <a:buNone/>
            </a:pPr>
            <a:r>
              <a:rPr lang="pt-PT" dirty="0">
                <a:latin typeface="Consolas" panose="020B0609020204030204" pitchFamily="49" charset="0"/>
              </a:rPr>
              <a:t>    </a:t>
            </a:r>
          </a:p>
          <a:p>
            <a:pPr marL="149225" indent="0">
              <a:buNone/>
            </a:pPr>
            <a:r>
              <a:rPr lang="pt-PT" dirty="0">
                <a:latin typeface="Consolas" panose="020B0609020204030204" pitchFamily="49" charset="0"/>
              </a:rPr>
              <a:t>    </a:t>
            </a:r>
            <a:r>
              <a:rPr lang="pt-PT" dirty="0" err="1">
                <a:latin typeface="Consolas" panose="020B0609020204030204" pitchFamily="49" charset="0"/>
              </a:rPr>
              <a:t>private</a:t>
            </a:r>
            <a:r>
              <a:rPr lang="pt-PT" dirty="0">
                <a:latin typeface="Consolas" panose="020B0609020204030204" pitchFamily="49" charset="0"/>
              </a:rPr>
              <a:t> T data;</a:t>
            </a:r>
          </a:p>
          <a:p>
            <a:pPr marL="149225" indent="0">
              <a:buNone/>
            </a:pPr>
            <a:r>
              <a:rPr lang="pt-PT" dirty="0">
                <a:latin typeface="Consolas" panose="020B0609020204030204" pitchFamily="49" charset="0"/>
              </a:rPr>
              <a:t>    </a:t>
            </a:r>
          </a:p>
          <a:p>
            <a:pPr marL="149225" indent="0">
              <a:buNone/>
            </a:pPr>
            <a:r>
              <a:rPr lang="pt-PT" dirty="0">
                <a:latin typeface="Consolas" panose="020B0609020204030204" pitchFamily="49" charset="0"/>
              </a:rPr>
              <a:t>    </a:t>
            </a:r>
            <a:r>
              <a:rPr lang="pt-PT" dirty="0" err="1">
                <a:latin typeface="Consolas" panose="020B0609020204030204" pitchFamily="49" charset="0"/>
              </a:rPr>
              <a:t>private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ThreadedNode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left</a:t>
            </a:r>
            <a:r>
              <a:rPr lang="pt-PT" dirty="0">
                <a:latin typeface="Consolas" panose="020B0609020204030204" pitchFamily="49" charset="0"/>
              </a:rPr>
              <a:t>;</a:t>
            </a:r>
          </a:p>
          <a:p>
            <a:pPr marL="149225" indent="0">
              <a:buNone/>
            </a:pPr>
            <a:r>
              <a:rPr lang="pt-PT" dirty="0">
                <a:latin typeface="Consolas" panose="020B0609020204030204" pitchFamily="49" charset="0"/>
              </a:rPr>
              <a:t>    </a:t>
            </a:r>
            <a:r>
              <a:rPr lang="pt-PT" dirty="0" err="1">
                <a:latin typeface="Consolas" panose="020B0609020204030204" pitchFamily="49" charset="0"/>
              </a:rPr>
              <a:t>private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ThreadedNode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right</a:t>
            </a:r>
            <a:r>
              <a:rPr lang="pt-PT" dirty="0">
                <a:latin typeface="Consolas" panose="020B0609020204030204" pitchFamily="49" charset="0"/>
              </a:rPr>
              <a:t>;</a:t>
            </a:r>
          </a:p>
          <a:p>
            <a:pPr marL="149225" indent="0">
              <a:buNone/>
            </a:pPr>
            <a:r>
              <a:rPr lang="pt-PT" dirty="0">
                <a:latin typeface="Consolas" panose="020B0609020204030204" pitchFamily="49" charset="0"/>
              </a:rPr>
              <a:t>    </a:t>
            </a:r>
          </a:p>
          <a:p>
            <a:pPr marL="149225" indent="0">
              <a:buNone/>
            </a:pPr>
            <a:r>
              <a:rPr lang="pt-PT" dirty="0">
                <a:latin typeface="Consolas" panose="020B0609020204030204" pitchFamily="49" charset="0"/>
              </a:rPr>
              <a:t>    </a:t>
            </a:r>
            <a:r>
              <a:rPr lang="pt-PT" dirty="0" err="1">
                <a:latin typeface="Consolas" panose="020B0609020204030204" pitchFamily="49" charset="0"/>
              </a:rPr>
              <a:t>private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boolean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isLeftThread</a:t>
            </a:r>
            <a:r>
              <a:rPr lang="pt-PT" dirty="0">
                <a:latin typeface="Consolas" panose="020B0609020204030204" pitchFamily="49" charset="0"/>
              </a:rPr>
              <a:t>; </a:t>
            </a:r>
          </a:p>
          <a:p>
            <a:pPr marL="149225" indent="0">
              <a:buNone/>
            </a:pPr>
            <a:r>
              <a:rPr lang="pt-PT" dirty="0">
                <a:latin typeface="Consolas" panose="020B0609020204030204" pitchFamily="49" charset="0"/>
              </a:rPr>
              <a:t>    </a:t>
            </a:r>
            <a:r>
              <a:rPr lang="pt-PT" dirty="0" err="1">
                <a:latin typeface="Consolas" panose="020B0609020204030204" pitchFamily="49" charset="0"/>
              </a:rPr>
              <a:t>private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boolean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isRightThread</a:t>
            </a:r>
            <a:r>
              <a:rPr lang="pt-PT" dirty="0">
                <a:latin typeface="Consolas" panose="020B0609020204030204" pitchFamily="49" charset="0"/>
              </a:rPr>
              <a:t>;</a:t>
            </a:r>
          </a:p>
          <a:p>
            <a:pPr marL="149225" indent="0">
              <a:buNone/>
            </a:pPr>
            <a:endParaRPr lang="pt-PT" dirty="0">
              <a:latin typeface="Consolas" panose="020B0609020204030204" pitchFamily="49" charset="0"/>
            </a:endParaRPr>
          </a:p>
          <a:p>
            <a:pPr marL="149225" indent="0">
              <a:buNone/>
            </a:pPr>
            <a:r>
              <a:rPr lang="pt-PT" dirty="0">
                <a:latin typeface="Consolas" panose="020B0609020204030204" pitchFamily="49" charset="0"/>
              </a:rPr>
              <a:t>    </a:t>
            </a:r>
            <a:r>
              <a:rPr lang="pt-PT" dirty="0" err="1">
                <a:latin typeface="Consolas" panose="020B0609020204030204" pitchFamily="49" charset="0"/>
              </a:rPr>
              <a:t>public</a:t>
            </a:r>
            <a:r>
              <a:rPr lang="pt-PT" dirty="0">
                <a:latin typeface="Consolas" panose="020B0609020204030204" pitchFamily="49" charset="0"/>
              </a:rPr>
              <a:t> </a:t>
            </a:r>
            <a:r>
              <a:rPr lang="pt-PT" dirty="0" err="1">
                <a:latin typeface="Consolas" panose="020B0609020204030204" pitchFamily="49" charset="0"/>
              </a:rPr>
              <a:t>ThreadedNode</a:t>
            </a:r>
            <a:r>
              <a:rPr lang="pt-PT" dirty="0">
                <a:latin typeface="Consolas" panose="020B0609020204030204" pitchFamily="49" charset="0"/>
              </a:rPr>
              <a:t>(T data) {</a:t>
            </a:r>
          </a:p>
          <a:p>
            <a:pPr marL="149225" indent="0">
              <a:buNone/>
            </a:pPr>
            <a:r>
              <a:rPr lang="pt-PT" dirty="0">
                <a:latin typeface="Consolas" panose="020B0609020204030204" pitchFamily="49" charset="0"/>
              </a:rPr>
              <a:t>            </a:t>
            </a:r>
            <a:r>
              <a:rPr lang="pt-PT" dirty="0" err="1">
                <a:latin typeface="Consolas" panose="020B0609020204030204" pitchFamily="49" charset="0"/>
              </a:rPr>
              <a:t>this.data</a:t>
            </a:r>
            <a:r>
              <a:rPr lang="pt-PT" dirty="0">
                <a:latin typeface="Consolas" panose="020B0609020204030204" pitchFamily="49" charset="0"/>
              </a:rPr>
              <a:t> = data;</a:t>
            </a:r>
          </a:p>
          <a:p>
            <a:pPr marL="149225" indent="0">
              <a:buNone/>
            </a:pPr>
            <a:r>
              <a:rPr lang="pt-PT" dirty="0">
                <a:latin typeface="Consolas" panose="020B0609020204030204" pitchFamily="49" charset="0"/>
              </a:rPr>
              <a:t>            </a:t>
            </a:r>
            <a:r>
              <a:rPr lang="pt-PT" dirty="0" err="1">
                <a:latin typeface="Consolas" panose="020B0609020204030204" pitchFamily="49" charset="0"/>
              </a:rPr>
              <a:t>this.left</a:t>
            </a:r>
            <a:r>
              <a:rPr lang="pt-PT" dirty="0">
                <a:latin typeface="Consolas" panose="020B0609020204030204" pitchFamily="49" charset="0"/>
              </a:rPr>
              <a:t> = </a:t>
            </a:r>
            <a:r>
              <a:rPr lang="pt-PT" dirty="0" err="1">
                <a:latin typeface="Consolas" panose="020B0609020204030204" pitchFamily="49" charset="0"/>
              </a:rPr>
              <a:t>null</a:t>
            </a:r>
            <a:endParaRPr lang="pt-PT" dirty="0">
              <a:latin typeface="Consolas" panose="020B0609020204030204" pitchFamily="49" charset="0"/>
            </a:endParaRPr>
          </a:p>
          <a:p>
            <a:pPr marL="149225" indent="0">
              <a:buNone/>
            </a:pPr>
            <a:r>
              <a:rPr lang="pt-PT" dirty="0">
                <a:latin typeface="Consolas" panose="020B0609020204030204" pitchFamily="49" charset="0"/>
              </a:rPr>
              <a:t>            </a:t>
            </a:r>
            <a:r>
              <a:rPr lang="pt-PT" dirty="0" err="1">
                <a:latin typeface="Consolas" panose="020B0609020204030204" pitchFamily="49" charset="0"/>
              </a:rPr>
              <a:t>this.right</a:t>
            </a:r>
            <a:r>
              <a:rPr lang="pt-PT" dirty="0">
                <a:latin typeface="Consolas" panose="020B0609020204030204" pitchFamily="49" charset="0"/>
              </a:rPr>
              <a:t> = </a:t>
            </a:r>
            <a:r>
              <a:rPr lang="pt-PT" dirty="0" err="1">
                <a:latin typeface="Consolas" panose="020B0609020204030204" pitchFamily="49" charset="0"/>
              </a:rPr>
              <a:t>null</a:t>
            </a:r>
            <a:r>
              <a:rPr lang="pt-PT" dirty="0">
                <a:latin typeface="Consolas" panose="020B0609020204030204" pitchFamily="49" charset="0"/>
              </a:rPr>
              <a:t>;</a:t>
            </a:r>
          </a:p>
          <a:p>
            <a:pPr marL="149225" indent="0">
              <a:buNone/>
            </a:pPr>
            <a:r>
              <a:rPr lang="pt-PT" dirty="0">
                <a:latin typeface="Consolas" panose="020B0609020204030204" pitchFamily="49" charset="0"/>
              </a:rPr>
              <a:t>            </a:t>
            </a:r>
            <a:r>
              <a:rPr lang="pt-PT" dirty="0" err="1">
                <a:latin typeface="Consolas" panose="020B0609020204030204" pitchFamily="49" charset="0"/>
              </a:rPr>
              <a:t>this.isLeftThread</a:t>
            </a:r>
            <a:r>
              <a:rPr lang="pt-PT" dirty="0">
                <a:latin typeface="Consolas" panose="020B0609020204030204" pitchFamily="49" charset="0"/>
              </a:rPr>
              <a:t> = </a:t>
            </a:r>
            <a:r>
              <a:rPr lang="pt-PT" dirty="0" err="1">
                <a:latin typeface="Consolas" panose="020B0609020204030204" pitchFamily="49" charset="0"/>
              </a:rPr>
              <a:t>true</a:t>
            </a:r>
            <a:r>
              <a:rPr lang="pt-PT" dirty="0">
                <a:latin typeface="Consolas" panose="020B0609020204030204" pitchFamily="49" charset="0"/>
              </a:rPr>
              <a:t>;  </a:t>
            </a:r>
          </a:p>
          <a:p>
            <a:pPr marL="149225" indent="0">
              <a:buNone/>
            </a:pPr>
            <a:r>
              <a:rPr lang="pt-PT" dirty="0">
                <a:latin typeface="Consolas" panose="020B0609020204030204" pitchFamily="49" charset="0"/>
              </a:rPr>
              <a:t>            </a:t>
            </a:r>
            <a:r>
              <a:rPr lang="pt-PT" dirty="0" err="1">
                <a:latin typeface="Consolas" panose="020B0609020204030204" pitchFamily="49" charset="0"/>
              </a:rPr>
              <a:t>this.isRightThread</a:t>
            </a:r>
            <a:r>
              <a:rPr lang="pt-PT" dirty="0">
                <a:latin typeface="Consolas" panose="020B0609020204030204" pitchFamily="49" charset="0"/>
              </a:rPr>
              <a:t> = </a:t>
            </a:r>
            <a:r>
              <a:rPr lang="pt-PT" dirty="0" err="1">
                <a:latin typeface="Consolas" panose="020B0609020204030204" pitchFamily="49" charset="0"/>
              </a:rPr>
              <a:t>true</a:t>
            </a:r>
            <a:r>
              <a:rPr lang="pt-PT" dirty="0">
                <a:latin typeface="Consolas" panose="020B0609020204030204" pitchFamily="49" charset="0"/>
              </a:rPr>
              <a:t>; </a:t>
            </a:r>
          </a:p>
          <a:p>
            <a:pPr marL="149225" indent="0">
              <a:buNone/>
            </a:pPr>
            <a:r>
              <a:rPr lang="pt-PT" dirty="0">
                <a:latin typeface="Consolas" panose="020B0609020204030204" pitchFamily="49" charset="0"/>
              </a:rPr>
              <a:t>    }</a:t>
            </a:r>
          </a:p>
          <a:p>
            <a:pPr marL="149225" indent="0">
              <a:buNone/>
            </a:pPr>
            <a:r>
              <a:rPr lang="pt-PT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6687094-C55E-44C7-8A93-C6E31C08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Verdana" panose="020B0604030504040204" pitchFamily="34" charset="0"/>
                <a:ea typeface="Verdana" panose="020B0604030504040204" pitchFamily="34" charset="0"/>
              </a:rPr>
              <a:t>Encontrar sucessor/predecessor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596157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4039AC26-FEC9-43EB-A36F-2651425C8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800" dirty="0">
                <a:latin typeface="Verdana" panose="020B0604030504040204" pitchFamily="34" charset="0"/>
                <a:ea typeface="Verdana" panose="020B0604030504040204" pitchFamily="34" charset="0"/>
              </a:rPr>
              <a:t>Inserir novo elemento 4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6687094-C55E-44C7-8A93-C6E31C08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400" b="1" dirty="0">
                <a:latin typeface="Verdana" panose="020B0604030504040204" pitchFamily="34" charset="0"/>
                <a:ea typeface="Verdana" panose="020B0604030504040204" pitchFamily="34" charset="0"/>
              </a:rPr>
              <a:t>Inserção</a:t>
            </a:r>
            <a:endParaRPr lang="pt-PT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6421432-6227-4ECE-ADB7-896CD1B19281}"/>
              </a:ext>
            </a:extLst>
          </p:cNvPr>
          <p:cNvSpPr/>
          <p:nvPr/>
        </p:nvSpPr>
        <p:spPr>
          <a:xfrm>
            <a:off x="5824803" y="1322415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15BBD40-D2D5-48BE-A065-3F21A20E4FD0}"/>
              </a:ext>
            </a:extLst>
          </p:cNvPr>
          <p:cNvSpPr/>
          <p:nvPr/>
        </p:nvSpPr>
        <p:spPr>
          <a:xfrm>
            <a:off x="4732126" y="2026011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673C427-B43B-47E0-B4E8-3F9949394B97}"/>
              </a:ext>
            </a:extLst>
          </p:cNvPr>
          <p:cNvSpPr/>
          <p:nvPr/>
        </p:nvSpPr>
        <p:spPr>
          <a:xfrm>
            <a:off x="6945900" y="2003422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C91D4D0-23DB-4B89-87CB-8CCA909CFFFB}"/>
              </a:ext>
            </a:extLst>
          </p:cNvPr>
          <p:cNvSpPr/>
          <p:nvPr/>
        </p:nvSpPr>
        <p:spPr>
          <a:xfrm>
            <a:off x="4226800" y="2767377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FC47232-8B91-4DD9-A2A2-16D961CA37E4}"/>
              </a:ext>
            </a:extLst>
          </p:cNvPr>
          <p:cNvSpPr/>
          <p:nvPr/>
        </p:nvSpPr>
        <p:spPr>
          <a:xfrm>
            <a:off x="5333687" y="2767377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99A66EA-8991-4BA8-A644-00C4DE43357F}"/>
              </a:ext>
            </a:extLst>
          </p:cNvPr>
          <p:cNvSpPr/>
          <p:nvPr/>
        </p:nvSpPr>
        <p:spPr>
          <a:xfrm>
            <a:off x="6440574" y="2757749"/>
            <a:ext cx="1010652" cy="3176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44F5763-0AD3-4D95-B291-9C55B8CC0603}"/>
              </a:ext>
            </a:extLst>
          </p:cNvPr>
          <p:cNvSpPr/>
          <p:nvPr/>
        </p:nvSpPr>
        <p:spPr>
          <a:xfrm>
            <a:off x="7547461" y="2743310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13" name="Conexão reta unidirecional 12">
            <a:extLst>
              <a:ext uri="{FF2B5EF4-FFF2-40B4-BE49-F238E27FC236}">
                <a16:creationId xmlns:a16="http://schemas.microsoft.com/office/drawing/2014/main" id="{039643C0-7854-4859-BB87-DC292A0859FF}"/>
              </a:ext>
            </a:extLst>
          </p:cNvPr>
          <p:cNvCxnSpPr/>
          <p:nvPr/>
        </p:nvCxnSpPr>
        <p:spPr>
          <a:xfrm flipH="1">
            <a:off x="5333687" y="1640049"/>
            <a:ext cx="742749" cy="36337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985CC1C5-5EBC-45DF-9ABD-A7BB94253153}"/>
              </a:ext>
            </a:extLst>
          </p:cNvPr>
          <p:cNvCxnSpPr>
            <a:cxnSpLocks/>
          </p:cNvCxnSpPr>
          <p:nvPr/>
        </p:nvCxnSpPr>
        <p:spPr>
          <a:xfrm>
            <a:off x="6567552" y="1635218"/>
            <a:ext cx="742749" cy="363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C6A1A30E-5176-4C3B-8911-BFF61648D0B0}"/>
              </a:ext>
            </a:extLst>
          </p:cNvPr>
          <p:cNvCxnSpPr>
            <a:cxnSpLocks/>
          </p:cNvCxnSpPr>
          <p:nvPr/>
        </p:nvCxnSpPr>
        <p:spPr>
          <a:xfrm flipH="1">
            <a:off x="4732127" y="2343645"/>
            <a:ext cx="460400" cy="399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xão reta unidirecional 25">
            <a:extLst>
              <a:ext uri="{FF2B5EF4-FFF2-40B4-BE49-F238E27FC236}">
                <a16:creationId xmlns:a16="http://schemas.microsoft.com/office/drawing/2014/main" id="{731BD4D8-FD0E-40CD-97BF-0D68EE7C02BF}"/>
              </a:ext>
            </a:extLst>
          </p:cNvPr>
          <p:cNvCxnSpPr>
            <a:cxnSpLocks/>
          </p:cNvCxnSpPr>
          <p:nvPr/>
        </p:nvCxnSpPr>
        <p:spPr>
          <a:xfrm>
            <a:off x="5346441" y="2354542"/>
            <a:ext cx="517894" cy="38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xão reta unidirecional 28">
            <a:extLst>
              <a:ext uri="{FF2B5EF4-FFF2-40B4-BE49-F238E27FC236}">
                <a16:creationId xmlns:a16="http://schemas.microsoft.com/office/drawing/2014/main" id="{7C5318FD-8F55-42C3-98D1-CF6D751EBB70}"/>
              </a:ext>
            </a:extLst>
          </p:cNvPr>
          <p:cNvCxnSpPr>
            <a:cxnSpLocks/>
          </p:cNvCxnSpPr>
          <p:nvPr/>
        </p:nvCxnSpPr>
        <p:spPr>
          <a:xfrm>
            <a:off x="7519034" y="2343983"/>
            <a:ext cx="517894" cy="38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xão reta unidirecional 29">
            <a:extLst>
              <a:ext uri="{FF2B5EF4-FFF2-40B4-BE49-F238E27FC236}">
                <a16:creationId xmlns:a16="http://schemas.microsoft.com/office/drawing/2014/main" id="{61CB7D2B-A9BB-4F2B-B1D9-31DC35C88C0B}"/>
              </a:ext>
            </a:extLst>
          </p:cNvPr>
          <p:cNvCxnSpPr>
            <a:cxnSpLocks/>
          </p:cNvCxnSpPr>
          <p:nvPr/>
        </p:nvCxnSpPr>
        <p:spPr>
          <a:xfrm flipH="1">
            <a:off x="6951472" y="2343645"/>
            <a:ext cx="460400" cy="399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xão: Curva 31">
            <a:extLst>
              <a:ext uri="{FF2B5EF4-FFF2-40B4-BE49-F238E27FC236}">
                <a16:creationId xmlns:a16="http://schemas.microsoft.com/office/drawing/2014/main" id="{00DAEFB4-6E05-4997-969B-72D772C24B6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421061" y="2249961"/>
            <a:ext cx="1371710" cy="279134"/>
          </a:xfrm>
          <a:prstGeom prst="curvedConnector3">
            <a:avLst>
              <a:gd name="adj1" fmla="val -2087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xão: Curva 36">
            <a:extLst>
              <a:ext uri="{FF2B5EF4-FFF2-40B4-BE49-F238E27FC236}">
                <a16:creationId xmlns:a16="http://schemas.microsoft.com/office/drawing/2014/main" id="{61AE4096-346D-4766-8438-FAAC56F5A04C}"/>
              </a:ext>
            </a:extLst>
          </p:cNvPr>
          <p:cNvCxnSpPr>
            <a:cxnSpLocks/>
          </p:cNvCxnSpPr>
          <p:nvPr/>
        </p:nvCxnSpPr>
        <p:spPr>
          <a:xfrm rot="16200000" flipV="1">
            <a:off x="5903467" y="2239677"/>
            <a:ext cx="1382170" cy="308498"/>
          </a:xfrm>
          <a:prstGeom prst="curvedConnector3">
            <a:avLst>
              <a:gd name="adj1" fmla="val -19639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exão: Curva 40">
            <a:extLst>
              <a:ext uri="{FF2B5EF4-FFF2-40B4-BE49-F238E27FC236}">
                <a16:creationId xmlns:a16="http://schemas.microsoft.com/office/drawing/2014/main" id="{B697234E-DCBD-45D5-897F-441D421EF55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37576" y="2597703"/>
            <a:ext cx="695483" cy="279134"/>
          </a:xfrm>
          <a:prstGeom prst="curvedConnector3">
            <a:avLst>
              <a:gd name="adj1" fmla="val -3442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xão: Curva 43">
            <a:extLst>
              <a:ext uri="{FF2B5EF4-FFF2-40B4-BE49-F238E27FC236}">
                <a16:creationId xmlns:a16="http://schemas.microsoft.com/office/drawing/2014/main" id="{3579625D-050A-4DA8-810F-AB391D86F38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55110" y="2603743"/>
            <a:ext cx="695483" cy="279134"/>
          </a:xfrm>
          <a:prstGeom prst="curvedConnector3">
            <a:avLst>
              <a:gd name="adj1" fmla="val -3442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xão: Curva 44">
            <a:extLst>
              <a:ext uri="{FF2B5EF4-FFF2-40B4-BE49-F238E27FC236}">
                <a16:creationId xmlns:a16="http://schemas.microsoft.com/office/drawing/2014/main" id="{7765016C-A8C7-4D07-B046-949E4B84B652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80340" y="2626176"/>
            <a:ext cx="704776" cy="240277"/>
          </a:xfrm>
          <a:prstGeom prst="curvedConnector3">
            <a:avLst>
              <a:gd name="adj1" fmla="val -34675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7F7D57-39CF-4708-97CA-736471739845}"/>
              </a:ext>
            </a:extLst>
          </p:cNvPr>
          <p:cNvSpPr txBox="1"/>
          <p:nvPr/>
        </p:nvSpPr>
        <p:spPr>
          <a:xfrm>
            <a:off x="5900779" y="990727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9 &gt; 4 </a:t>
            </a:r>
            <a:r>
              <a:rPr lang="pt-PT" dirty="0">
                <a:solidFill>
                  <a:srgbClr val="00B050"/>
                </a:solidFill>
              </a:rPr>
              <a:t> ✓</a:t>
            </a:r>
          </a:p>
        </p:txBody>
      </p:sp>
      <p:cxnSp>
        <p:nvCxnSpPr>
          <p:cNvPr id="24" name="Conexão: Curva 23">
            <a:extLst>
              <a:ext uri="{FF2B5EF4-FFF2-40B4-BE49-F238E27FC236}">
                <a16:creationId xmlns:a16="http://schemas.microsoft.com/office/drawing/2014/main" id="{F9147032-5CD3-4480-96F1-67F15DD041A5}"/>
              </a:ext>
            </a:extLst>
          </p:cNvPr>
          <p:cNvCxnSpPr>
            <a:cxnSpLocks/>
          </p:cNvCxnSpPr>
          <p:nvPr/>
        </p:nvCxnSpPr>
        <p:spPr>
          <a:xfrm rot="16200000" flipV="1">
            <a:off x="7323574" y="2635539"/>
            <a:ext cx="704776" cy="240277"/>
          </a:xfrm>
          <a:prstGeom prst="curvedConnector3">
            <a:avLst>
              <a:gd name="adj1" fmla="val -34675"/>
            </a:avLst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992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4039AC26-FEC9-43EB-A36F-2651425C8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800" dirty="0">
                <a:latin typeface="Verdana" panose="020B0604030504040204" pitchFamily="34" charset="0"/>
                <a:ea typeface="Verdana" panose="020B0604030504040204" pitchFamily="34" charset="0"/>
              </a:rPr>
              <a:t>Verificação da posição a inserir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6687094-C55E-44C7-8A93-C6E31C08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400" b="1" dirty="0">
                <a:latin typeface="Verdana" panose="020B0604030504040204" pitchFamily="34" charset="0"/>
                <a:ea typeface="Verdana" panose="020B0604030504040204" pitchFamily="34" charset="0"/>
              </a:rPr>
              <a:t>Inserção</a:t>
            </a:r>
            <a:endParaRPr lang="pt-PT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6421432-6227-4ECE-ADB7-896CD1B19281}"/>
              </a:ext>
            </a:extLst>
          </p:cNvPr>
          <p:cNvSpPr/>
          <p:nvPr/>
        </p:nvSpPr>
        <p:spPr>
          <a:xfrm>
            <a:off x="5824803" y="1322415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15BBD40-D2D5-48BE-A065-3F21A20E4FD0}"/>
              </a:ext>
            </a:extLst>
          </p:cNvPr>
          <p:cNvSpPr/>
          <p:nvPr/>
        </p:nvSpPr>
        <p:spPr>
          <a:xfrm>
            <a:off x="4732126" y="2026011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673C427-B43B-47E0-B4E8-3F9949394B97}"/>
              </a:ext>
            </a:extLst>
          </p:cNvPr>
          <p:cNvSpPr/>
          <p:nvPr/>
        </p:nvSpPr>
        <p:spPr>
          <a:xfrm>
            <a:off x="6945900" y="2003422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C91D4D0-23DB-4B89-87CB-8CCA909CFFFB}"/>
              </a:ext>
            </a:extLst>
          </p:cNvPr>
          <p:cNvSpPr/>
          <p:nvPr/>
        </p:nvSpPr>
        <p:spPr>
          <a:xfrm>
            <a:off x="4226800" y="2767377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FC47232-8B91-4DD9-A2A2-16D961CA37E4}"/>
              </a:ext>
            </a:extLst>
          </p:cNvPr>
          <p:cNvSpPr/>
          <p:nvPr/>
        </p:nvSpPr>
        <p:spPr>
          <a:xfrm>
            <a:off x="5333687" y="2767377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99A66EA-8991-4BA8-A644-00C4DE43357F}"/>
              </a:ext>
            </a:extLst>
          </p:cNvPr>
          <p:cNvSpPr/>
          <p:nvPr/>
        </p:nvSpPr>
        <p:spPr>
          <a:xfrm>
            <a:off x="6440574" y="2757749"/>
            <a:ext cx="1010652" cy="3176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44F5763-0AD3-4D95-B291-9C55B8CC0603}"/>
              </a:ext>
            </a:extLst>
          </p:cNvPr>
          <p:cNvSpPr/>
          <p:nvPr/>
        </p:nvSpPr>
        <p:spPr>
          <a:xfrm>
            <a:off x="7547461" y="2743310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13" name="Conexão reta unidirecional 12">
            <a:extLst>
              <a:ext uri="{FF2B5EF4-FFF2-40B4-BE49-F238E27FC236}">
                <a16:creationId xmlns:a16="http://schemas.microsoft.com/office/drawing/2014/main" id="{039643C0-7854-4859-BB87-DC292A0859FF}"/>
              </a:ext>
            </a:extLst>
          </p:cNvPr>
          <p:cNvCxnSpPr/>
          <p:nvPr/>
        </p:nvCxnSpPr>
        <p:spPr>
          <a:xfrm flipH="1">
            <a:off x="5333687" y="1640049"/>
            <a:ext cx="742749" cy="36337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985CC1C5-5EBC-45DF-9ABD-A7BB94253153}"/>
              </a:ext>
            </a:extLst>
          </p:cNvPr>
          <p:cNvCxnSpPr>
            <a:cxnSpLocks/>
          </p:cNvCxnSpPr>
          <p:nvPr/>
        </p:nvCxnSpPr>
        <p:spPr>
          <a:xfrm>
            <a:off x="6567552" y="1635218"/>
            <a:ext cx="742749" cy="363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C6A1A30E-5176-4C3B-8911-BFF61648D0B0}"/>
              </a:ext>
            </a:extLst>
          </p:cNvPr>
          <p:cNvCxnSpPr>
            <a:cxnSpLocks/>
          </p:cNvCxnSpPr>
          <p:nvPr/>
        </p:nvCxnSpPr>
        <p:spPr>
          <a:xfrm flipH="1">
            <a:off x="4732127" y="2343645"/>
            <a:ext cx="460400" cy="39966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xão reta unidirecional 25">
            <a:extLst>
              <a:ext uri="{FF2B5EF4-FFF2-40B4-BE49-F238E27FC236}">
                <a16:creationId xmlns:a16="http://schemas.microsoft.com/office/drawing/2014/main" id="{731BD4D8-FD0E-40CD-97BF-0D68EE7C02BF}"/>
              </a:ext>
            </a:extLst>
          </p:cNvPr>
          <p:cNvCxnSpPr>
            <a:cxnSpLocks/>
          </p:cNvCxnSpPr>
          <p:nvPr/>
        </p:nvCxnSpPr>
        <p:spPr>
          <a:xfrm>
            <a:off x="5346441" y="2354542"/>
            <a:ext cx="517894" cy="38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xão reta unidirecional 28">
            <a:extLst>
              <a:ext uri="{FF2B5EF4-FFF2-40B4-BE49-F238E27FC236}">
                <a16:creationId xmlns:a16="http://schemas.microsoft.com/office/drawing/2014/main" id="{7C5318FD-8F55-42C3-98D1-CF6D751EBB70}"/>
              </a:ext>
            </a:extLst>
          </p:cNvPr>
          <p:cNvCxnSpPr>
            <a:cxnSpLocks/>
          </p:cNvCxnSpPr>
          <p:nvPr/>
        </p:nvCxnSpPr>
        <p:spPr>
          <a:xfrm>
            <a:off x="7519034" y="2343983"/>
            <a:ext cx="517894" cy="38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xão reta unidirecional 29">
            <a:extLst>
              <a:ext uri="{FF2B5EF4-FFF2-40B4-BE49-F238E27FC236}">
                <a16:creationId xmlns:a16="http://schemas.microsoft.com/office/drawing/2014/main" id="{61CB7D2B-A9BB-4F2B-B1D9-31DC35C88C0B}"/>
              </a:ext>
            </a:extLst>
          </p:cNvPr>
          <p:cNvCxnSpPr>
            <a:cxnSpLocks/>
          </p:cNvCxnSpPr>
          <p:nvPr/>
        </p:nvCxnSpPr>
        <p:spPr>
          <a:xfrm flipH="1">
            <a:off x="6951472" y="2343645"/>
            <a:ext cx="460400" cy="399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xão: Curva 31">
            <a:extLst>
              <a:ext uri="{FF2B5EF4-FFF2-40B4-BE49-F238E27FC236}">
                <a16:creationId xmlns:a16="http://schemas.microsoft.com/office/drawing/2014/main" id="{00DAEFB4-6E05-4997-969B-72D772C24B6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421061" y="2249961"/>
            <a:ext cx="1371710" cy="279134"/>
          </a:xfrm>
          <a:prstGeom prst="curvedConnector3">
            <a:avLst>
              <a:gd name="adj1" fmla="val -2087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xão: Curva 36">
            <a:extLst>
              <a:ext uri="{FF2B5EF4-FFF2-40B4-BE49-F238E27FC236}">
                <a16:creationId xmlns:a16="http://schemas.microsoft.com/office/drawing/2014/main" id="{61AE4096-346D-4766-8438-FAAC56F5A04C}"/>
              </a:ext>
            </a:extLst>
          </p:cNvPr>
          <p:cNvCxnSpPr>
            <a:cxnSpLocks/>
          </p:cNvCxnSpPr>
          <p:nvPr/>
        </p:nvCxnSpPr>
        <p:spPr>
          <a:xfrm rot="16200000" flipV="1">
            <a:off x="5903467" y="2239677"/>
            <a:ext cx="1382170" cy="308498"/>
          </a:xfrm>
          <a:prstGeom prst="curvedConnector3">
            <a:avLst>
              <a:gd name="adj1" fmla="val -19639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exão: Curva 40">
            <a:extLst>
              <a:ext uri="{FF2B5EF4-FFF2-40B4-BE49-F238E27FC236}">
                <a16:creationId xmlns:a16="http://schemas.microsoft.com/office/drawing/2014/main" id="{B697234E-DCBD-45D5-897F-441D421EF55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37576" y="2597703"/>
            <a:ext cx="695483" cy="279134"/>
          </a:xfrm>
          <a:prstGeom prst="curvedConnector3">
            <a:avLst>
              <a:gd name="adj1" fmla="val -3442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xão: Curva 43">
            <a:extLst>
              <a:ext uri="{FF2B5EF4-FFF2-40B4-BE49-F238E27FC236}">
                <a16:creationId xmlns:a16="http://schemas.microsoft.com/office/drawing/2014/main" id="{3579625D-050A-4DA8-810F-AB391D86F38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55110" y="2603743"/>
            <a:ext cx="695483" cy="279134"/>
          </a:xfrm>
          <a:prstGeom prst="curvedConnector3">
            <a:avLst>
              <a:gd name="adj1" fmla="val -3442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xão: Curva 44">
            <a:extLst>
              <a:ext uri="{FF2B5EF4-FFF2-40B4-BE49-F238E27FC236}">
                <a16:creationId xmlns:a16="http://schemas.microsoft.com/office/drawing/2014/main" id="{7765016C-A8C7-4D07-B046-949E4B84B652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80340" y="2626176"/>
            <a:ext cx="704776" cy="240277"/>
          </a:xfrm>
          <a:prstGeom prst="curvedConnector3">
            <a:avLst>
              <a:gd name="adj1" fmla="val -34675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7F7D57-39CF-4708-97CA-736471739845}"/>
              </a:ext>
            </a:extLst>
          </p:cNvPr>
          <p:cNvSpPr txBox="1"/>
          <p:nvPr/>
        </p:nvSpPr>
        <p:spPr>
          <a:xfrm>
            <a:off x="5900779" y="990727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9 &gt; 4 </a:t>
            </a:r>
            <a:r>
              <a:rPr lang="pt-PT" dirty="0">
                <a:solidFill>
                  <a:srgbClr val="00B050"/>
                </a:solidFill>
              </a:rPr>
              <a:t> ✓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AB04095-FEA2-430B-8746-60DD34CC9990}"/>
              </a:ext>
            </a:extLst>
          </p:cNvPr>
          <p:cNvSpPr txBox="1"/>
          <p:nvPr/>
        </p:nvSpPr>
        <p:spPr>
          <a:xfrm>
            <a:off x="4648418" y="1735029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5 &gt; 4 </a:t>
            </a:r>
            <a:r>
              <a:rPr lang="pt-PT" dirty="0">
                <a:solidFill>
                  <a:srgbClr val="00B050"/>
                </a:solidFill>
              </a:rPr>
              <a:t> ✓</a:t>
            </a:r>
          </a:p>
        </p:txBody>
      </p:sp>
      <p:cxnSp>
        <p:nvCxnSpPr>
          <p:cNvPr id="24" name="Conexão: Curva 23">
            <a:extLst>
              <a:ext uri="{FF2B5EF4-FFF2-40B4-BE49-F238E27FC236}">
                <a16:creationId xmlns:a16="http://schemas.microsoft.com/office/drawing/2014/main" id="{8A0CE2D2-6AAC-4947-BBE5-8C31731552C9}"/>
              </a:ext>
            </a:extLst>
          </p:cNvPr>
          <p:cNvCxnSpPr>
            <a:cxnSpLocks/>
          </p:cNvCxnSpPr>
          <p:nvPr/>
        </p:nvCxnSpPr>
        <p:spPr>
          <a:xfrm rot="16200000" flipV="1">
            <a:off x="7317239" y="2639816"/>
            <a:ext cx="704776" cy="240277"/>
          </a:xfrm>
          <a:prstGeom prst="curvedConnector3">
            <a:avLst>
              <a:gd name="adj1" fmla="val -34675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9556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4039AC26-FEC9-43EB-A36F-2651425C8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800" dirty="0">
                <a:latin typeface="Verdana" panose="020B0604030504040204" pitchFamily="34" charset="0"/>
                <a:ea typeface="Verdana" panose="020B0604030504040204" pitchFamily="34" charset="0"/>
              </a:rPr>
              <a:t>Encontrado o local para 4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6687094-C55E-44C7-8A93-C6E31C08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400" b="1" dirty="0">
                <a:latin typeface="Verdana" panose="020B0604030504040204" pitchFamily="34" charset="0"/>
                <a:ea typeface="Verdana" panose="020B0604030504040204" pitchFamily="34" charset="0"/>
              </a:rPr>
              <a:t>Inserção</a:t>
            </a:r>
            <a:endParaRPr lang="pt-PT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6421432-6227-4ECE-ADB7-896CD1B19281}"/>
              </a:ext>
            </a:extLst>
          </p:cNvPr>
          <p:cNvSpPr/>
          <p:nvPr/>
        </p:nvSpPr>
        <p:spPr>
          <a:xfrm>
            <a:off x="5824803" y="1322415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15BBD40-D2D5-48BE-A065-3F21A20E4FD0}"/>
              </a:ext>
            </a:extLst>
          </p:cNvPr>
          <p:cNvSpPr/>
          <p:nvPr/>
        </p:nvSpPr>
        <p:spPr>
          <a:xfrm>
            <a:off x="4732126" y="2026011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673C427-B43B-47E0-B4E8-3F9949394B97}"/>
              </a:ext>
            </a:extLst>
          </p:cNvPr>
          <p:cNvSpPr/>
          <p:nvPr/>
        </p:nvSpPr>
        <p:spPr>
          <a:xfrm>
            <a:off x="6945900" y="2003422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C91D4D0-23DB-4B89-87CB-8CCA909CFFFB}"/>
              </a:ext>
            </a:extLst>
          </p:cNvPr>
          <p:cNvSpPr/>
          <p:nvPr/>
        </p:nvSpPr>
        <p:spPr>
          <a:xfrm>
            <a:off x="4226800" y="2767377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FC47232-8B91-4DD9-A2A2-16D961CA37E4}"/>
              </a:ext>
            </a:extLst>
          </p:cNvPr>
          <p:cNvSpPr/>
          <p:nvPr/>
        </p:nvSpPr>
        <p:spPr>
          <a:xfrm>
            <a:off x="5333687" y="2767377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99A66EA-8991-4BA8-A644-00C4DE43357F}"/>
              </a:ext>
            </a:extLst>
          </p:cNvPr>
          <p:cNvSpPr/>
          <p:nvPr/>
        </p:nvSpPr>
        <p:spPr>
          <a:xfrm>
            <a:off x="6440574" y="2757749"/>
            <a:ext cx="1010652" cy="3176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44F5763-0AD3-4D95-B291-9C55B8CC0603}"/>
              </a:ext>
            </a:extLst>
          </p:cNvPr>
          <p:cNvSpPr/>
          <p:nvPr/>
        </p:nvSpPr>
        <p:spPr>
          <a:xfrm>
            <a:off x="7547461" y="2743310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13" name="Conexão reta unidirecional 12">
            <a:extLst>
              <a:ext uri="{FF2B5EF4-FFF2-40B4-BE49-F238E27FC236}">
                <a16:creationId xmlns:a16="http://schemas.microsoft.com/office/drawing/2014/main" id="{039643C0-7854-4859-BB87-DC292A0859FF}"/>
              </a:ext>
            </a:extLst>
          </p:cNvPr>
          <p:cNvCxnSpPr/>
          <p:nvPr/>
        </p:nvCxnSpPr>
        <p:spPr>
          <a:xfrm flipH="1">
            <a:off x="5333687" y="1640049"/>
            <a:ext cx="742749" cy="36337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985CC1C5-5EBC-45DF-9ABD-A7BB94253153}"/>
              </a:ext>
            </a:extLst>
          </p:cNvPr>
          <p:cNvCxnSpPr>
            <a:cxnSpLocks/>
          </p:cNvCxnSpPr>
          <p:nvPr/>
        </p:nvCxnSpPr>
        <p:spPr>
          <a:xfrm>
            <a:off x="6567552" y="1635218"/>
            <a:ext cx="742749" cy="363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C6A1A30E-5176-4C3B-8911-BFF61648D0B0}"/>
              </a:ext>
            </a:extLst>
          </p:cNvPr>
          <p:cNvCxnSpPr>
            <a:cxnSpLocks/>
          </p:cNvCxnSpPr>
          <p:nvPr/>
        </p:nvCxnSpPr>
        <p:spPr>
          <a:xfrm flipH="1">
            <a:off x="4732127" y="2343645"/>
            <a:ext cx="460400" cy="39966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xão reta unidirecional 25">
            <a:extLst>
              <a:ext uri="{FF2B5EF4-FFF2-40B4-BE49-F238E27FC236}">
                <a16:creationId xmlns:a16="http://schemas.microsoft.com/office/drawing/2014/main" id="{731BD4D8-FD0E-40CD-97BF-0D68EE7C02BF}"/>
              </a:ext>
            </a:extLst>
          </p:cNvPr>
          <p:cNvCxnSpPr>
            <a:cxnSpLocks/>
          </p:cNvCxnSpPr>
          <p:nvPr/>
        </p:nvCxnSpPr>
        <p:spPr>
          <a:xfrm>
            <a:off x="5346441" y="2354542"/>
            <a:ext cx="517894" cy="38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xão reta unidirecional 28">
            <a:extLst>
              <a:ext uri="{FF2B5EF4-FFF2-40B4-BE49-F238E27FC236}">
                <a16:creationId xmlns:a16="http://schemas.microsoft.com/office/drawing/2014/main" id="{7C5318FD-8F55-42C3-98D1-CF6D751EBB70}"/>
              </a:ext>
            </a:extLst>
          </p:cNvPr>
          <p:cNvCxnSpPr>
            <a:cxnSpLocks/>
          </p:cNvCxnSpPr>
          <p:nvPr/>
        </p:nvCxnSpPr>
        <p:spPr>
          <a:xfrm>
            <a:off x="7519034" y="2343983"/>
            <a:ext cx="517894" cy="38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xão reta unidirecional 29">
            <a:extLst>
              <a:ext uri="{FF2B5EF4-FFF2-40B4-BE49-F238E27FC236}">
                <a16:creationId xmlns:a16="http://schemas.microsoft.com/office/drawing/2014/main" id="{61CB7D2B-A9BB-4F2B-B1D9-31DC35C88C0B}"/>
              </a:ext>
            </a:extLst>
          </p:cNvPr>
          <p:cNvCxnSpPr>
            <a:cxnSpLocks/>
          </p:cNvCxnSpPr>
          <p:nvPr/>
        </p:nvCxnSpPr>
        <p:spPr>
          <a:xfrm flipH="1">
            <a:off x="6951472" y="2343645"/>
            <a:ext cx="460400" cy="399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xão: Curva 31">
            <a:extLst>
              <a:ext uri="{FF2B5EF4-FFF2-40B4-BE49-F238E27FC236}">
                <a16:creationId xmlns:a16="http://schemas.microsoft.com/office/drawing/2014/main" id="{00DAEFB4-6E05-4997-969B-72D772C24B6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421061" y="2249961"/>
            <a:ext cx="1371710" cy="279134"/>
          </a:xfrm>
          <a:prstGeom prst="curvedConnector3">
            <a:avLst>
              <a:gd name="adj1" fmla="val -2087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xão: Curva 36">
            <a:extLst>
              <a:ext uri="{FF2B5EF4-FFF2-40B4-BE49-F238E27FC236}">
                <a16:creationId xmlns:a16="http://schemas.microsoft.com/office/drawing/2014/main" id="{61AE4096-346D-4766-8438-FAAC56F5A04C}"/>
              </a:ext>
            </a:extLst>
          </p:cNvPr>
          <p:cNvCxnSpPr>
            <a:cxnSpLocks/>
          </p:cNvCxnSpPr>
          <p:nvPr/>
        </p:nvCxnSpPr>
        <p:spPr>
          <a:xfrm rot="16200000" flipV="1">
            <a:off x="5903467" y="2239677"/>
            <a:ext cx="1382170" cy="308498"/>
          </a:xfrm>
          <a:prstGeom prst="curvedConnector3">
            <a:avLst>
              <a:gd name="adj1" fmla="val -19639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xão: Curva 43">
            <a:extLst>
              <a:ext uri="{FF2B5EF4-FFF2-40B4-BE49-F238E27FC236}">
                <a16:creationId xmlns:a16="http://schemas.microsoft.com/office/drawing/2014/main" id="{3579625D-050A-4DA8-810F-AB391D86F38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55110" y="2603743"/>
            <a:ext cx="695483" cy="279134"/>
          </a:xfrm>
          <a:prstGeom prst="curvedConnector3">
            <a:avLst>
              <a:gd name="adj1" fmla="val -3442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xão: Curva 44">
            <a:extLst>
              <a:ext uri="{FF2B5EF4-FFF2-40B4-BE49-F238E27FC236}">
                <a16:creationId xmlns:a16="http://schemas.microsoft.com/office/drawing/2014/main" id="{7765016C-A8C7-4D07-B046-949E4B84B652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80340" y="2626176"/>
            <a:ext cx="704776" cy="240277"/>
          </a:xfrm>
          <a:prstGeom prst="curvedConnector3">
            <a:avLst>
              <a:gd name="adj1" fmla="val -34675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7F7D57-39CF-4708-97CA-736471739845}"/>
              </a:ext>
            </a:extLst>
          </p:cNvPr>
          <p:cNvSpPr txBox="1"/>
          <p:nvPr/>
        </p:nvSpPr>
        <p:spPr>
          <a:xfrm>
            <a:off x="5900779" y="990727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9 &gt; 4 </a:t>
            </a:r>
            <a:r>
              <a:rPr lang="pt-PT" dirty="0">
                <a:solidFill>
                  <a:srgbClr val="00B050"/>
                </a:solidFill>
              </a:rPr>
              <a:t> ✓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AB04095-FEA2-430B-8746-60DD34CC9990}"/>
              </a:ext>
            </a:extLst>
          </p:cNvPr>
          <p:cNvSpPr txBox="1"/>
          <p:nvPr/>
        </p:nvSpPr>
        <p:spPr>
          <a:xfrm>
            <a:off x="4648418" y="1735029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5 &gt; 4 </a:t>
            </a:r>
            <a:r>
              <a:rPr lang="pt-PT" dirty="0">
                <a:solidFill>
                  <a:srgbClr val="00B050"/>
                </a:solidFill>
              </a:rPr>
              <a:t> ✓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80E5440-71BC-46BF-90CB-24B3F0FD021E}"/>
              </a:ext>
            </a:extLst>
          </p:cNvPr>
          <p:cNvSpPr txBox="1"/>
          <p:nvPr/>
        </p:nvSpPr>
        <p:spPr>
          <a:xfrm>
            <a:off x="3917450" y="2459599"/>
            <a:ext cx="756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3 &gt; 4 </a:t>
            </a:r>
            <a:r>
              <a:rPr lang="pt-PT" dirty="0">
                <a:solidFill>
                  <a:srgbClr val="FF0000"/>
                </a:solidFill>
              </a:rPr>
              <a:t>X</a:t>
            </a:r>
            <a:endParaRPr lang="pt-PT" dirty="0">
              <a:solidFill>
                <a:srgbClr val="00B050"/>
              </a:solidFill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1141ED1-C78E-4C47-884D-D074C476BC27}"/>
              </a:ext>
            </a:extLst>
          </p:cNvPr>
          <p:cNvSpPr/>
          <p:nvPr/>
        </p:nvSpPr>
        <p:spPr>
          <a:xfrm>
            <a:off x="4744694" y="3540741"/>
            <a:ext cx="1010652" cy="31763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27" name="Conexão reta unidirecional 26">
            <a:extLst>
              <a:ext uri="{FF2B5EF4-FFF2-40B4-BE49-F238E27FC236}">
                <a16:creationId xmlns:a16="http://schemas.microsoft.com/office/drawing/2014/main" id="{2F5D41F9-2DF4-4562-9A18-91A7EABD4426}"/>
              </a:ext>
            </a:extLst>
          </p:cNvPr>
          <p:cNvCxnSpPr>
            <a:cxnSpLocks/>
          </p:cNvCxnSpPr>
          <p:nvPr/>
        </p:nvCxnSpPr>
        <p:spPr>
          <a:xfrm>
            <a:off x="4732126" y="3118492"/>
            <a:ext cx="517894" cy="38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exão: Curva 30">
            <a:extLst>
              <a:ext uri="{FF2B5EF4-FFF2-40B4-BE49-F238E27FC236}">
                <a16:creationId xmlns:a16="http://schemas.microsoft.com/office/drawing/2014/main" id="{2D005BA0-9E63-4FF3-A383-51A6D93F5C55}"/>
              </a:ext>
            </a:extLst>
          </p:cNvPr>
          <p:cNvCxnSpPr>
            <a:cxnSpLocks/>
          </p:cNvCxnSpPr>
          <p:nvPr/>
        </p:nvCxnSpPr>
        <p:spPr>
          <a:xfrm rot="16200000" flipV="1">
            <a:off x="7317236" y="2632147"/>
            <a:ext cx="704776" cy="240277"/>
          </a:xfrm>
          <a:prstGeom prst="curvedConnector3">
            <a:avLst>
              <a:gd name="adj1" fmla="val -34675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576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4039AC26-FEC9-43EB-A36F-2651425C8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9500" y="1184750"/>
            <a:ext cx="3540712" cy="3437100"/>
          </a:xfrm>
        </p:spPr>
        <p:txBody>
          <a:bodyPr/>
          <a:lstStyle/>
          <a:p>
            <a:r>
              <a:rPr lang="pt-PT" sz="1800" dirty="0">
                <a:latin typeface="Verdana" panose="020B0604030504040204" pitchFamily="34" charset="0"/>
                <a:ea typeface="Verdana" panose="020B0604030504040204" pitchFamily="34" charset="0"/>
              </a:rPr>
              <a:t>Ajustar as </a:t>
            </a:r>
            <a:r>
              <a:rPr lang="pt-PT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threads</a:t>
            </a:r>
            <a:r>
              <a:rPr lang="pt-PT" sz="1800" dirty="0">
                <a:latin typeface="Verdana" panose="020B0604030504040204" pitchFamily="34" charset="0"/>
                <a:ea typeface="Verdana" panose="020B0604030504040204" pitchFamily="34" charset="0"/>
              </a:rPr>
              <a:t> do elemento inserido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6687094-C55E-44C7-8A93-C6E31C08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400" b="1" dirty="0">
                <a:latin typeface="Verdana" panose="020B0604030504040204" pitchFamily="34" charset="0"/>
                <a:ea typeface="Verdana" panose="020B0604030504040204" pitchFamily="34" charset="0"/>
              </a:rPr>
              <a:t>Inserção</a:t>
            </a:r>
            <a:endParaRPr lang="pt-PT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6421432-6227-4ECE-ADB7-896CD1B19281}"/>
              </a:ext>
            </a:extLst>
          </p:cNvPr>
          <p:cNvSpPr/>
          <p:nvPr/>
        </p:nvSpPr>
        <p:spPr>
          <a:xfrm>
            <a:off x="6080440" y="1322415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15BBD40-D2D5-48BE-A065-3F21A20E4FD0}"/>
              </a:ext>
            </a:extLst>
          </p:cNvPr>
          <p:cNvSpPr/>
          <p:nvPr/>
        </p:nvSpPr>
        <p:spPr>
          <a:xfrm>
            <a:off x="4732126" y="2026011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673C427-B43B-47E0-B4E8-3F9949394B97}"/>
              </a:ext>
            </a:extLst>
          </p:cNvPr>
          <p:cNvSpPr/>
          <p:nvPr/>
        </p:nvSpPr>
        <p:spPr>
          <a:xfrm>
            <a:off x="7201537" y="2003422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C91D4D0-23DB-4B89-87CB-8CCA909CFFFB}"/>
              </a:ext>
            </a:extLst>
          </p:cNvPr>
          <p:cNvSpPr/>
          <p:nvPr/>
        </p:nvSpPr>
        <p:spPr>
          <a:xfrm>
            <a:off x="4226800" y="2767377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FC47232-8B91-4DD9-A2A2-16D961CA37E4}"/>
              </a:ext>
            </a:extLst>
          </p:cNvPr>
          <p:cNvSpPr/>
          <p:nvPr/>
        </p:nvSpPr>
        <p:spPr>
          <a:xfrm>
            <a:off x="5589324" y="2767377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99A66EA-8991-4BA8-A644-00C4DE43357F}"/>
              </a:ext>
            </a:extLst>
          </p:cNvPr>
          <p:cNvSpPr/>
          <p:nvPr/>
        </p:nvSpPr>
        <p:spPr>
          <a:xfrm>
            <a:off x="6696211" y="2757749"/>
            <a:ext cx="1010652" cy="3176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44F5763-0AD3-4D95-B291-9C55B8CC0603}"/>
              </a:ext>
            </a:extLst>
          </p:cNvPr>
          <p:cNvSpPr/>
          <p:nvPr/>
        </p:nvSpPr>
        <p:spPr>
          <a:xfrm>
            <a:off x="7803098" y="2743310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13" name="Conexão reta unidirecional 12">
            <a:extLst>
              <a:ext uri="{FF2B5EF4-FFF2-40B4-BE49-F238E27FC236}">
                <a16:creationId xmlns:a16="http://schemas.microsoft.com/office/drawing/2014/main" id="{039643C0-7854-4859-BB87-DC292A0859FF}"/>
              </a:ext>
            </a:extLst>
          </p:cNvPr>
          <p:cNvCxnSpPr/>
          <p:nvPr/>
        </p:nvCxnSpPr>
        <p:spPr>
          <a:xfrm flipH="1">
            <a:off x="5589324" y="1640049"/>
            <a:ext cx="742749" cy="36337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985CC1C5-5EBC-45DF-9ABD-A7BB94253153}"/>
              </a:ext>
            </a:extLst>
          </p:cNvPr>
          <p:cNvCxnSpPr>
            <a:cxnSpLocks/>
          </p:cNvCxnSpPr>
          <p:nvPr/>
        </p:nvCxnSpPr>
        <p:spPr>
          <a:xfrm>
            <a:off x="6823189" y="1635218"/>
            <a:ext cx="742749" cy="363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C6A1A30E-5176-4C3B-8911-BFF61648D0B0}"/>
              </a:ext>
            </a:extLst>
          </p:cNvPr>
          <p:cNvCxnSpPr>
            <a:cxnSpLocks/>
          </p:cNvCxnSpPr>
          <p:nvPr/>
        </p:nvCxnSpPr>
        <p:spPr>
          <a:xfrm flipH="1">
            <a:off x="4732127" y="2343645"/>
            <a:ext cx="460400" cy="39966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xão reta unidirecional 25">
            <a:extLst>
              <a:ext uri="{FF2B5EF4-FFF2-40B4-BE49-F238E27FC236}">
                <a16:creationId xmlns:a16="http://schemas.microsoft.com/office/drawing/2014/main" id="{731BD4D8-FD0E-40CD-97BF-0D68EE7C02BF}"/>
              </a:ext>
            </a:extLst>
          </p:cNvPr>
          <p:cNvCxnSpPr>
            <a:cxnSpLocks/>
          </p:cNvCxnSpPr>
          <p:nvPr/>
        </p:nvCxnSpPr>
        <p:spPr>
          <a:xfrm>
            <a:off x="5602078" y="2354542"/>
            <a:ext cx="517894" cy="38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xão reta unidirecional 28">
            <a:extLst>
              <a:ext uri="{FF2B5EF4-FFF2-40B4-BE49-F238E27FC236}">
                <a16:creationId xmlns:a16="http://schemas.microsoft.com/office/drawing/2014/main" id="{7C5318FD-8F55-42C3-98D1-CF6D751EBB70}"/>
              </a:ext>
            </a:extLst>
          </p:cNvPr>
          <p:cNvCxnSpPr>
            <a:cxnSpLocks/>
          </p:cNvCxnSpPr>
          <p:nvPr/>
        </p:nvCxnSpPr>
        <p:spPr>
          <a:xfrm>
            <a:off x="7774671" y="2343983"/>
            <a:ext cx="517894" cy="38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xão reta unidirecional 29">
            <a:extLst>
              <a:ext uri="{FF2B5EF4-FFF2-40B4-BE49-F238E27FC236}">
                <a16:creationId xmlns:a16="http://schemas.microsoft.com/office/drawing/2014/main" id="{61CB7D2B-A9BB-4F2B-B1D9-31DC35C88C0B}"/>
              </a:ext>
            </a:extLst>
          </p:cNvPr>
          <p:cNvCxnSpPr>
            <a:cxnSpLocks/>
          </p:cNvCxnSpPr>
          <p:nvPr/>
        </p:nvCxnSpPr>
        <p:spPr>
          <a:xfrm flipH="1">
            <a:off x="7207109" y="2343645"/>
            <a:ext cx="460400" cy="399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xão: Curva 31">
            <a:extLst>
              <a:ext uri="{FF2B5EF4-FFF2-40B4-BE49-F238E27FC236}">
                <a16:creationId xmlns:a16="http://schemas.microsoft.com/office/drawing/2014/main" id="{00DAEFB4-6E05-4997-969B-72D772C24B6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676698" y="2249961"/>
            <a:ext cx="1371710" cy="279134"/>
          </a:xfrm>
          <a:prstGeom prst="curvedConnector3">
            <a:avLst>
              <a:gd name="adj1" fmla="val -2087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xão: Curva 36">
            <a:extLst>
              <a:ext uri="{FF2B5EF4-FFF2-40B4-BE49-F238E27FC236}">
                <a16:creationId xmlns:a16="http://schemas.microsoft.com/office/drawing/2014/main" id="{61AE4096-346D-4766-8438-FAAC56F5A04C}"/>
              </a:ext>
            </a:extLst>
          </p:cNvPr>
          <p:cNvCxnSpPr>
            <a:cxnSpLocks/>
          </p:cNvCxnSpPr>
          <p:nvPr/>
        </p:nvCxnSpPr>
        <p:spPr>
          <a:xfrm rot="16200000" flipV="1">
            <a:off x="6159104" y="2239677"/>
            <a:ext cx="1382170" cy="308498"/>
          </a:xfrm>
          <a:prstGeom prst="curvedConnector3">
            <a:avLst>
              <a:gd name="adj1" fmla="val -19639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xão: Curva 43">
            <a:extLst>
              <a:ext uri="{FF2B5EF4-FFF2-40B4-BE49-F238E27FC236}">
                <a16:creationId xmlns:a16="http://schemas.microsoft.com/office/drawing/2014/main" id="{3579625D-050A-4DA8-810F-AB391D86F38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210747" y="2603743"/>
            <a:ext cx="695483" cy="279134"/>
          </a:xfrm>
          <a:prstGeom prst="curvedConnector3">
            <a:avLst>
              <a:gd name="adj1" fmla="val -3442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xão: Curva 44">
            <a:extLst>
              <a:ext uri="{FF2B5EF4-FFF2-40B4-BE49-F238E27FC236}">
                <a16:creationId xmlns:a16="http://schemas.microsoft.com/office/drawing/2014/main" id="{7765016C-A8C7-4D07-B046-949E4B84B652}"/>
              </a:ext>
            </a:extLst>
          </p:cNvPr>
          <p:cNvCxnSpPr>
            <a:cxnSpLocks/>
          </p:cNvCxnSpPr>
          <p:nvPr/>
        </p:nvCxnSpPr>
        <p:spPr>
          <a:xfrm rot="16200000" flipV="1">
            <a:off x="5278152" y="2635205"/>
            <a:ext cx="704776" cy="240277"/>
          </a:xfrm>
          <a:prstGeom prst="curvedConnector3">
            <a:avLst>
              <a:gd name="adj1" fmla="val -34675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7F7D57-39CF-4708-97CA-736471739845}"/>
              </a:ext>
            </a:extLst>
          </p:cNvPr>
          <p:cNvSpPr txBox="1"/>
          <p:nvPr/>
        </p:nvSpPr>
        <p:spPr>
          <a:xfrm>
            <a:off x="6156416" y="990727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9 &gt; 4 </a:t>
            </a:r>
            <a:r>
              <a:rPr lang="pt-PT" dirty="0">
                <a:solidFill>
                  <a:srgbClr val="00B050"/>
                </a:solidFill>
              </a:rPr>
              <a:t> ✓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AB04095-FEA2-430B-8746-60DD34CC9990}"/>
              </a:ext>
            </a:extLst>
          </p:cNvPr>
          <p:cNvSpPr txBox="1"/>
          <p:nvPr/>
        </p:nvSpPr>
        <p:spPr>
          <a:xfrm>
            <a:off x="4648418" y="1735029"/>
            <a:ext cx="8210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5 &gt; 4 </a:t>
            </a:r>
            <a:r>
              <a:rPr lang="pt-PT" dirty="0">
                <a:solidFill>
                  <a:srgbClr val="00B050"/>
                </a:solidFill>
              </a:rPr>
              <a:t> ✓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D80E5440-71BC-46BF-90CB-24B3F0FD021E}"/>
              </a:ext>
            </a:extLst>
          </p:cNvPr>
          <p:cNvSpPr txBox="1"/>
          <p:nvPr/>
        </p:nvSpPr>
        <p:spPr>
          <a:xfrm>
            <a:off x="3917450" y="2459599"/>
            <a:ext cx="756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3 &gt; 4 </a:t>
            </a:r>
            <a:r>
              <a:rPr lang="pt-PT" dirty="0">
                <a:solidFill>
                  <a:srgbClr val="FF0000"/>
                </a:solidFill>
              </a:rPr>
              <a:t>X</a:t>
            </a:r>
            <a:endParaRPr lang="pt-PT" dirty="0">
              <a:solidFill>
                <a:srgbClr val="00B050"/>
              </a:solidFill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71141ED1-C78E-4C47-884D-D074C476BC27}"/>
              </a:ext>
            </a:extLst>
          </p:cNvPr>
          <p:cNvSpPr/>
          <p:nvPr/>
        </p:nvSpPr>
        <p:spPr>
          <a:xfrm>
            <a:off x="4744694" y="3540741"/>
            <a:ext cx="1010652" cy="31763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4</a:t>
            </a:r>
          </a:p>
        </p:txBody>
      </p:sp>
      <p:cxnSp>
        <p:nvCxnSpPr>
          <p:cNvPr id="27" name="Conexão reta unidirecional 26">
            <a:extLst>
              <a:ext uri="{FF2B5EF4-FFF2-40B4-BE49-F238E27FC236}">
                <a16:creationId xmlns:a16="http://schemas.microsoft.com/office/drawing/2014/main" id="{2F5D41F9-2DF4-4562-9A18-91A7EABD4426}"/>
              </a:ext>
            </a:extLst>
          </p:cNvPr>
          <p:cNvCxnSpPr>
            <a:cxnSpLocks/>
          </p:cNvCxnSpPr>
          <p:nvPr/>
        </p:nvCxnSpPr>
        <p:spPr>
          <a:xfrm>
            <a:off x="4732126" y="3118492"/>
            <a:ext cx="517894" cy="38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xão: Curva 27">
            <a:extLst>
              <a:ext uri="{FF2B5EF4-FFF2-40B4-BE49-F238E27FC236}">
                <a16:creationId xmlns:a16="http://schemas.microsoft.com/office/drawing/2014/main" id="{E3344792-2AE3-4FFF-A15A-260EC9107AFF}"/>
              </a:ext>
            </a:extLst>
          </p:cNvPr>
          <p:cNvCxnSpPr>
            <a:cxnSpLocks/>
          </p:cNvCxnSpPr>
          <p:nvPr/>
        </p:nvCxnSpPr>
        <p:spPr>
          <a:xfrm rot="16200000" flipV="1">
            <a:off x="4378256" y="3415656"/>
            <a:ext cx="704776" cy="240277"/>
          </a:xfrm>
          <a:prstGeom prst="curvedConnector3">
            <a:avLst>
              <a:gd name="adj1" fmla="val -34675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exão: Curva 32">
            <a:extLst>
              <a:ext uri="{FF2B5EF4-FFF2-40B4-BE49-F238E27FC236}">
                <a16:creationId xmlns:a16="http://schemas.microsoft.com/office/drawing/2014/main" id="{5E4B58C4-A8C3-4C10-8613-1E7181530145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537134" y="3034539"/>
            <a:ext cx="1499430" cy="236262"/>
          </a:xfrm>
          <a:prstGeom prst="curvedConnector3">
            <a:avLst>
              <a:gd name="adj1" fmla="val -1885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exão: Curva 33">
            <a:extLst>
              <a:ext uri="{FF2B5EF4-FFF2-40B4-BE49-F238E27FC236}">
                <a16:creationId xmlns:a16="http://schemas.microsoft.com/office/drawing/2014/main" id="{9A409226-9547-4E09-8183-19CB6E131C5A}"/>
              </a:ext>
            </a:extLst>
          </p:cNvPr>
          <p:cNvCxnSpPr>
            <a:cxnSpLocks/>
          </p:cNvCxnSpPr>
          <p:nvPr/>
        </p:nvCxnSpPr>
        <p:spPr>
          <a:xfrm rot="16200000" flipV="1">
            <a:off x="7566976" y="2645838"/>
            <a:ext cx="704776" cy="240277"/>
          </a:xfrm>
          <a:prstGeom prst="curvedConnector3">
            <a:avLst>
              <a:gd name="adj1" fmla="val -34675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4749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4039AC26-FEC9-43EB-A36F-2651425C8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800" dirty="0">
                <a:latin typeface="Verdana" panose="020B0604030504040204" pitchFamily="34" charset="0"/>
                <a:ea typeface="Verdana" panose="020B0604030504040204" pitchFamily="34" charset="0"/>
              </a:rPr>
              <a:t>Remover o elemento 11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6687094-C55E-44C7-8A93-C6E31C08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400" b="1" dirty="0">
                <a:latin typeface="Verdana" panose="020B0604030504040204" pitchFamily="34" charset="0"/>
                <a:ea typeface="Verdana" panose="020B0604030504040204" pitchFamily="34" charset="0"/>
              </a:rPr>
              <a:t>Remoção</a:t>
            </a:r>
            <a:endParaRPr lang="pt-PT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6421432-6227-4ECE-ADB7-896CD1B19281}"/>
              </a:ext>
            </a:extLst>
          </p:cNvPr>
          <p:cNvSpPr/>
          <p:nvPr/>
        </p:nvSpPr>
        <p:spPr>
          <a:xfrm>
            <a:off x="5824803" y="1322415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15BBD40-D2D5-48BE-A065-3F21A20E4FD0}"/>
              </a:ext>
            </a:extLst>
          </p:cNvPr>
          <p:cNvSpPr/>
          <p:nvPr/>
        </p:nvSpPr>
        <p:spPr>
          <a:xfrm>
            <a:off x="4732126" y="2026011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673C427-B43B-47E0-B4E8-3F9949394B97}"/>
              </a:ext>
            </a:extLst>
          </p:cNvPr>
          <p:cNvSpPr/>
          <p:nvPr/>
        </p:nvSpPr>
        <p:spPr>
          <a:xfrm>
            <a:off x="6945900" y="2003422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C91D4D0-23DB-4B89-87CB-8CCA909CFFFB}"/>
              </a:ext>
            </a:extLst>
          </p:cNvPr>
          <p:cNvSpPr/>
          <p:nvPr/>
        </p:nvSpPr>
        <p:spPr>
          <a:xfrm>
            <a:off x="4226800" y="2767377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FC47232-8B91-4DD9-A2A2-16D961CA37E4}"/>
              </a:ext>
            </a:extLst>
          </p:cNvPr>
          <p:cNvSpPr/>
          <p:nvPr/>
        </p:nvSpPr>
        <p:spPr>
          <a:xfrm>
            <a:off x="5333687" y="2767377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99A66EA-8991-4BA8-A644-00C4DE43357F}"/>
              </a:ext>
            </a:extLst>
          </p:cNvPr>
          <p:cNvSpPr/>
          <p:nvPr/>
        </p:nvSpPr>
        <p:spPr>
          <a:xfrm>
            <a:off x="6440574" y="2757749"/>
            <a:ext cx="1010652" cy="3176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44F5763-0AD3-4D95-B291-9C55B8CC0603}"/>
              </a:ext>
            </a:extLst>
          </p:cNvPr>
          <p:cNvSpPr/>
          <p:nvPr/>
        </p:nvSpPr>
        <p:spPr>
          <a:xfrm>
            <a:off x="7547461" y="2743310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13" name="Conexão reta unidirecional 12">
            <a:extLst>
              <a:ext uri="{FF2B5EF4-FFF2-40B4-BE49-F238E27FC236}">
                <a16:creationId xmlns:a16="http://schemas.microsoft.com/office/drawing/2014/main" id="{039643C0-7854-4859-BB87-DC292A0859FF}"/>
              </a:ext>
            </a:extLst>
          </p:cNvPr>
          <p:cNvCxnSpPr/>
          <p:nvPr/>
        </p:nvCxnSpPr>
        <p:spPr>
          <a:xfrm flipH="1">
            <a:off x="5333687" y="1640049"/>
            <a:ext cx="742749" cy="3633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985CC1C5-5EBC-45DF-9ABD-A7BB94253153}"/>
              </a:ext>
            </a:extLst>
          </p:cNvPr>
          <p:cNvCxnSpPr>
            <a:cxnSpLocks/>
          </p:cNvCxnSpPr>
          <p:nvPr/>
        </p:nvCxnSpPr>
        <p:spPr>
          <a:xfrm>
            <a:off x="6567552" y="1635218"/>
            <a:ext cx="742749" cy="36337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C6A1A30E-5176-4C3B-8911-BFF61648D0B0}"/>
              </a:ext>
            </a:extLst>
          </p:cNvPr>
          <p:cNvCxnSpPr>
            <a:cxnSpLocks/>
          </p:cNvCxnSpPr>
          <p:nvPr/>
        </p:nvCxnSpPr>
        <p:spPr>
          <a:xfrm flipH="1">
            <a:off x="4732127" y="2343645"/>
            <a:ext cx="460400" cy="399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xão reta unidirecional 25">
            <a:extLst>
              <a:ext uri="{FF2B5EF4-FFF2-40B4-BE49-F238E27FC236}">
                <a16:creationId xmlns:a16="http://schemas.microsoft.com/office/drawing/2014/main" id="{731BD4D8-FD0E-40CD-97BF-0D68EE7C02BF}"/>
              </a:ext>
            </a:extLst>
          </p:cNvPr>
          <p:cNvCxnSpPr>
            <a:cxnSpLocks/>
          </p:cNvCxnSpPr>
          <p:nvPr/>
        </p:nvCxnSpPr>
        <p:spPr>
          <a:xfrm>
            <a:off x="5346441" y="2354542"/>
            <a:ext cx="517894" cy="38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xão reta unidirecional 28">
            <a:extLst>
              <a:ext uri="{FF2B5EF4-FFF2-40B4-BE49-F238E27FC236}">
                <a16:creationId xmlns:a16="http://schemas.microsoft.com/office/drawing/2014/main" id="{7C5318FD-8F55-42C3-98D1-CF6D751EBB70}"/>
              </a:ext>
            </a:extLst>
          </p:cNvPr>
          <p:cNvCxnSpPr>
            <a:cxnSpLocks/>
          </p:cNvCxnSpPr>
          <p:nvPr/>
        </p:nvCxnSpPr>
        <p:spPr>
          <a:xfrm>
            <a:off x="7519034" y="2343983"/>
            <a:ext cx="517894" cy="38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xão reta unidirecional 29">
            <a:extLst>
              <a:ext uri="{FF2B5EF4-FFF2-40B4-BE49-F238E27FC236}">
                <a16:creationId xmlns:a16="http://schemas.microsoft.com/office/drawing/2014/main" id="{61CB7D2B-A9BB-4F2B-B1D9-31DC35C88C0B}"/>
              </a:ext>
            </a:extLst>
          </p:cNvPr>
          <p:cNvCxnSpPr>
            <a:cxnSpLocks/>
          </p:cNvCxnSpPr>
          <p:nvPr/>
        </p:nvCxnSpPr>
        <p:spPr>
          <a:xfrm flipH="1">
            <a:off x="6951472" y="2343645"/>
            <a:ext cx="460400" cy="399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xão: Curva 31">
            <a:extLst>
              <a:ext uri="{FF2B5EF4-FFF2-40B4-BE49-F238E27FC236}">
                <a16:creationId xmlns:a16="http://schemas.microsoft.com/office/drawing/2014/main" id="{00DAEFB4-6E05-4997-969B-72D772C24B6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421061" y="2249961"/>
            <a:ext cx="1371710" cy="279134"/>
          </a:xfrm>
          <a:prstGeom prst="curvedConnector3">
            <a:avLst>
              <a:gd name="adj1" fmla="val -2087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xão: Curva 36">
            <a:extLst>
              <a:ext uri="{FF2B5EF4-FFF2-40B4-BE49-F238E27FC236}">
                <a16:creationId xmlns:a16="http://schemas.microsoft.com/office/drawing/2014/main" id="{61AE4096-346D-4766-8438-FAAC56F5A04C}"/>
              </a:ext>
            </a:extLst>
          </p:cNvPr>
          <p:cNvCxnSpPr>
            <a:cxnSpLocks/>
          </p:cNvCxnSpPr>
          <p:nvPr/>
        </p:nvCxnSpPr>
        <p:spPr>
          <a:xfrm rot="16200000" flipV="1">
            <a:off x="5903467" y="2239677"/>
            <a:ext cx="1382170" cy="308498"/>
          </a:xfrm>
          <a:prstGeom prst="curvedConnector3">
            <a:avLst>
              <a:gd name="adj1" fmla="val -19639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exão: Curva 40">
            <a:extLst>
              <a:ext uri="{FF2B5EF4-FFF2-40B4-BE49-F238E27FC236}">
                <a16:creationId xmlns:a16="http://schemas.microsoft.com/office/drawing/2014/main" id="{B697234E-DCBD-45D5-897F-441D421EF55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37576" y="2597703"/>
            <a:ext cx="695483" cy="279134"/>
          </a:xfrm>
          <a:prstGeom prst="curvedConnector3">
            <a:avLst>
              <a:gd name="adj1" fmla="val -3442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xão: Curva 43">
            <a:extLst>
              <a:ext uri="{FF2B5EF4-FFF2-40B4-BE49-F238E27FC236}">
                <a16:creationId xmlns:a16="http://schemas.microsoft.com/office/drawing/2014/main" id="{3579625D-050A-4DA8-810F-AB391D86F38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55110" y="2603743"/>
            <a:ext cx="695483" cy="279134"/>
          </a:xfrm>
          <a:prstGeom prst="curvedConnector3">
            <a:avLst>
              <a:gd name="adj1" fmla="val -3442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xão: Curva 44">
            <a:extLst>
              <a:ext uri="{FF2B5EF4-FFF2-40B4-BE49-F238E27FC236}">
                <a16:creationId xmlns:a16="http://schemas.microsoft.com/office/drawing/2014/main" id="{7765016C-A8C7-4D07-B046-949E4B84B652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80340" y="2626176"/>
            <a:ext cx="704776" cy="240277"/>
          </a:xfrm>
          <a:prstGeom prst="curvedConnector3">
            <a:avLst>
              <a:gd name="adj1" fmla="val -34675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7F7D57-39CF-4708-97CA-736471739845}"/>
              </a:ext>
            </a:extLst>
          </p:cNvPr>
          <p:cNvSpPr txBox="1"/>
          <p:nvPr/>
        </p:nvSpPr>
        <p:spPr>
          <a:xfrm>
            <a:off x="5900779" y="990727"/>
            <a:ext cx="8563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9 &gt; 11 </a:t>
            </a:r>
            <a:r>
              <a:rPr lang="pt-PT" dirty="0">
                <a:solidFill>
                  <a:srgbClr val="FF0000"/>
                </a:solidFill>
              </a:rPr>
              <a:t>X</a:t>
            </a:r>
            <a:endParaRPr lang="pt-PT" dirty="0">
              <a:solidFill>
                <a:srgbClr val="00B050"/>
              </a:solidFill>
            </a:endParaRPr>
          </a:p>
        </p:txBody>
      </p:sp>
      <p:cxnSp>
        <p:nvCxnSpPr>
          <p:cNvPr id="23" name="Conexão: Curva 22">
            <a:extLst>
              <a:ext uri="{FF2B5EF4-FFF2-40B4-BE49-F238E27FC236}">
                <a16:creationId xmlns:a16="http://schemas.microsoft.com/office/drawing/2014/main" id="{639B95C8-21E9-4910-AEE0-78A0349E2B13}"/>
              </a:ext>
            </a:extLst>
          </p:cNvPr>
          <p:cNvCxnSpPr>
            <a:cxnSpLocks/>
          </p:cNvCxnSpPr>
          <p:nvPr/>
        </p:nvCxnSpPr>
        <p:spPr>
          <a:xfrm rot="16200000" flipV="1">
            <a:off x="7307404" y="2635539"/>
            <a:ext cx="704776" cy="240277"/>
          </a:xfrm>
          <a:prstGeom prst="curvedConnector3">
            <a:avLst>
              <a:gd name="adj1" fmla="val -34675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676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4039AC26-FEC9-43EB-A36F-2651425C8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800" dirty="0">
                <a:latin typeface="Verdana" panose="020B0604030504040204" pitchFamily="34" charset="0"/>
                <a:ea typeface="Verdana" panose="020B0604030504040204" pitchFamily="34" charset="0"/>
              </a:rPr>
              <a:t>Encontrar o elemento 11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6687094-C55E-44C7-8A93-C6E31C08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400" b="1" dirty="0">
                <a:latin typeface="Verdana" panose="020B0604030504040204" pitchFamily="34" charset="0"/>
                <a:ea typeface="Verdana" panose="020B0604030504040204" pitchFamily="34" charset="0"/>
              </a:rPr>
              <a:t>Remoção</a:t>
            </a:r>
            <a:endParaRPr lang="pt-PT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6421432-6227-4ECE-ADB7-896CD1B19281}"/>
              </a:ext>
            </a:extLst>
          </p:cNvPr>
          <p:cNvSpPr/>
          <p:nvPr/>
        </p:nvSpPr>
        <p:spPr>
          <a:xfrm>
            <a:off x="5824803" y="1322415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15BBD40-D2D5-48BE-A065-3F21A20E4FD0}"/>
              </a:ext>
            </a:extLst>
          </p:cNvPr>
          <p:cNvSpPr/>
          <p:nvPr/>
        </p:nvSpPr>
        <p:spPr>
          <a:xfrm>
            <a:off x="4732126" y="2026011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673C427-B43B-47E0-B4E8-3F9949394B97}"/>
              </a:ext>
            </a:extLst>
          </p:cNvPr>
          <p:cNvSpPr/>
          <p:nvPr/>
        </p:nvSpPr>
        <p:spPr>
          <a:xfrm>
            <a:off x="6945900" y="2003422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C91D4D0-23DB-4B89-87CB-8CCA909CFFFB}"/>
              </a:ext>
            </a:extLst>
          </p:cNvPr>
          <p:cNvSpPr/>
          <p:nvPr/>
        </p:nvSpPr>
        <p:spPr>
          <a:xfrm>
            <a:off x="4226800" y="2767377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FC47232-8B91-4DD9-A2A2-16D961CA37E4}"/>
              </a:ext>
            </a:extLst>
          </p:cNvPr>
          <p:cNvSpPr/>
          <p:nvPr/>
        </p:nvSpPr>
        <p:spPr>
          <a:xfrm>
            <a:off x="5333687" y="2767377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A99A66EA-8991-4BA8-A644-00C4DE43357F}"/>
              </a:ext>
            </a:extLst>
          </p:cNvPr>
          <p:cNvSpPr/>
          <p:nvPr/>
        </p:nvSpPr>
        <p:spPr>
          <a:xfrm>
            <a:off x="6440574" y="2757749"/>
            <a:ext cx="1010652" cy="31763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44F5763-0AD3-4D95-B291-9C55B8CC0603}"/>
              </a:ext>
            </a:extLst>
          </p:cNvPr>
          <p:cNvSpPr/>
          <p:nvPr/>
        </p:nvSpPr>
        <p:spPr>
          <a:xfrm>
            <a:off x="7547461" y="2743310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13" name="Conexão reta unidirecional 12">
            <a:extLst>
              <a:ext uri="{FF2B5EF4-FFF2-40B4-BE49-F238E27FC236}">
                <a16:creationId xmlns:a16="http://schemas.microsoft.com/office/drawing/2014/main" id="{039643C0-7854-4859-BB87-DC292A0859FF}"/>
              </a:ext>
            </a:extLst>
          </p:cNvPr>
          <p:cNvCxnSpPr/>
          <p:nvPr/>
        </p:nvCxnSpPr>
        <p:spPr>
          <a:xfrm flipH="1">
            <a:off x="5333687" y="1640049"/>
            <a:ext cx="742749" cy="3633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985CC1C5-5EBC-45DF-9ABD-A7BB94253153}"/>
              </a:ext>
            </a:extLst>
          </p:cNvPr>
          <p:cNvCxnSpPr>
            <a:cxnSpLocks/>
          </p:cNvCxnSpPr>
          <p:nvPr/>
        </p:nvCxnSpPr>
        <p:spPr>
          <a:xfrm>
            <a:off x="6567552" y="1635218"/>
            <a:ext cx="742749" cy="36337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C6A1A30E-5176-4C3B-8911-BFF61648D0B0}"/>
              </a:ext>
            </a:extLst>
          </p:cNvPr>
          <p:cNvCxnSpPr>
            <a:cxnSpLocks/>
          </p:cNvCxnSpPr>
          <p:nvPr/>
        </p:nvCxnSpPr>
        <p:spPr>
          <a:xfrm flipH="1">
            <a:off x="4732127" y="2343645"/>
            <a:ext cx="460400" cy="399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xão reta unidirecional 25">
            <a:extLst>
              <a:ext uri="{FF2B5EF4-FFF2-40B4-BE49-F238E27FC236}">
                <a16:creationId xmlns:a16="http://schemas.microsoft.com/office/drawing/2014/main" id="{731BD4D8-FD0E-40CD-97BF-0D68EE7C02BF}"/>
              </a:ext>
            </a:extLst>
          </p:cNvPr>
          <p:cNvCxnSpPr>
            <a:cxnSpLocks/>
          </p:cNvCxnSpPr>
          <p:nvPr/>
        </p:nvCxnSpPr>
        <p:spPr>
          <a:xfrm>
            <a:off x="5346441" y="2354542"/>
            <a:ext cx="517894" cy="38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xão reta unidirecional 28">
            <a:extLst>
              <a:ext uri="{FF2B5EF4-FFF2-40B4-BE49-F238E27FC236}">
                <a16:creationId xmlns:a16="http://schemas.microsoft.com/office/drawing/2014/main" id="{7C5318FD-8F55-42C3-98D1-CF6D751EBB70}"/>
              </a:ext>
            </a:extLst>
          </p:cNvPr>
          <p:cNvCxnSpPr>
            <a:cxnSpLocks/>
          </p:cNvCxnSpPr>
          <p:nvPr/>
        </p:nvCxnSpPr>
        <p:spPr>
          <a:xfrm>
            <a:off x="7519034" y="2343983"/>
            <a:ext cx="517894" cy="38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exão reta unidirecional 29">
            <a:extLst>
              <a:ext uri="{FF2B5EF4-FFF2-40B4-BE49-F238E27FC236}">
                <a16:creationId xmlns:a16="http://schemas.microsoft.com/office/drawing/2014/main" id="{61CB7D2B-A9BB-4F2B-B1D9-31DC35C88C0B}"/>
              </a:ext>
            </a:extLst>
          </p:cNvPr>
          <p:cNvCxnSpPr>
            <a:cxnSpLocks/>
          </p:cNvCxnSpPr>
          <p:nvPr/>
        </p:nvCxnSpPr>
        <p:spPr>
          <a:xfrm flipH="1">
            <a:off x="6951472" y="2343645"/>
            <a:ext cx="460400" cy="399665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xão: Curva 31">
            <a:extLst>
              <a:ext uri="{FF2B5EF4-FFF2-40B4-BE49-F238E27FC236}">
                <a16:creationId xmlns:a16="http://schemas.microsoft.com/office/drawing/2014/main" id="{00DAEFB4-6E05-4997-969B-72D772C24B6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421061" y="2249961"/>
            <a:ext cx="1371710" cy="279134"/>
          </a:xfrm>
          <a:prstGeom prst="curvedConnector3">
            <a:avLst>
              <a:gd name="adj1" fmla="val -2087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xão: Curva 36">
            <a:extLst>
              <a:ext uri="{FF2B5EF4-FFF2-40B4-BE49-F238E27FC236}">
                <a16:creationId xmlns:a16="http://schemas.microsoft.com/office/drawing/2014/main" id="{61AE4096-346D-4766-8438-FAAC56F5A04C}"/>
              </a:ext>
            </a:extLst>
          </p:cNvPr>
          <p:cNvCxnSpPr>
            <a:cxnSpLocks/>
          </p:cNvCxnSpPr>
          <p:nvPr/>
        </p:nvCxnSpPr>
        <p:spPr>
          <a:xfrm rot="16200000" flipV="1">
            <a:off x="5903467" y="2239677"/>
            <a:ext cx="1382170" cy="308498"/>
          </a:xfrm>
          <a:prstGeom prst="curvedConnector3">
            <a:avLst>
              <a:gd name="adj1" fmla="val -19639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exão: Curva 40">
            <a:extLst>
              <a:ext uri="{FF2B5EF4-FFF2-40B4-BE49-F238E27FC236}">
                <a16:creationId xmlns:a16="http://schemas.microsoft.com/office/drawing/2014/main" id="{B697234E-DCBD-45D5-897F-441D421EF55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37576" y="2597703"/>
            <a:ext cx="695483" cy="279134"/>
          </a:xfrm>
          <a:prstGeom prst="curvedConnector3">
            <a:avLst>
              <a:gd name="adj1" fmla="val -3442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exão: Curva 43">
            <a:extLst>
              <a:ext uri="{FF2B5EF4-FFF2-40B4-BE49-F238E27FC236}">
                <a16:creationId xmlns:a16="http://schemas.microsoft.com/office/drawing/2014/main" id="{3579625D-050A-4DA8-810F-AB391D86F38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55110" y="2603743"/>
            <a:ext cx="695483" cy="279134"/>
          </a:xfrm>
          <a:prstGeom prst="curvedConnector3">
            <a:avLst>
              <a:gd name="adj1" fmla="val -3442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xão: Curva 44">
            <a:extLst>
              <a:ext uri="{FF2B5EF4-FFF2-40B4-BE49-F238E27FC236}">
                <a16:creationId xmlns:a16="http://schemas.microsoft.com/office/drawing/2014/main" id="{7765016C-A8C7-4D07-B046-949E4B84B652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80340" y="2626176"/>
            <a:ext cx="704776" cy="240277"/>
          </a:xfrm>
          <a:prstGeom prst="curvedConnector3">
            <a:avLst>
              <a:gd name="adj1" fmla="val -34675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7F7D57-39CF-4708-97CA-736471739845}"/>
              </a:ext>
            </a:extLst>
          </p:cNvPr>
          <p:cNvSpPr txBox="1"/>
          <p:nvPr/>
        </p:nvSpPr>
        <p:spPr>
          <a:xfrm>
            <a:off x="5900779" y="990727"/>
            <a:ext cx="8563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9 &gt; 11 </a:t>
            </a:r>
            <a:r>
              <a:rPr lang="pt-PT" dirty="0">
                <a:solidFill>
                  <a:srgbClr val="FF0000"/>
                </a:solidFill>
              </a:rPr>
              <a:t>X</a:t>
            </a:r>
            <a:endParaRPr lang="pt-PT" dirty="0">
              <a:solidFill>
                <a:srgbClr val="00B050"/>
              </a:solidFill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B24C042-0483-462B-A8AB-AD82BC0B596B}"/>
              </a:ext>
            </a:extLst>
          </p:cNvPr>
          <p:cNvSpPr txBox="1"/>
          <p:nvPr/>
        </p:nvSpPr>
        <p:spPr>
          <a:xfrm>
            <a:off x="7408242" y="1655731"/>
            <a:ext cx="9701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11 &gt; 12</a:t>
            </a:r>
            <a:r>
              <a:rPr lang="pt-PT" dirty="0">
                <a:solidFill>
                  <a:srgbClr val="00B050"/>
                </a:solidFill>
              </a:rPr>
              <a:t> ✓</a:t>
            </a:r>
          </a:p>
        </p:txBody>
      </p:sp>
      <p:cxnSp>
        <p:nvCxnSpPr>
          <p:cNvPr id="24" name="Conexão: Curva 23">
            <a:extLst>
              <a:ext uri="{FF2B5EF4-FFF2-40B4-BE49-F238E27FC236}">
                <a16:creationId xmlns:a16="http://schemas.microsoft.com/office/drawing/2014/main" id="{151B62B4-9EB7-43B6-9F81-70C9D3342F7A}"/>
              </a:ext>
            </a:extLst>
          </p:cNvPr>
          <p:cNvCxnSpPr>
            <a:cxnSpLocks/>
          </p:cNvCxnSpPr>
          <p:nvPr/>
        </p:nvCxnSpPr>
        <p:spPr>
          <a:xfrm rot="16200000" flipV="1">
            <a:off x="7307404" y="2627717"/>
            <a:ext cx="704776" cy="240277"/>
          </a:xfrm>
          <a:prstGeom prst="curvedConnector3">
            <a:avLst>
              <a:gd name="adj1" fmla="val -34675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469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4039AC26-FEC9-43EB-A36F-2651425C8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sz="1800" dirty="0">
                <a:latin typeface="Verdana" panose="020B0604030504040204" pitchFamily="34" charset="0"/>
                <a:ea typeface="Verdana" panose="020B0604030504040204" pitchFamily="34" charset="0"/>
              </a:rPr>
              <a:t>Remover o elemento 11</a:t>
            </a:r>
          </a:p>
          <a:p>
            <a:r>
              <a:rPr lang="pt-PT" sz="1800" dirty="0">
                <a:latin typeface="Verdana" panose="020B0604030504040204" pitchFamily="34" charset="0"/>
                <a:ea typeface="Verdana" panose="020B0604030504040204" pitchFamily="34" charset="0"/>
              </a:rPr>
              <a:t>Ajustar as </a:t>
            </a:r>
            <a:r>
              <a:rPr lang="pt-PT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threads</a:t>
            </a:r>
            <a:r>
              <a:rPr lang="pt-PT" sz="1800" dirty="0">
                <a:latin typeface="Verdana" panose="020B0604030504040204" pitchFamily="34" charset="0"/>
                <a:ea typeface="Verdana" panose="020B0604030504040204" pitchFamily="34" charset="0"/>
              </a:rPr>
              <a:t> do pai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6687094-C55E-44C7-8A93-C6E31C08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2400" b="1" dirty="0">
                <a:latin typeface="Verdana" panose="020B0604030504040204" pitchFamily="34" charset="0"/>
                <a:ea typeface="Verdana" panose="020B0604030504040204" pitchFamily="34" charset="0"/>
              </a:rPr>
              <a:t>Remoção</a:t>
            </a:r>
            <a:endParaRPr lang="pt-PT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76421432-6227-4ECE-ADB7-896CD1B19281}"/>
              </a:ext>
            </a:extLst>
          </p:cNvPr>
          <p:cNvSpPr/>
          <p:nvPr/>
        </p:nvSpPr>
        <p:spPr>
          <a:xfrm>
            <a:off x="5824803" y="1322415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15BBD40-D2D5-48BE-A065-3F21A20E4FD0}"/>
              </a:ext>
            </a:extLst>
          </p:cNvPr>
          <p:cNvSpPr/>
          <p:nvPr/>
        </p:nvSpPr>
        <p:spPr>
          <a:xfrm>
            <a:off x="4732126" y="2026011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3673C427-B43B-47E0-B4E8-3F9949394B97}"/>
              </a:ext>
            </a:extLst>
          </p:cNvPr>
          <p:cNvSpPr/>
          <p:nvPr/>
        </p:nvSpPr>
        <p:spPr>
          <a:xfrm>
            <a:off x="6945900" y="2003422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AC91D4D0-23DB-4B89-87CB-8CCA909CFFFB}"/>
              </a:ext>
            </a:extLst>
          </p:cNvPr>
          <p:cNvSpPr/>
          <p:nvPr/>
        </p:nvSpPr>
        <p:spPr>
          <a:xfrm>
            <a:off x="4226800" y="2767377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AFC47232-8B91-4DD9-A2A2-16D961CA37E4}"/>
              </a:ext>
            </a:extLst>
          </p:cNvPr>
          <p:cNvSpPr/>
          <p:nvPr/>
        </p:nvSpPr>
        <p:spPr>
          <a:xfrm>
            <a:off x="5333687" y="2767377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44F5763-0AD3-4D95-B291-9C55B8CC0603}"/>
              </a:ext>
            </a:extLst>
          </p:cNvPr>
          <p:cNvSpPr/>
          <p:nvPr/>
        </p:nvSpPr>
        <p:spPr>
          <a:xfrm>
            <a:off x="7547461" y="2743310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13" name="Conexão reta unidirecional 12">
            <a:extLst>
              <a:ext uri="{FF2B5EF4-FFF2-40B4-BE49-F238E27FC236}">
                <a16:creationId xmlns:a16="http://schemas.microsoft.com/office/drawing/2014/main" id="{039643C0-7854-4859-BB87-DC292A0859FF}"/>
              </a:ext>
            </a:extLst>
          </p:cNvPr>
          <p:cNvCxnSpPr/>
          <p:nvPr/>
        </p:nvCxnSpPr>
        <p:spPr>
          <a:xfrm flipH="1">
            <a:off x="5333687" y="1640049"/>
            <a:ext cx="742749" cy="3633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985CC1C5-5EBC-45DF-9ABD-A7BB94253153}"/>
              </a:ext>
            </a:extLst>
          </p:cNvPr>
          <p:cNvCxnSpPr>
            <a:cxnSpLocks/>
          </p:cNvCxnSpPr>
          <p:nvPr/>
        </p:nvCxnSpPr>
        <p:spPr>
          <a:xfrm>
            <a:off x="6567552" y="1635218"/>
            <a:ext cx="742749" cy="36337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C6A1A30E-5176-4C3B-8911-BFF61648D0B0}"/>
              </a:ext>
            </a:extLst>
          </p:cNvPr>
          <p:cNvCxnSpPr>
            <a:cxnSpLocks/>
          </p:cNvCxnSpPr>
          <p:nvPr/>
        </p:nvCxnSpPr>
        <p:spPr>
          <a:xfrm flipH="1">
            <a:off x="4732127" y="2343645"/>
            <a:ext cx="460400" cy="399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xão reta unidirecional 25">
            <a:extLst>
              <a:ext uri="{FF2B5EF4-FFF2-40B4-BE49-F238E27FC236}">
                <a16:creationId xmlns:a16="http://schemas.microsoft.com/office/drawing/2014/main" id="{731BD4D8-FD0E-40CD-97BF-0D68EE7C02BF}"/>
              </a:ext>
            </a:extLst>
          </p:cNvPr>
          <p:cNvCxnSpPr>
            <a:cxnSpLocks/>
          </p:cNvCxnSpPr>
          <p:nvPr/>
        </p:nvCxnSpPr>
        <p:spPr>
          <a:xfrm>
            <a:off x="5346441" y="2354542"/>
            <a:ext cx="517894" cy="38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xão reta unidirecional 28">
            <a:extLst>
              <a:ext uri="{FF2B5EF4-FFF2-40B4-BE49-F238E27FC236}">
                <a16:creationId xmlns:a16="http://schemas.microsoft.com/office/drawing/2014/main" id="{7C5318FD-8F55-42C3-98D1-CF6D751EBB70}"/>
              </a:ext>
            </a:extLst>
          </p:cNvPr>
          <p:cNvCxnSpPr>
            <a:cxnSpLocks/>
          </p:cNvCxnSpPr>
          <p:nvPr/>
        </p:nvCxnSpPr>
        <p:spPr>
          <a:xfrm>
            <a:off x="7519034" y="2343983"/>
            <a:ext cx="517894" cy="38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exão: Curva 31">
            <a:extLst>
              <a:ext uri="{FF2B5EF4-FFF2-40B4-BE49-F238E27FC236}">
                <a16:creationId xmlns:a16="http://schemas.microsoft.com/office/drawing/2014/main" id="{00DAEFB4-6E05-4997-969B-72D772C24B6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421061" y="2249961"/>
            <a:ext cx="1371710" cy="279134"/>
          </a:xfrm>
          <a:prstGeom prst="curvedConnector3">
            <a:avLst>
              <a:gd name="adj1" fmla="val -2087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exão: Curva 36">
            <a:extLst>
              <a:ext uri="{FF2B5EF4-FFF2-40B4-BE49-F238E27FC236}">
                <a16:creationId xmlns:a16="http://schemas.microsoft.com/office/drawing/2014/main" id="{61AE4096-346D-4766-8438-FAAC56F5A04C}"/>
              </a:ext>
            </a:extLst>
          </p:cNvPr>
          <p:cNvCxnSpPr>
            <a:cxnSpLocks/>
          </p:cNvCxnSpPr>
          <p:nvPr/>
        </p:nvCxnSpPr>
        <p:spPr>
          <a:xfrm rot="10800000">
            <a:off x="6440307" y="1702846"/>
            <a:ext cx="678248" cy="651697"/>
          </a:xfrm>
          <a:prstGeom prst="curvedConnector3">
            <a:avLst>
              <a:gd name="adj1" fmla="val 100738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exão: Curva 40">
            <a:extLst>
              <a:ext uri="{FF2B5EF4-FFF2-40B4-BE49-F238E27FC236}">
                <a16:creationId xmlns:a16="http://schemas.microsoft.com/office/drawing/2014/main" id="{B697234E-DCBD-45D5-897F-441D421EF559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37576" y="2597703"/>
            <a:ext cx="695483" cy="279134"/>
          </a:xfrm>
          <a:prstGeom prst="curvedConnector3">
            <a:avLst>
              <a:gd name="adj1" fmla="val -3442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xão: Curva 44">
            <a:extLst>
              <a:ext uri="{FF2B5EF4-FFF2-40B4-BE49-F238E27FC236}">
                <a16:creationId xmlns:a16="http://schemas.microsoft.com/office/drawing/2014/main" id="{7765016C-A8C7-4D07-B046-949E4B84B652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80340" y="2626176"/>
            <a:ext cx="704776" cy="240277"/>
          </a:xfrm>
          <a:prstGeom prst="curvedConnector3">
            <a:avLst>
              <a:gd name="adj1" fmla="val -34675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787F7D57-39CF-4708-97CA-736471739845}"/>
              </a:ext>
            </a:extLst>
          </p:cNvPr>
          <p:cNvSpPr txBox="1"/>
          <p:nvPr/>
        </p:nvSpPr>
        <p:spPr>
          <a:xfrm>
            <a:off x="5900779" y="990727"/>
            <a:ext cx="8563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9 &gt; 11 </a:t>
            </a:r>
            <a:r>
              <a:rPr lang="pt-PT" dirty="0">
                <a:solidFill>
                  <a:srgbClr val="FF0000"/>
                </a:solidFill>
              </a:rPr>
              <a:t>X</a:t>
            </a:r>
            <a:endParaRPr lang="pt-PT" dirty="0">
              <a:solidFill>
                <a:srgbClr val="00B050"/>
              </a:solidFill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B24C042-0483-462B-A8AB-AD82BC0B596B}"/>
              </a:ext>
            </a:extLst>
          </p:cNvPr>
          <p:cNvSpPr txBox="1"/>
          <p:nvPr/>
        </p:nvSpPr>
        <p:spPr>
          <a:xfrm>
            <a:off x="7408242" y="1655731"/>
            <a:ext cx="9701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11 &gt; 12</a:t>
            </a:r>
            <a:r>
              <a:rPr lang="pt-PT" dirty="0">
                <a:solidFill>
                  <a:srgbClr val="00B050"/>
                </a:solidFill>
              </a:rPr>
              <a:t> ✓</a:t>
            </a:r>
          </a:p>
        </p:txBody>
      </p:sp>
      <p:cxnSp>
        <p:nvCxnSpPr>
          <p:cNvPr id="34" name="Conexão: Curva 33">
            <a:extLst>
              <a:ext uri="{FF2B5EF4-FFF2-40B4-BE49-F238E27FC236}">
                <a16:creationId xmlns:a16="http://schemas.microsoft.com/office/drawing/2014/main" id="{286E1ACE-1FDE-4949-98D2-C13D13265D2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195072" y="2581392"/>
            <a:ext cx="704776" cy="240277"/>
          </a:xfrm>
          <a:prstGeom prst="curvedConnector3">
            <a:avLst>
              <a:gd name="adj1" fmla="val -34675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145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4039AC26-FEC9-43EB-A36F-2651425C8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9500" y="1184750"/>
            <a:ext cx="3731617" cy="3437100"/>
          </a:xfrm>
        </p:spPr>
        <p:txBody>
          <a:bodyPr/>
          <a:lstStyle/>
          <a:p>
            <a:pPr marL="149225" indent="0">
              <a:buNone/>
            </a:pPr>
            <a:r>
              <a:rPr lang="pt-PT" dirty="0">
                <a:latin typeface="Verdana" panose="020B0604030504040204" pitchFamily="34" charset="0"/>
                <a:ea typeface="Verdana" panose="020B0604030504040204" pitchFamily="34" charset="0"/>
              </a:rPr>
              <a:t>O mínimo vai ser o nó mais a esquerda que o seu ponteiro esquerdo aponte para </a:t>
            </a:r>
            <a:r>
              <a:rPr lang="pt-PT" dirty="0" err="1">
                <a:latin typeface="Verdana" panose="020B0604030504040204" pitchFamily="34" charset="0"/>
                <a:ea typeface="Verdana" panose="020B0604030504040204" pitchFamily="34" charset="0"/>
              </a:rPr>
              <a:t>null</a:t>
            </a:r>
            <a:r>
              <a:rPr lang="pt-PT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6687094-C55E-44C7-8A93-C6E31C08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Verdana" panose="020B0604030504040204" pitchFamily="34" charset="0"/>
                <a:ea typeface="Verdana" panose="020B0604030504040204" pitchFamily="34" charset="0"/>
              </a:rPr>
              <a:t>Encontrar o mínimo</a:t>
            </a:r>
            <a:endParaRPr lang="pt-PT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FBE8876-BABB-4D6E-858B-5C6AA9CA9DC8}"/>
              </a:ext>
            </a:extLst>
          </p:cNvPr>
          <p:cNvSpPr/>
          <p:nvPr/>
        </p:nvSpPr>
        <p:spPr>
          <a:xfrm>
            <a:off x="5824803" y="1322415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BE8FB73-FA5D-4B55-8D19-28B3C45EBF28}"/>
              </a:ext>
            </a:extLst>
          </p:cNvPr>
          <p:cNvSpPr/>
          <p:nvPr/>
        </p:nvSpPr>
        <p:spPr>
          <a:xfrm>
            <a:off x="4732126" y="2026011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04F1AC1-6D33-460B-A97D-E532F0166DAF}"/>
              </a:ext>
            </a:extLst>
          </p:cNvPr>
          <p:cNvSpPr/>
          <p:nvPr/>
        </p:nvSpPr>
        <p:spPr>
          <a:xfrm>
            <a:off x="6945900" y="2003422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FE41D68-D846-4504-8394-D4BD20A52C66}"/>
              </a:ext>
            </a:extLst>
          </p:cNvPr>
          <p:cNvSpPr/>
          <p:nvPr/>
        </p:nvSpPr>
        <p:spPr>
          <a:xfrm>
            <a:off x="4226800" y="2767377"/>
            <a:ext cx="1010652" cy="31763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5E2401A7-D27F-49E4-B373-152C10365C46}"/>
              </a:ext>
            </a:extLst>
          </p:cNvPr>
          <p:cNvSpPr/>
          <p:nvPr/>
        </p:nvSpPr>
        <p:spPr>
          <a:xfrm>
            <a:off x="5333687" y="2767377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6EAB36C-C3E4-448B-8B44-6E176146FE47}"/>
              </a:ext>
            </a:extLst>
          </p:cNvPr>
          <p:cNvSpPr/>
          <p:nvPr/>
        </p:nvSpPr>
        <p:spPr>
          <a:xfrm>
            <a:off x="6440574" y="2757749"/>
            <a:ext cx="1010652" cy="3176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B6EAA33A-25DC-4AE5-A4D7-8890EB1130E3}"/>
              </a:ext>
            </a:extLst>
          </p:cNvPr>
          <p:cNvSpPr/>
          <p:nvPr/>
        </p:nvSpPr>
        <p:spPr>
          <a:xfrm>
            <a:off x="7547461" y="2743310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13" name="Conexão reta unidirecional 12">
            <a:extLst>
              <a:ext uri="{FF2B5EF4-FFF2-40B4-BE49-F238E27FC236}">
                <a16:creationId xmlns:a16="http://schemas.microsoft.com/office/drawing/2014/main" id="{CB855F1B-5E8B-4A62-85EF-DAA56FCB48BC}"/>
              </a:ext>
            </a:extLst>
          </p:cNvPr>
          <p:cNvCxnSpPr/>
          <p:nvPr/>
        </p:nvCxnSpPr>
        <p:spPr>
          <a:xfrm flipH="1">
            <a:off x="5333687" y="1640049"/>
            <a:ext cx="742749" cy="363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xão reta unidirecional 13">
            <a:extLst>
              <a:ext uri="{FF2B5EF4-FFF2-40B4-BE49-F238E27FC236}">
                <a16:creationId xmlns:a16="http://schemas.microsoft.com/office/drawing/2014/main" id="{204A65A9-0E12-4B31-87D4-642F9763349C}"/>
              </a:ext>
            </a:extLst>
          </p:cNvPr>
          <p:cNvCxnSpPr>
            <a:cxnSpLocks/>
          </p:cNvCxnSpPr>
          <p:nvPr/>
        </p:nvCxnSpPr>
        <p:spPr>
          <a:xfrm>
            <a:off x="6567552" y="1635218"/>
            <a:ext cx="742749" cy="363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xão reta unidirecional 14">
            <a:extLst>
              <a:ext uri="{FF2B5EF4-FFF2-40B4-BE49-F238E27FC236}">
                <a16:creationId xmlns:a16="http://schemas.microsoft.com/office/drawing/2014/main" id="{B4C9300B-9FA6-4CC6-AD84-8E246196C9E4}"/>
              </a:ext>
            </a:extLst>
          </p:cNvPr>
          <p:cNvCxnSpPr>
            <a:cxnSpLocks/>
          </p:cNvCxnSpPr>
          <p:nvPr/>
        </p:nvCxnSpPr>
        <p:spPr>
          <a:xfrm flipH="1">
            <a:off x="4732127" y="2343645"/>
            <a:ext cx="460400" cy="399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xão reta unidirecional 15">
            <a:extLst>
              <a:ext uri="{FF2B5EF4-FFF2-40B4-BE49-F238E27FC236}">
                <a16:creationId xmlns:a16="http://schemas.microsoft.com/office/drawing/2014/main" id="{E2F34BA1-9006-461F-8BB0-B3D608E3E544}"/>
              </a:ext>
            </a:extLst>
          </p:cNvPr>
          <p:cNvCxnSpPr>
            <a:cxnSpLocks/>
          </p:cNvCxnSpPr>
          <p:nvPr/>
        </p:nvCxnSpPr>
        <p:spPr>
          <a:xfrm>
            <a:off x="5346441" y="2354542"/>
            <a:ext cx="517894" cy="38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F0A2BF20-2BA0-4957-B931-6C0E003A089D}"/>
              </a:ext>
            </a:extLst>
          </p:cNvPr>
          <p:cNvCxnSpPr>
            <a:cxnSpLocks/>
          </p:cNvCxnSpPr>
          <p:nvPr/>
        </p:nvCxnSpPr>
        <p:spPr>
          <a:xfrm>
            <a:off x="7519034" y="2343983"/>
            <a:ext cx="517894" cy="38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0B3D3BF1-5E78-4446-8C31-C4931A5D8343}"/>
              </a:ext>
            </a:extLst>
          </p:cNvPr>
          <p:cNvCxnSpPr>
            <a:cxnSpLocks/>
          </p:cNvCxnSpPr>
          <p:nvPr/>
        </p:nvCxnSpPr>
        <p:spPr>
          <a:xfrm flipH="1">
            <a:off x="6951472" y="2343645"/>
            <a:ext cx="460400" cy="399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xão: Curva 18">
            <a:extLst>
              <a:ext uri="{FF2B5EF4-FFF2-40B4-BE49-F238E27FC236}">
                <a16:creationId xmlns:a16="http://schemas.microsoft.com/office/drawing/2014/main" id="{1880CC75-D415-45CE-A67B-06757C869186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421061" y="2249961"/>
            <a:ext cx="1371710" cy="279134"/>
          </a:xfrm>
          <a:prstGeom prst="curvedConnector3">
            <a:avLst>
              <a:gd name="adj1" fmla="val -2087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xão: Curva 19">
            <a:extLst>
              <a:ext uri="{FF2B5EF4-FFF2-40B4-BE49-F238E27FC236}">
                <a16:creationId xmlns:a16="http://schemas.microsoft.com/office/drawing/2014/main" id="{A1AF6A2D-903C-4D7D-B349-2AB783C1B4D0}"/>
              </a:ext>
            </a:extLst>
          </p:cNvPr>
          <p:cNvCxnSpPr>
            <a:cxnSpLocks/>
          </p:cNvCxnSpPr>
          <p:nvPr/>
        </p:nvCxnSpPr>
        <p:spPr>
          <a:xfrm rot="16200000" flipV="1">
            <a:off x="5903467" y="2239677"/>
            <a:ext cx="1382170" cy="308498"/>
          </a:xfrm>
          <a:prstGeom prst="curvedConnector3">
            <a:avLst>
              <a:gd name="adj1" fmla="val -19639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xão: Curva 20">
            <a:extLst>
              <a:ext uri="{FF2B5EF4-FFF2-40B4-BE49-F238E27FC236}">
                <a16:creationId xmlns:a16="http://schemas.microsoft.com/office/drawing/2014/main" id="{F1205E06-AA92-4CE8-B95D-41B27D50DE7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37576" y="2597703"/>
            <a:ext cx="695483" cy="279134"/>
          </a:xfrm>
          <a:prstGeom prst="curvedConnector3">
            <a:avLst>
              <a:gd name="adj1" fmla="val -3442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xão: Curva 21">
            <a:extLst>
              <a:ext uri="{FF2B5EF4-FFF2-40B4-BE49-F238E27FC236}">
                <a16:creationId xmlns:a16="http://schemas.microsoft.com/office/drawing/2014/main" id="{7C852990-7B06-46FD-A333-294CFC23682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55110" y="2603743"/>
            <a:ext cx="695483" cy="279134"/>
          </a:xfrm>
          <a:prstGeom prst="curvedConnector3">
            <a:avLst>
              <a:gd name="adj1" fmla="val -3442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xão: Curva 22">
            <a:extLst>
              <a:ext uri="{FF2B5EF4-FFF2-40B4-BE49-F238E27FC236}">
                <a16:creationId xmlns:a16="http://schemas.microsoft.com/office/drawing/2014/main" id="{E524C154-AFC0-43C1-97DC-61E1B62EEAA2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80340" y="2626176"/>
            <a:ext cx="704776" cy="240277"/>
          </a:xfrm>
          <a:prstGeom prst="curvedConnector3">
            <a:avLst>
              <a:gd name="adj1" fmla="val -34675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xão: Curva 24">
            <a:extLst>
              <a:ext uri="{FF2B5EF4-FFF2-40B4-BE49-F238E27FC236}">
                <a16:creationId xmlns:a16="http://schemas.microsoft.com/office/drawing/2014/main" id="{24A60586-E737-47DA-BB39-C19A13D88138}"/>
              </a:ext>
            </a:extLst>
          </p:cNvPr>
          <p:cNvCxnSpPr>
            <a:cxnSpLocks/>
          </p:cNvCxnSpPr>
          <p:nvPr/>
        </p:nvCxnSpPr>
        <p:spPr>
          <a:xfrm rot="16200000" flipV="1">
            <a:off x="7313269" y="2641806"/>
            <a:ext cx="704776" cy="240277"/>
          </a:xfrm>
          <a:prstGeom prst="curvedConnector3">
            <a:avLst>
              <a:gd name="adj1" fmla="val -34675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9638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4039AC26-FEC9-43EB-A36F-2651425C8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9500" y="1184750"/>
            <a:ext cx="3821070" cy="3437100"/>
          </a:xfrm>
        </p:spPr>
        <p:txBody>
          <a:bodyPr/>
          <a:lstStyle/>
          <a:p>
            <a:pPr marL="149225" indent="0">
              <a:buNone/>
            </a:pPr>
            <a:r>
              <a:rPr lang="pt-PT" dirty="0">
                <a:latin typeface="Verdana" panose="020B0604030504040204" pitchFamily="34" charset="0"/>
                <a:ea typeface="Verdana" panose="020B0604030504040204" pitchFamily="34" charset="0"/>
              </a:rPr>
              <a:t>O máximo vai ser o nó mais a direita que o seu ponteiro direito aponte para </a:t>
            </a:r>
            <a:r>
              <a:rPr lang="pt-PT" dirty="0" err="1">
                <a:latin typeface="Verdana" panose="020B0604030504040204" pitchFamily="34" charset="0"/>
                <a:ea typeface="Verdana" panose="020B0604030504040204" pitchFamily="34" charset="0"/>
              </a:rPr>
              <a:t>null</a:t>
            </a:r>
            <a:r>
              <a:rPr lang="pt-PT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6687094-C55E-44C7-8A93-C6E31C08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Verdana" panose="020B0604030504040204" pitchFamily="34" charset="0"/>
                <a:ea typeface="Verdana" panose="020B0604030504040204" pitchFamily="34" charset="0"/>
              </a:rPr>
              <a:t>Encontrar o máximo</a:t>
            </a:r>
            <a:endParaRPr lang="pt-PT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CEE58A3F-6649-4BC4-8A53-C8834A1707AD}"/>
              </a:ext>
            </a:extLst>
          </p:cNvPr>
          <p:cNvSpPr/>
          <p:nvPr/>
        </p:nvSpPr>
        <p:spPr>
          <a:xfrm>
            <a:off x="5824803" y="1322415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65488CD-0712-4964-B2A7-C2980145EFB2}"/>
              </a:ext>
            </a:extLst>
          </p:cNvPr>
          <p:cNvSpPr/>
          <p:nvPr/>
        </p:nvSpPr>
        <p:spPr>
          <a:xfrm>
            <a:off x="4732126" y="2026011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9786019-DAC3-476A-9051-2028E13ECE2C}"/>
              </a:ext>
            </a:extLst>
          </p:cNvPr>
          <p:cNvSpPr/>
          <p:nvPr/>
        </p:nvSpPr>
        <p:spPr>
          <a:xfrm>
            <a:off x="6945900" y="2003422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12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51DBC92-476C-4474-B5B7-15E7A0756265}"/>
              </a:ext>
            </a:extLst>
          </p:cNvPr>
          <p:cNvSpPr/>
          <p:nvPr/>
        </p:nvSpPr>
        <p:spPr>
          <a:xfrm>
            <a:off x="4226800" y="2767377"/>
            <a:ext cx="1010652" cy="3176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D527410-9598-4D86-87D2-39A04A874473}"/>
              </a:ext>
            </a:extLst>
          </p:cNvPr>
          <p:cNvSpPr/>
          <p:nvPr/>
        </p:nvSpPr>
        <p:spPr>
          <a:xfrm>
            <a:off x="5333687" y="2767377"/>
            <a:ext cx="1010652" cy="3176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44BF638-0A05-430F-A5B3-879F8C8BEF32}"/>
              </a:ext>
            </a:extLst>
          </p:cNvPr>
          <p:cNvSpPr/>
          <p:nvPr/>
        </p:nvSpPr>
        <p:spPr>
          <a:xfrm>
            <a:off x="6440574" y="2757749"/>
            <a:ext cx="1010652" cy="31763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11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EC3F6548-27E4-4920-8660-CFC5E0944E34}"/>
              </a:ext>
            </a:extLst>
          </p:cNvPr>
          <p:cNvSpPr/>
          <p:nvPr/>
        </p:nvSpPr>
        <p:spPr>
          <a:xfrm>
            <a:off x="7547461" y="2743310"/>
            <a:ext cx="1010652" cy="31763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15</a:t>
            </a:r>
          </a:p>
        </p:txBody>
      </p:sp>
      <p:cxnSp>
        <p:nvCxnSpPr>
          <p:cNvPr id="13" name="Conexão reta unidirecional 12">
            <a:extLst>
              <a:ext uri="{FF2B5EF4-FFF2-40B4-BE49-F238E27FC236}">
                <a16:creationId xmlns:a16="http://schemas.microsoft.com/office/drawing/2014/main" id="{406F81DF-33B3-413E-86E2-2BC485142955}"/>
              </a:ext>
            </a:extLst>
          </p:cNvPr>
          <p:cNvCxnSpPr/>
          <p:nvPr/>
        </p:nvCxnSpPr>
        <p:spPr>
          <a:xfrm flipH="1">
            <a:off x="5333687" y="1640049"/>
            <a:ext cx="742749" cy="363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xão reta unidirecional 13">
            <a:extLst>
              <a:ext uri="{FF2B5EF4-FFF2-40B4-BE49-F238E27FC236}">
                <a16:creationId xmlns:a16="http://schemas.microsoft.com/office/drawing/2014/main" id="{24786146-78A9-4834-907D-6E61EC566756}"/>
              </a:ext>
            </a:extLst>
          </p:cNvPr>
          <p:cNvCxnSpPr>
            <a:cxnSpLocks/>
          </p:cNvCxnSpPr>
          <p:nvPr/>
        </p:nvCxnSpPr>
        <p:spPr>
          <a:xfrm>
            <a:off x="6567552" y="1635218"/>
            <a:ext cx="742749" cy="363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xão reta unidirecional 14">
            <a:extLst>
              <a:ext uri="{FF2B5EF4-FFF2-40B4-BE49-F238E27FC236}">
                <a16:creationId xmlns:a16="http://schemas.microsoft.com/office/drawing/2014/main" id="{D4F0E2C6-26F8-4473-A090-050C97BE65A9}"/>
              </a:ext>
            </a:extLst>
          </p:cNvPr>
          <p:cNvCxnSpPr>
            <a:cxnSpLocks/>
          </p:cNvCxnSpPr>
          <p:nvPr/>
        </p:nvCxnSpPr>
        <p:spPr>
          <a:xfrm flipH="1">
            <a:off x="4732127" y="2343645"/>
            <a:ext cx="460400" cy="399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exão reta unidirecional 15">
            <a:extLst>
              <a:ext uri="{FF2B5EF4-FFF2-40B4-BE49-F238E27FC236}">
                <a16:creationId xmlns:a16="http://schemas.microsoft.com/office/drawing/2014/main" id="{6E32EE2D-1E2D-41A4-8987-47A4D59C5946}"/>
              </a:ext>
            </a:extLst>
          </p:cNvPr>
          <p:cNvCxnSpPr>
            <a:cxnSpLocks/>
          </p:cNvCxnSpPr>
          <p:nvPr/>
        </p:nvCxnSpPr>
        <p:spPr>
          <a:xfrm>
            <a:off x="5346441" y="2354542"/>
            <a:ext cx="517894" cy="38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9FAE448D-7315-444F-A445-ACE28AB69C48}"/>
              </a:ext>
            </a:extLst>
          </p:cNvPr>
          <p:cNvCxnSpPr>
            <a:cxnSpLocks/>
          </p:cNvCxnSpPr>
          <p:nvPr/>
        </p:nvCxnSpPr>
        <p:spPr>
          <a:xfrm>
            <a:off x="7519034" y="2343983"/>
            <a:ext cx="517894" cy="3887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exão reta unidirecional 17">
            <a:extLst>
              <a:ext uri="{FF2B5EF4-FFF2-40B4-BE49-F238E27FC236}">
                <a16:creationId xmlns:a16="http://schemas.microsoft.com/office/drawing/2014/main" id="{9910AFC9-802D-4DB3-AA60-F8B6E7552048}"/>
              </a:ext>
            </a:extLst>
          </p:cNvPr>
          <p:cNvCxnSpPr>
            <a:cxnSpLocks/>
          </p:cNvCxnSpPr>
          <p:nvPr/>
        </p:nvCxnSpPr>
        <p:spPr>
          <a:xfrm flipH="1">
            <a:off x="6951472" y="2343645"/>
            <a:ext cx="460400" cy="399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xão: Curva 18">
            <a:extLst>
              <a:ext uri="{FF2B5EF4-FFF2-40B4-BE49-F238E27FC236}">
                <a16:creationId xmlns:a16="http://schemas.microsoft.com/office/drawing/2014/main" id="{45C3EA12-9C32-46DB-9497-9438433B871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421061" y="2249961"/>
            <a:ext cx="1371710" cy="279134"/>
          </a:xfrm>
          <a:prstGeom prst="curvedConnector3">
            <a:avLst>
              <a:gd name="adj1" fmla="val -2087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xão: Curva 19">
            <a:extLst>
              <a:ext uri="{FF2B5EF4-FFF2-40B4-BE49-F238E27FC236}">
                <a16:creationId xmlns:a16="http://schemas.microsoft.com/office/drawing/2014/main" id="{E8CF6EC9-B862-4E59-A018-8A265BCCDEBA}"/>
              </a:ext>
            </a:extLst>
          </p:cNvPr>
          <p:cNvCxnSpPr>
            <a:cxnSpLocks/>
          </p:cNvCxnSpPr>
          <p:nvPr/>
        </p:nvCxnSpPr>
        <p:spPr>
          <a:xfrm rot="16200000" flipV="1">
            <a:off x="5903467" y="2239677"/>
            <a:ext cx="1382170" cy="308498"/>
          </a:xfrm>
          <a:prstGeom prst="curvedConnector3">
            <a:avLst>
              <a:gd name="adj1" fmla="val -19639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xão: Curva 20">
            <a:extLst>
              <a:ext uri="{FF2B5EF4-FFF2-40B4-BE49-F238E27FC236}">
                <a16:creationId xmlns:a16="http://schemas.microsoft.com/office/drawing/2014/main" id="{5DED91DE-6DE7-4E5F-9EB1-C46BAF8A70E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737576" y="2597703"/>
            <a:ext cx="695483" cy="279134"/>
          </a:xfrm>
          <a:prstGeom prst="curvedConnector3">
            <a:avLst>
              <a:gd name="adj1" fmla="val -3442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xão: Curva 21">
            <a:extLst>
              <a:ext uri="{FF2B5EF4-FFF2-40B4-BE49-F238E27FC236}">
                <a16:creationId xmlns:a16="http://schemas.microsoft.com/office/drawing/2014/main" id="{27B4C8D0-71EE-4199-B6F4-285AE0F4E8A3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6955110" y="2603743"/>
            <a:ext cx="695483" cy="279134"/>
          </a:xfrm>
          <a:prstGeom prst="curvedConnector3">
            <a:avLst>
              <a:gd name="adj1" fmla="val -34422"/>
            </a:avLst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xão: Curva 22">
            <a:extLst>
              <a:ext uri="{FF2B5EF4-FFF2-40B4-BE49-F238E27FC236}">
                <a16:creationId xmlns:a16="http://schemas.microsoft.com/office/drawing/2014/main" id="{76B128ED-6D76-41ED-90C8-D12CC7CF32D1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80340" y="2626176"/>
            <a:ext cx="704776" cy="240277"/>
          </a:xfrm>
          <a:prstGeom prst="curvedConnector3">
            <a:avLst>
              <a:gd name="adj1" fmla="val -34675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xão: Curva 23">
            <a:extLst>
              <a:ext uri="{FF2B5EF4-FFF2-40B4-BE49-F238E27FC236}">
                <a16:creationId xmlns:a16="http://schemas.microsoft.com/office/drawing/2014/main" id="{A17C7157-106D-42EB-887E-A90F542A9391}"/>
              </a:ext>
            </a:extLst>
          </p:cNvPr>
          <p:cNvCxnSpPr>
            <a:cxnSpLocks/>
          </p:cNvCxnSpPr>
          <p:nvPr/>
        </p:nvCxnSpPr>
        <p:spPr>
          <a:xfrm rot="16200000" flipV="1">
            <a:off x="7313269" y="2641806"/>
            <a:ext cx="704776" cy="240277"/>
          </a:xfrm>
          <a:prstGeom prst="curvedConnector3">
            <a:avLst>
              <a:gd name="adj1" fmla="val -34675"/>
            </a:avLst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4992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4039AC26-FEC9-43EB-A36F-2651425C87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9500" y="1184750"/>
            <a:ext cx="7542514" cy="3437100"/>
          </a:xfrm>
        </p:spPr>
        <p:txBody>
          <a:bodyPr/>
          <a:lstStyle/>
          <a:p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De, P., &amp; Ghosh, A. (1979). A threaded tree data structure for a list processing language. 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</a:rPr>
              <a:t>Information Processing Letters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</a:rPr>
              <a:t>9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(3), 133–138. </a:t>
            </a:r>
            <a:r>
              <a:rPr lang="en-US" dirty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https://doi.org/10.1016/0020-0190(79)90068-1</a:t>
            </a:r>
            <a:endParaRPr lang="en-US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pt-PT" dirty="0" err="1">
                <a:latin typeface="Verdana" panose="020B0604030504040204" pitchFamily="34" charset="0"/>
                <a:ea typeface="Verdana" panose="020B0604030504040204" pitchFamily="34" charset="0"/>
              </a:rPr>
              <a:t>Threaded</a:t>
            </a:r>
            <a:r>
              <a:rPr lang="pt-PT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PT" dirty="0" err="1">
                <a:latin typeface="Verdana" panose="020B0604030504040204" pitchFamily="34" charset="0"/>
                <a:ea typeface="Verdana" panose="020B0604030504040204" pitchFamily="34" charset="0"/>
              </a:rPr>
              <a:t>Binary</a:t>
            </a:r>
            <a:r>
              <a:rPr lang="pt-PT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PT" dirty="0" err="1">
                <a:latin typeface="Verdana" panose="020B0604030504040204" pitchFamily="34" charset="0"/>
                <a:ea typeface="Verdana" panose="020B0604030504040204" pitchFamily="34" charset="0"/>
              </a:rPr>
              <a:t>Tree</a:t>
            </a:r>
            <a:r>
              <a:rPr lang="pt-PT" dirty="0">
                <a:latin typeface="Verdana" panose="020B0604030504040204" pitchFamily="34" charset="0"/>
                <a:ea typeface="Verdana" panose="020B0604030504040204" pitchFamily="34" charset="0"/>
              </a:rPr>
              <a:t>. (</a:t>
            </a:r>
            <a:r>
              <a:rPr lang="pt-PT" dirty="0" err="1">
                <a:latin typeface="Verdana" panose="020B0604030504040204" pitchFamily="34" charset="0"/>
                <a:ea typeface="Verdana" panose="020B0604030504040204" pitchFamily="34" charset="0"/>
              </a:rPr>
              <a:t>s.d</a:t>
            </a:r>
            <a:r>
              <a:rPr lang="pt-PT" dirty="0">
                <a:latin typeface="Verdana" panose="020B0604030504040204" pitchFamily="34" charset="0"/>
                <a:ea typeface="Verdana" panose="020B0604030504040204" pitchFamily="34" charset="0"/>
              </a:rPr>
              <a:t>.). </a:t>
            </a:r>
            <a:r>
              <a:rPr lang="pt-PT" dirty="0" err="1">
                <a:latin typeface="Verdana" panose="020B0604030504040204" pitchFamily="34" charset="0"/>
                <a:ea typeface="Verdana" panose="020B0604030504040204" pitchFamily="34" charset="0"/>
              </a:rPr>
              <a:t>GeeksforGeeks</a:t>
            </a:r>
            <a:r>
              <a:rPr lang="pt-PT" dirty="0">
                <a:latin typeface="Verdana" panose="020B0604030504040204" pitchFamily="34" charset="0"/>
                <a:ea typeface="Verdana" panose="020B0604030504040204" pitchFamily="34" charset="0"/>
              </a:rPr>
              <a:t>. Acesso em Dezembro de 2025, de </a:t>
            </a:r>
            <a:r>
              <a:rPr lang="pt-PT" dirty="0">
                <a:latin typeface="Verdana" panose="020B0604030504040204" pitchFamily="34" charset="0"/>
                <a:ea typeface="Verdana" panose="020B0604030504040204" pitchFamily="34" charset="0"/>
                <a:hlinkClick r:id="rId4"/>
              </a:rPr>
              <a:t>https://www.geeksforgeeks.org/dsa/threaded-binary-tree/</a:t>
            </a:r>
            <a:endParaRPr lang="pt-PT" dirty="0">
              <a:solidFill>
                <a:srgbClr val="00206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A6687094-C55E-44C7-8A93-C6E31C08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b="1" dirty="0">
                <a:latin typeface="Verdana" panose="020B0604030504040204" pitchFamily="34" charset="0"/>
                <a:ea typeface="Verdana" panose="020B0604030504040204" pitchFamily="34" charset="0"/>
              </a:rPr>
              <a:t>Bibliografia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90608384"/>
      </p:ext>
    </p:extLst>
  </p:cSld>
  <p:clrMapOvr>
    <a:masterClrMapping/>
  </p:clrMapOvr>
</p:sld>
</file>

<file path=ppt/theme/theme1.xml><?xml version="1.0" encoding="utf-8"?>
<a:theme xmlns:a="http://schemas.openxmlformats.org/drawingml/2006/main" name="White Research Center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FFFF"/>
      </a:accent1>
      <a:accent2>
        <a:srgbClr val="000000"/>
      </a:accent2>
      <a:accent3>
        <a:srgbClr val="F3F3F3"/>
      </a:accent3>
      <a:accent4>
        <a:srgbClr val="999999"/>
      </a:accent4>
      <a:accent5>
        <a:srgbClr val="CCCCCC"/>
      </a:accent5>
      <a:accent6>
        <a:srgbClr val="E4E4E4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1704</Words>
  <Application>Microsoft Office PowerPoint</Application>
  <PresentationFormat>Apresentação no Ecrã (16:9)</PresentationFormat>
  <Paragraphs>293</Paragraphs>
  <Slides>17</Slides>
  <Notes>15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17</vt:i4>
      </vt:variant>
    </vt:vector>
  </HeadingPairs>
  <TitlesOfParts>
    <vt:vector size="25" baseType="lpstr">
      <vt:lpstr>Fira Sans Condensed</vt:lpstr>
      <vt:lpstr>Arial</vt:lpstr>
      <vt:lpstr>Verdana</vt:lpstr>
      <vt:lpstr>Fira Sans Condensed ExtraBold</vt:lpstr>
      <vt:lpstr>Karla</vt:lpstr>
      <vt:lpstr>Consolas</vt:lpstr>
      <vt:lpstr>Muli</vt:lpstr>
      <vt:lpstr>White Research Center XL by Slidesgo</vt:lpstr>
      <vt:lpstr>Threaded Binary Trees</vt:lpstr>
      <vt:lpstr>Objetivo desta árvore </vt:lpstr>
      <vt:lpstr>Single Threaded</vt:lpstr>
      <vt:lpstr>Double Threaded</vt:lpstr>
      <vt:lpstr>Operações</vt:lpstr>
      <vt:lpstr>Pesquisa</vt:lpstr>
      <vt:lpstr>Encontrar sucessor/predecessor</vt:lpstr>
      <vt:lpstr>Inserção</vt:lpstr>
      <vt:lpstr>Inserção</vt:lpstr>
      <vt:lpstr>Inserção</vt:lpstr>
      <vt:lpstr>Inserção</vt:lpstr>
      <vt:lpstr>Remoção</vt:lpstr>
      <vt:lpstr>Remoção</vt:lpstr>
      <vt:lpstr>Remoção</vt:lpstr>
      <vt:lpstr>Encontrar o mínimo</vt:lpstr>
      <vt:lpstr>Encontrar o máximo</vt:lpstr>
      <vt:lpstr>Bibliografia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Threaded Binary Trees</dc:title>
  <dc:creator>Tiago Filipe</dc:creator>
  <cp:lastModifiedBy>Tiago Filipe</cp:lastModifiedBy>
  <cp:revision>31</cp:revision>
  <dcterms:modified xsi:type="dcterms:W3CDTF">2025-12-14T01:58:44Z</dcterms:modified>
</cp:coreProperties>
</file>
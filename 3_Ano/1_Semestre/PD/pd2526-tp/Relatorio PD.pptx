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notesMasterIdLst>
    <p:notesMasterId r:id="rId71"/>
  </p:notesMasterIdLst>
  <p:sldIdLst>
    <p:sldId id="256" r:id="rId3"/>
    <p:sldId id="257" r:id="rId4"/>
    <p:sldId id="260" r:id="rId5"/>
    <p:sldId id="258" r:id="rId6"/>
    <p:sldId id="270" r:id="rId7"/>
    <p:sldId id="267" r:id="rId8"/>
    <p:sldId id="271" r:id="rId9"/>
    <p:sldId id="269" r:id="rId10"/>
    <p:sldId id="272" r:id="rId11"/>
    <p:sldId id="268" r:id="rId12"/>
    <p:sldId id="273" r:id="rId13"/>
    <p:sldId id="261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62" r:id="rId22"/>
    <p:sldId id="281" r:id="rId23"/>
    <p:sldId id="318" r:id="rId24"/>
    <p:sldId id="282" r:id="rId25"/>
    <p:sldId id="325" r:id="rId26"/>
    <p:sldId id="317" r:id="rId27"/>
    <p:sldId id="315" r:id="rId28"/>
    <p:sldId id="283" r:id="rId29"/>
    <p:sldId id="284" r:id="rId30"/>
    <p:sldId id="285" r:id="rId31"/>
    <p:sldId id="323" r:id="rId32"/>
    <p:sldId id="286" r:id="rId33"/>
    <p:sldId id="287" r:id="rId34"/>
    <p:sldId id="288" r:id="rId35"/>
    <p:sldId id="263" r:id="rId36"/>
    <p:sldId id="289" r:id="rId37"/>
    <p:sldId id="310" r:id="rId38"/>
    <p:sldId id="312" r:id="rId39"/>
    <p:sldId id="314" r:id="rId40"/>
    <p:sldId id="322" r:id="rId41"/>
    <p:sldId id="311" r:id="rId42"/>
    <p:sldId id="319" r:id="rId43"/>
    <p:sldId id="320" r:id="rId44"/>
    <p:sldId id="264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65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26" r:id="rId67"/>
    <p:sldId id="328" r:id="rId68"/>
    <p:sldId id="329" r:id="rId69"/>
    <p:sldId id="330" r:id="rId70"/>
  </p:sldIdLst>
  <p:sldSz cx="9144000" cy="5143500" type="screen16x9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5D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Destaqu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 varScale="1">
        <p:scale>
          <a:sx n="99" d="100"/>
          <a:sy n="99" d="100"/>
        </p:scale>
        <p:origin x="7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84FFA4-F871-4426-9674-D4FC96A9B00C}" type="datetimeFigureOut">
              <a:rPr lang="pt-PT" smtClean="0"/>
              <a:t>08/12/2025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E14DF-D405-4442-8E7F-D505DA1ED38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70082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5E14DF-D405-4442-8E7F-D505DA1ED382}" type="slidenum">
              <a:rPr lang="pt-PT" smtClean="0"/>
              <a:t>31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875329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E3148-6EF6-F713-4E74-902996CF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B1A67EE-43E3-FEFC-00A0-9715407C8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7CE028FD-6070-08EB-1FF2-1B3D1A008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63529A79-2EE0-23AB-70BF-4D9E9B75A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5E14DF-D405-4442-8E7F-D505DA1ED382}" type="slidenum">
              <a:rPr lang="pt-PT" smtClean="0"/>
              <a:t>32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7386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;p2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28600" y="1102320"/>
            <a:ext cx="8686440" cy="1646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7;p11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52;p13"/>
          <p:cNvPicPr/>
          <p:nvPr/>
        </p:nvPicPr>
        <p:blipFill>
          <a:blip r:embed="rId2"/>
          <a:srcRect l="961" t="922" r="950" b="932"/>
          <a:stretch/>
        </p:blipFill>
        <p:spPr>
          <a:xfrm flipH="1">
            <a:off x="5400" y="0"/>
            <a:ext cx="913860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7034760" y="2030040"/>
            <a:ext cx="62532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2498400" y="2030040"/>
            <a:ext cx="62532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231120" y="2030040"/>
            <a:ext cx="62424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4766400" y="2030040"/>
            <a:ext cx="62532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title"/>
          </p:nvPr>
        </p:nvSpPr>
        <p:spPr>
          <a:xfrm>
            <a:off x="2499840" y="3377160"/>
            <a:ext cx="62424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title"/>
          </p:nvPr>
        </p:nvSpPr>
        <p:spPr>
          <a:xfrm>
            <a:off x="4767480" y="3377160"/>
            <a:ext cx="62424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title"/>
          </p:nvPr>
        </p:nvSpPr>
        <p:spPr>
          <a:xfrm>
            <a:off x="7034760" y="3377160"/>
            <a:ext cx="62424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9"/>
          <p:cNvSpPr>
            <a:spLocks noGrp="1"/>
          </p:cNvSpPr>
          <p:nvPr>
            <p:ph type="title"/>
          </p:nvPr>
        </p:nvSpPr>
        <p:spPr>
          <a:xfrm>
            <a:off x="232200" y="3377160"/>
            <a:ext cx="624240" cy="48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71;p14"/>
          <p:cNvPicPr/>
          <p:nvPr/>
        </p:nvPicPr>
        <p:blipFill>
          <a:blip r:embed="rId2"/>
          <a:srcRect t="417" r="832" b="41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1051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75;p15"/>
          <p:cNvPicPr/>
          <p:nvPr/>
        </p:nvPicPr>
        <p:blipFill>
          <a:blip r:embed="rId2"/>
          <a:srcRect l="513" r="513" b="1854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3364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228600" y="1370160"/>
            <a:ext cx="3697560" cy="354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572360" y="1524960"/>
            <a:ext cx="4236840" cy="3125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0;p16"/>
          <p:cNvPicPr/>
          <p:nvPr/>
        </p:nvPicPr>
        <p:blipFill>
          <a:blip r:embed="rId2"/>
          <a:srcRect l="1755" t="932" r="98" b="92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83;p17"/>
          <p:cNvPicPr/>
          <p:nvPr/>
        </p:nvPicPr>
        <p:blipFill>
          <a:blip r:embed="rId2"/>
          <a:srcRect t="417" r="832" b="41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228600" y="3336480"/>
            <a:ext cx="1634760" cy="119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4882680" y="2006280"/>
            <a:ext cx="1634760" cy="119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title"/>
          </p:nvPr>
        </p:nvSpPr>
        <p:spPr>
          <a:xfrm>
            <a:off x="4882680" y="3336480"/>
            <a:ext cx="1634760" cy="119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16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228600" y="462240"/>
            <a:ext cx="8686440" cy="58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93;p18"/>
          <p:cNvPicPr/>
          <p:nvPr/>
        </p:nvPicPr>
        <p:blipFill>
          <a:blip r:embed="rId2"/>
          <a:srcRect l="1755" t="942" r="98" b="92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0" y="3398760"/>
            <a:ext cx="59076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title"/>
          </p:nvPr>
        </p:nvSpPr>
        <p:spPr>
          <a:xfrm>
            <a:off x="228600" y="3398760"/>
            <a:ext cx="59076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title"/>
          </p:nvPr>
        </p:nvSpPr>
        <p:spPr>
          <a:xfrm>
            <a:off x="228600" y="2512800"/>
            <a:ext cx="58968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4572000" y="2512800"/>
            <a:ext cx="59076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title"/>
          </p:nvPr>
        </p:nvSpPr>
        <p:spPr>
          <a:xfrm>
            <a:off x="228600" y="1626840"/>
            <a:ext cx="59076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title"/>
          </p:nvPr>
        </p:nvSpPr>
        <p:spPr>
          <a:xfrm>
            <a:off x="4572000" y="1626840"/>
            <a:ext cx="590760" cy="736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dk2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title"/>
          </p:nvPr>
        </p:nvSpPr>
        <p:spPr>
          <a:xfrm>
            <a:off x="228600" y="462240"/>
            <a:ext cx="8686440" cy="58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108;p19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35400" y="3071520"/>
            <a:ext cx="3877920" cy="89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title"/>
          </p:nvPr>
        </p:nvSpPr>
        <p:spPr>
          <a:xfrm>
            <a:off x="4630320" y="1858680"/>
            <a:ext cx="3877920" cy="898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114;p20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767840" y="1742400"/>
            <a:ext cx="3737520" cy="1104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2" name="Google Shape;117;p20"/>
          <p:cNvSpPr/>
          <p:nvPr/>
        </p:nvSpPr>
        <p:spPr>
          <a:xfrm>
            <a:off x="5591520" y="2936520"/>
            <a:ext cx="2913840" cy="739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CREDITS: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This presentation template was created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  <a:hlinkClick r:id="rId3"/>
              </a:rPr>
              <a:t>Slidesgo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  <a:hlinkClick r:id="rId4"/>
              </a:rPr>
              <a:t>Freepik</a:t>
            </a:r>
            <a:r>
              <a:rPr lang="en" sz="1000" b="0" u="none" strike="noStrike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13;p3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73720" y="3070440"/>
            <a:ext cx="3350520" cy="187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7007040" y="161028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119;p21"/>
          <p:cNvPicPr/>
          <p:nvPr/>
        </p:nvPicPr>
        <p:blipFill>
          <a:blip r:embed="rId2"/>
          <a:srcRect l="1755" t="932" r="98" b="92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121;p22"/>
          <p:cNvPicPr/>
          <p:nvPr/>
        </p:nvPicPr>
        <p:blipFill>
          <a:blip r:embed="rId2"/>
          <a:srcRect l="827" t="827" r="827" b="827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23;p23"/>
          <p:cNvPicPr/>
          <p:nvPr/>
        </p:nvPicPr>
        <p:blipFill>
          <a:blip r:embed="rId2"/>
          <a:srcRect t="417" r="832" b="41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17;p4"/>
          <p:cNvPicPr/>
          <p:nvPr/>
        </p:nvPicPr>
        <p:blipFill>
          <a:blip r:embed="rId2"/>
          <a:srcRect t="417" r="832" b="41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PlaceHolder 1"/>
          <p:cNvSpPr>
            <a:spLocks noGrp="1"/>
          </p:cNvSpPr>
          <p:nvPr>
            <p:ph type="body"/>
          </p:nvPr>
        </p:nvSpPr>
        <p:spPr>
          <a:xfrm>
            <a:off x="5576400" y="3472920"/>
            <a:ext cx="2530080" cy="44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21;p5"/>
          <p:cNvPicPr/>
          <p:nvPr/>
        </p:nvPicPr>
        <p:blipFill>
          <a:blip r:embed="rId2"/>
          <a:srcRect l="1755" t="932" r="98" b="932"/>
          <a:stretch/>
        </p:blipFill>
        <p:spPr>
          <a:xfrm flipH="1">
            <a:off x="36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3112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28;p6"/>
          <p:cNvPicPr/>
          <p:nvPr/>
        </p:nvPicPr>
        <p:blipFill>
          <a:blip r:embed="rId2"/>
          <a:srcRect t="417" b="417"/>
          <a:stretch/>
        </p:blipFill>
        <p:spPr>
          <a:xfrm>
            <a:off x="0" y="0"/>
            <a:ext cx="922032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31;p7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36;p8"/>
          <p:cNvPicPr/>
          <p:nvPr/>
        </p:nvPicPr>
        <p:blipFill>
          <a:blip r:embed="rId2"/>
          <a:srcRect l="827" t="827" r="827" b="827"/>
          <a:stretch/>
        </p:blipFill>
        <p:spPr>
          <a:xfrm>
            <a:off x="0" y="0"/>
            <a:ext cx="914364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39;p9"/>
          <p:cNvPicPr/>
          <p:nvPr/>
        </p:nvPicPr>
        <p:blipFill>
          <a:blip r:embed="rId2"/>
          <a:srcRect t="417" r="832" b="417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28600" y="462240"/>
            <a:ext cx="8686440" cy="58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6" name="PlaceHolder 2"/>
          <p:cNvSpPr>
            <a:spLocks noGrp="1"/>
          </p:cNvSpPr>
          <p:nvPr>
            <p:ph type="title"/>
          </p:nvPr>
        </p:nvSpPr>
        <p:spPr>
          <a:xfrm>
            <a:off x="228600" y="4549680"/>
            <a:ext cx="3658320" cy="365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129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132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rincipais exemplos de sistemas distribuídos: entendendo sua funcionalidade  | Hivenet">
            <a:extLst>
              <a:ext uri="{FF2B5EF4-FFF2-40B4-BE49-F238E27FC236}">
                <a16:creationId xmlns:a16="http://schemas.microsoft.com/office/drawing/2014/main" id="{03BF0FC5-145F-47A2-9E78-98458DF2F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1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28600" y="143692"/>
            <a:ext cx="8686440" cy="71439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4500" dirty="0">
                <a:solidFill>
                  <a:schemeClr val="dk1"/>
                </a:solidFill>
                <a:latin typeface="Figtree"/>
              </a:rPr>
              <a:t>Programação Distribuída</a:t>
            </a:r>
            <a:endParaRPr lang="pt-PT" sz="4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6360325" y="2930298"/>
            <a:ext cx="2783675" cy="1742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1600" b="0" u="none" strike="noStrike" noProof="0" dirty="0">
                <a:solidFill>
                  <a:schemeClr val="dk1"/>
                </a:solidFill>
                <a:effectLst/>
                <a:uFillTx/>
                <a:latin typeface="Karla"/>
                <a:ea typeface="Karla"/>
              </a:rPr>
              <a:t>Sistema Distribuído 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1600" b="0" u="none" strike="noStrike" noProof="0" dirty="0">
                <a:solidFill>
                  <a:schemeClr val="dk1"/>
                </a:solidFill>
                <a:effectLst/>
                <a:uFillTx/>
                <a:latin typeface="Karla"/>
              </a:rPr>
              <a:t>David Correia – 2023140410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1600" dirty="0">
                <a:solidFill>
                  <a:schemeClr val="dk1"/>
                </a:solidFill>
                <a:latin typeface="Karla"/>
              </a:rPr>
              <a:t>Tiago Matos – 2015009663</a:t>
            </a: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1600" b="0" u="none" strike="noStrike" noProof="0" dirty="0">
                <a:solidFill>
                  <a:schemeClr val="dk1"/>
                </a:solidFill>
                <a:effectLst/>
                <a:uFillTx/>
                <a:latin typeface="Karla"/>
              </a:rPr>
              <a:t>Tiago </a:t>
            </a:r>
            <a:r>
              <a:rPr lang="pt-PT" sz="1600" dirty="0">
                <a:solidFill>
                  <a:schemeClr val="dk1"/>
                </a:solidFill>
                <a:latin typeface="Karla"/>
              </a:rPr>
              <a:t>Filipe – 2019112767 </a:t>
            </a:r>
            <a:endParaRPr lang="pt-PT" sz="16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74" name="Google Shape;141;p28"/>
          <p:cNvCxnSpPr>
            <a:cxnSpLocks/>
          </p:cNvCxnSpPr>
          <p:nvPr/>
        </p:nvCxnSpPr>
        <p:spPr>
          <a:xfrm>
            <a:off x="6283234" y="3276463"/>
            <a:ext cx="2860766" cy="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Introdução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/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8A592EB9-9155-E1C8-3BA6-B161199A3833}"/>
              </a:ext>
            </a:extLst>
          </p:cNvPr>
          <p:cNvSpPr txBox="1"/>
          <p:nvPr/>
        </p:nvSpPr>
        <p:spPr>
          <a:xfrm>
            <a:off x="228059" y="875211"/>
            <a:ext cx="497748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Este relatório descreve o trabalho prático desenvolvido no âmbito da unidade curricular de Programação Distribuída, com o objetivo de construir um sistema distribuído para a gestão e realização de perguntas de escolhas múltiplas em contexto de aula. O trabalho esta dividido em 6 partes: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P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/>
              <a:t>Serviço de Diretoria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/>
              <a:t>Servidor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/>
              <a:t>Cliente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 err="1"/>
              <a:t>Packet</a:t>
            </a:r>
            <a:r>
              <a:rPr lang="pt-PT" sz="1400" dirty="0"/>
              <a:t> </a:t>
            </a:r>
            <a:r>
              <a:rPr lang="pt-PT" sz="1400" dirty="0" err="1"/>
              <a:t>Library</a:t>
            </a:r>
            <a:endParaRPr lang="pt-PT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/>
              <a:t>API 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/>
              <a:t>Interface RMI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PT" sz="1400" dirty="0"/>
              <a:t>Manual de Utilizador</a:t>
            </a:r>
          </a:p>
        </p:txBody>
      </p:sp>
      <p:pic>
        <p:nvPicPr>
          <p:cNvPr id="7" name="Imagem 6" descr="Uma imagem com diagrama, desenho, esboço, file&#10;&#10;Os conteúdos gerados por IA podem estar incorretos.">
            <a:extLst>
              <a:ext uri="{FF2B5EF4-FFF2-40B4-BE49-F238E27FC236}">
                <a16:creationId xmlns:a16="http://schemas.microsoft.com/office/drawing/2014/main" id="{21E20B67-8319-C77D-02BC-4FFED65D7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082" y="1103811"/>
            <a:ext cx="3534038" cy="35648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AE0DB-F87B-844C-47FF-6DF503232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3C2382A7-42A7-0DDE-6713-159B92AD7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Estrutura do projeto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D93422C8-9D30-8473-5943-CE349632B157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EE3C21-611E-02D4-F003-AA22636FEE6D}"/>
              </a:ext>
            </a:extLst>
          </p:cNvPr>
          <p:cNvSpPr txBox="1"/>
          <p:nvPr/>
        </p:nvSpPr>
        <p:spPr>
          <a:xfrm>
            <a:off x="228059" y="875211"/>
            <a:ext cx="497748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 dirty="0"/>
              <a:t>Serviço de Diretoria: </a:t>
            </a:r>
            <a:r>
              <a:rPr lang="pt-PT" sz="1400" dirty="0"/>
              <a:t>Servidor que gere a lista de servidores disponíveis, indica qual destes é o servidor ativo e indica a comunicação do servidor ativo com o cliente através de uma comunicação UDP.</a:t>
            </a:r>
          </a:p>
          <a:p>
            <a:r>
              <a:rPr lang="pt-PT" sz="1400" b="1" dirty="0"/>
              <a:t>Servidor: </a:t>
            </a:r>
            <a:r>
              <a:rPr lang="pt-PT" sz="1400" dirty="0"/>
              <a:t>O servidor é responsável pela logica do sistema, recorrendo a uma base de dados local </a:t>
            </a:r>
            <a:r>
              <a:rPr lang="pt-PT" sz="1400" dirty="0" err="1"/>
              <a:t>SQLite</a:t>
            </a:r>
            <a:r>
              <a:rPr lang="pt-PT" sz="1400" dirty="0"/>
              <a:t> para persistência. O sistema suporta um cluster de servidores, onde apenas um (servidor ativo) atende os clientes num determinado momento, e os restantes funcionam como servidores de backup, mantendo todas as bases de dados sincronizadas.</a:t>
            </a:r>
          </a:p>
          <a:p>
            <a:r>
              <a:rPr lang="pt-PT" sz="1400" b="1" dirty="0"/>
              <a:t>Cliente: </a:t>
            </a:r>
            <a:r>
              <a:rPr lang="pt-PT" sz="1400" dirty="0"/>
              <a:t>A aplicação com interface gráfica que permite aos utilizadores interagirem com o sistema através do registo no sistema.</a:t>
            </a:r>
          </a:p>
          <a:p>
            <a:r>
              <a:rPr lang="pt-PT" sz="1400" b="1" dirty="0" err="1"/>
              <a:t>Packet-Library</a:t>
            </a:r>
            <a:r>
              <a:rPr lang="pt-PT" sz="1400" b="1" dirty="0"/>
              <a:t>:</a:t>
            </a:r>
            <a:r>
              <a:rPr lang="pt-PT" sz="1400" dirty="0"/>
              <a:t> Módulo auxiliar que contem 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todas as classes e estruturas de dados comuns necessárias para a comunicação entre os componentes do sistema distribuído (Cliente, Servidor e Serviço de Diretoria).</a:t>
            </a:r>
            <a:endParaRPr lang="pt-PT" sz="1400" b="1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FD640F1-2C2E-D677-FE85-4AFE71777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548" y="1339303"/>
            <a:ext cx="3658767" cy="300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33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76240" y="3067200"/>
            <a:ext cx="3352320" cy="187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3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Packet</a:t>
            </a:r>
            <a:r>
              <a:rPr lang="pt-PT" sz="3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 </a:t>
            </a:r>
            <a:r>
              <a:rPr lang="pt-PT" sz="3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Library</a:t>
            </a:r>
            <a:endParaRPr lang="pt-PT" sz="3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title"/>
          </p:nvPr>
        </p:nvSpPr>
        <p:spPr>
          <a:xfrm>
            <a:off x="7010280" y="1609560"/>
            <a:ext cx="1266480" cy="126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6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  <a:ea typeface="Figtree"/>
              </a:rPr>
              <a:t>01</a:t>
            </a:r>
            <a:endParaRPr lang="pt-PT" sz="6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Google Shape;220;p32"/>
          <p:cNvCxnSpPr/>
          <p:nvPr/>
        </p:nvCxnSpPr>
        <p:spPr>
          <a:xfrm>
            <a:off x="-76320" y="2943000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5E662-9AC5-2C5C-3C93-19D00C08F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151B1586-5D0C-AC67-9826-130FE6F02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Packet</a:t>
            </a: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 </a:t>
            </a: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Library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A0C26940-6EB9-3889-9EEB-D1B704893A79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E8322DF2-129D-AFC3-C11F-EED5DF82134F}"/>
              </a:ext>
            </a:extLst>
          </p:cNvPr>
          <p:cNvSpPr txBox="1"/>
          <p:nvPr/>
        </p:nvSpPr>
        <p:spPr>
          <a:xfrm>
            <a:off x="738052" y="1559122"/>
            <a:ext cx="522514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kern="1200" cap="none" spc="0" normalizeH="0" baseline="0" noProof="0" dirty="0">
                <a:ln>
                  <a:noFill/>
                </a:ln>
                <a:solidFill>
                  <a:srgbClr val="083C77"/>
                </a:solidFill>
                <a:effectLst/>
                <a:uLnTx/>
                <a:uFillTx/>
                <a:ea typeface="+mn-ea"/>
                <a:cs typeface="+mn-cs"/>
              </a:rPr>
              <a:t>Durante o processo de desenvolvimento, foram criadas classes auxiliares para simplificar a comunicação UDP nas aplicações.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600" b="0" i="0" u="none" strike="noStrike" kern="1200" cap="none" spc="0" normalizeH="0" baseline="0" noProof="0" dirty="0">
                <a:ln>
                  <a:noFill/>
                </a:ln>
                <a:solidFill>
                  <a:srgbClr val="083C77"/>
                </a:solidFill>
                <a:effectLst/>
                <a:uLnTx/>
                <a:uFillTx/>
                <a:ea typeface="+mn-ea"/>
                <a:cs typeface="+mn-cs"/>
              </a:rPr>
              <a:t>A classe </a:t>
            </a:r>
            <a:r>
              <a:rPr kumimoji="0" lang="pt-P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83C77"/>
                </a:solidFill>
                <a:effectLst/>
                <a:uLnTx/>
                <a:uFillTx/>
                <a:ea typeface="+mn-ea"/>
                <a:cs typeface="+mn-cs"/>
              </a:rPr>
              <a:t>DatagramUtil</a:t>
            </a:r>
            <a:r>
              <a:rPr kumimoji="0" lang="pt-PT" sz="1600" b="0" i="0" u="none" strike="noStrike" kern="1200" cap="none" spc="0" normalizeH="0" baseline="0" noProof="0" dirty="0">
                <a:ln>
                  <a:noFill/>
                </a:ln>
                <a:solidFill>
                  <a:srgbClr val="083C77"/>
                </a:solidFill>
                <a:effectLst/>
                <a:uLnTx/>
                <a:uFillTx/>
                <a:ea typeface="+mn-ea"/>
                <a:cs typeface="+mn-cs"/>
              </a:rPr>
              <a:t> encapsula a complexidade da serialização de objetos em </a:t>
            </a:r>
            <a:r>
              <a:rPr kumimoji="0" lang="pt-P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83C77"/>
                </a:solidFill>
                <a:effectLst/>
                <a:uLnTx/>
                <a:uFillTx/>
                <a:ea typeface="+mn-ea"/>
                <a:cs typeface="+mn-cs"/>
              </a:rPr>
              <a:t>packets</a:t>
            </a:r>
            <a:r>
              <a:rPr kumimoji="0" lang="pt-PT" sz="1600" b="0" i="0" u="none" strike="noStrike" kern="1200" cap="none" spc="0" normalizeH="0" baseline="0" noProof="0" dirty="0">
                <a:ln>
                  <a:noFill/>
                </a:ln>
                <a:solidFill>
                  <a:srgbClr val="083C77"/>
                </a:solidFill>
                <a:effectLst/>
                <a:uLnTx/>
                <a:uFillTx/>
                <a:ea typeface="+mn-ea"/>
                <a:cs typeface="+mn-cs"/>
              </a:rPr>
              <a:t> de rede, na comunicação UDP, prevenindo a repetição de código nas aplicações Cliente, Servidor e Serviço de Diretoria.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600" dirty="0">
                <a:solidFill>
                  <a:srgbClr val="083C77"/>
                </a:solidFill>
              </a:rPr>
              <a:t>A classe </a:t>
            </a:r>
            <a:r>
              <a:rPr lang="pt-PT" sz="1600" dirty="0" err="1">
                <a:solidFill>
                  <a:srgbClr val="083C77"/>
                </a:solidFill>
              </a:rPr>
              <a:t>SocketUtil</a:t>
            </a:r>
            <a:r>
              <a:rPr lang="pt-PT" sz="1600" dirty="0">
                <a:solidFill>
                  <a:srgbClr val="083C77"/>
                </a:solidFill>
              </a:rPr>
              <a:t> é semelhante á classe </a:t>
            </a:r>
            <a:r>
              <a:rPr lang="pt-PT" sz="1600" dirty="0" err="1">
                <a:solidFill>
                  <a:srgbClr val="083C77"/>
                </a:solidFill>
              </a:rPr>
              <a:t>DatagramUtil</a:t>
            </a:r>
            <a:r>
              <a:rPr lang="pt-PT" sz="1600" dirty="0">
                <a:solidFill>
                  <a:srgbClr val="083C77"/>
                </a:solidFill>
              </a:rPr>
              <a:t> mas neste caso para a comunicação TCP. 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83C77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400" b="0" i="0" u="none" strike="noStrike" kern="1200" cap="none" spc="0" normalizeH="0" baseline="0" noProof="0" dirty="0">
              <a:ln>
                <a:noFill/>
              </a:ln>
              <a:solidFill>
                <a:srgbClr val="083C7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400" b="0" i="0" u="none" strike="noStrike" kern="1200" cap="none" spc="0" normalizeH="0" baseline="0" noProof="0" dirty="0">
              <a:ln>
                <a:noFill/>
              </a:ln>
              <a:solidFill>
                <a:srgbClr val="083C7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28E6FA6-3528-6F7F-94C2-8F336D0DE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955" y="829131"/>
            <a:ext cx="1861998" cy="4199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710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96213-04DD-597E-3163-A6F63E1E6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27C8574E-4971-08E7-D8A0-EB07210BE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Packet</a:t>
            </a: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 </a:t>
            </a: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Library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B8B35766-64BF-B8FD-AD63-7089B3AFF342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51574843-F241-3BA5-9971-CC44FB86AB61}"/>
              </a:ext>
            </a:extLst>
          </p:cNvPr>
          <p:cNvSpPr txBox="1"/>
          <p:nvPr/>
        </p:nvSpPr>
        <p:spPr>
          <a:xfrm>
            <a:off x="228059" y="875211"/>
            <a:ext cx="85800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O objeto Java (</a:t>
            </a:r>
            <a:r>
              <a:rPr lang="pt-PT" sz="1400" dirty="0" err="1"/>
              <a:t>Serializable</a:t>
            </a:r>
            <a:r>
              <a:rPr lang="pt-PT" sz="1400" dirty="0"/>
              <a:t> </a:t>
            </a:r>
            <a:r>
              <a:rPr lang="pt-PT" sz="1400" dirty="0" err="1"/>
              <a:t>object</a:t>
            </a:r>
            <a:r>
              <a:rPr lang="pt-PT" sz="1400" dirty="0"/>
              <a:t>) é escrito para um </a:t>
            </a:r>
            <a:r>
              <a:rPr lang="pt-PT" sz="1400" dirty="0" err="1"/>
              <a:t>stream</a:t>
            </a:r>
            <a:r>
              <a:rPr lang="pt-PT" sz="1400" dirty="0"/>
              <a:t> de bytes em memória (</a:t>
            </a:r>
            <a:r>
              <a:rPr lang="pt-PT" sz="1400" dirty="0" err="1"/>
              <a:t>ByteArrayOutputStream</a:t>
            </a:r>
            <a:r>
              <a:rPr lang="pt-PT" sz="1400" dirty="0"/>
              <a:t>) através de um </a:t>
            </a:r>
            <a:r>
              <a:rPr lang="pt-PT" sz="1400" dirty="0" err="1"/>
              <a:t>ObjectOutputStream</a:t>
            </a:r>
            <a:r>
              <a:rPr lang="pt-PT" sz="1400" dirty="0"/>
              <a:t> (processo de serialização), os bytes resultantes são encapsulados num </a:t>
            </a:r>
            <a:r>
              <a:rPr lang="pt-PT" sz="1400" dirty="0" err="1"/>
              <a:t>DatagramPacket</a:t>
            </a:r>
            <a:r>
              <a:rPr lang="pt-PT" sz="1400" dirty="0"/>
              <a:t>. O pacote é então enviado através do </a:t>
            </a:r>
            <a:r>
              <a:rPr lang="pt-PT" sz="1400" dirty="0" err="1"/>
              <a:t>DatagramSocket</a:t>
            </a:r>
            <a:r>
              <a:rPr lang="pt-PT" sz="1400" dirty="0"/>
              <a:t> fornecido para o endereço de destino (</a:t>
            </a:r>
            <a:r>
              <a:rPr lang="pt-PT" sz="1400" dirty="0" err="1"/>
              <a:t>SocketAddress</a:t>
            </a:r>
            <a:r>
              <a:rPr lang="pt-PT" sz="1400" dirty="0"/>
              <a:t>).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6B4AA96-B548-DC4D-C948-6DBC64521DE4}"/>
              </a:ext>
            </a:extLst>
          </p:cNvPr>
          <p:cNvSpPr txBox="1"/>
          <p:nvPr/>
        </p:nvSpPr>
        <p:spPr>
          <a:xfrm>
            <a:off x="228059" y="2188029"/>
            <a:ext cx="598986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static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627A"/>
                </a:solidFill>
                <a:effectLst/>
                <a:latin typeface="JetBrains Mono"/>
              </a:rPr>
              <a:t>send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DatagramSocket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socket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Serializable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object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SocketAddress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socketAddress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ByteArrayOutputStream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bOut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ByteArrayOutputStream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ObjectOutputStream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out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ObjectOutputStream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bOut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out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.writeObject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object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DatagramPacket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packet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DatagramPacket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bOut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.toByteArray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(),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bOut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.size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(),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socketAddress</a:t>
            </a:r>
            <a:b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      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socket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.send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packet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}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catch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Exception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_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false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12196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EDA1C-CC2C-019F-8A6C-2777CFA32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E41A685C-0E8A-5849-EF28-7DDE76F15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Packet</a:t>
            </a: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 </a:t>
            </a: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Library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C5F13C0D-964E-92A5-183A-0C7221C915B9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41D00EDF-4CA1-4E56-00EB-A46EBDFB6690}"/>
              </a:ext>
            </a:extLst>
          </p:cNvPr>
          <p:cNvSpPr txBox="1"/>
          <p:nvPr/>
        </p:nvSpPr>
        <p:spPr>
          <a:xfrm>
            <a:off x="228059" y="875211"/>
            <a:ext cx="8580061" cy="1800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Complementarmente ao envio simplificado, o método estático </a:t>
            </a:r>
            <a:r>
              <a:rPr lang="pt-PT" sz="1400" i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receive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na classe </a:t>
            </a:r>
            <a:r>
              <a:rPr lang="pt-PT" sz="1400" i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DatagramUtil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abstrai o processo de </a:t>
            </a:r>
            <a:r>
              <a:rPr lang="pt-PT" sz="14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desserialização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das mensagens UDP recebidas. Este método é responsável por converter os </a:t>
            </a:r>
            <a:r>
              <a:rPr lang="pt-PT" sz="1400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bytes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recebidos da rede de volta para o objeto Java original.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Primeiro, é criado um </a:t>
            </a:r>
            <a:r>
              <a:rPr lang="pt-PT" sz="14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DatagramPacket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 tamanho fixo (neste caso, 5000 bytes), onde o </a:t>
            </a:r>
            <a:r>
              <a:rPr lang="pt-PT" sz="14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socket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aguarda por um pacote de entrada através da chamada </a:t>
            </a:r>
            <a:r>
              <a:rPr lang="pt-PT" sz="14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blocante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PT" sz="14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socket.receive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(),  o conteúdo binário é lido por um </a:t>
            </a:r>
            <a:r>
              <a:rPr lang="pt-PT" sz="14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ByteArrayInputStream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encadeado com um </a:t>
            </a:r>
            <a:r>
              <a:rPr lang="pt-PT" sz="14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ObjectInputStream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que executa a </a:t>
            </a:r>
            <a:r>
              <a:rPr lang="pt-PT" sz="14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desserialização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lendo e reconstruindo o objeto Java.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451668-0F88-364F-4049-D93CFC28414E}"/>
              </a:ext>
            </a:extLst>
          </p:cNvPr>
          <p:cNvSpPr txBox="1"/>
          <p:nvPr/>
        </p:nvSpPr>
        <p:spPr>
          <a:xfrm>
            <a:off x="228059" y="2758585"/>
            <a:ext cx="598986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static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Object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627A"/>
                </a:solidFill>
                <a:effectLst/>
                <a:latin typeface="JetBrains Mono"/>
              </a:rPr>
              <a:t>receive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DatagramSocket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socket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SocketAddress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socketAddress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pt-PT" sz="1100" i="1" dirty="0">
                <a:solidFill>
                  <a:srgbClr val="008DDE"/>
                </a:solidFill>
                <a:effectLst/>
                <a:latin typeface="JetBrains Mono"/>
              </a:rPr>
            </a:br>
            <a:r>
              <a:rPr lang="pt-PT" sz="1100" i="1" dirty="0">
                <a:solidFill>
                  <a:srgbClr val="008DDE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DatagramPacket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responsePacket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DatagramPacket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byte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[</a:t>
            </a:r>
            <a:r>
              <a:rPr lang="pt-PT" sz="1100" dirty="0">
                <a:solidFill>
                  <a:srgbClr val="1750EB"/>
                </a:solidFill>
                <a:effectLst/>
                <a:latin typeface="JetBrains Mono"/>
              </a:rPr>
              <a:t>5000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], </a:t>
            </a:r>
            <a:r>
              <a:rPr lang="pt-PT" sz="1100" dirty="0">
                <a:solidFill>
                  <a:srgbClr val="1750EB"/>
                </a:solidFill>
                <a:effectLst/>
                <a:latin typeface="JetBrains Mono"/>
              </a:rPr>
              <a:t>5000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socket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.receive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responsePacket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ByteArrayInputStream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bIn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ByteArrayInputStream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responsePacket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.getData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lang="pt-PT" sz="11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responsePacket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.getLength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ObjectInputStream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in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ObjectInputStream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bIn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in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.readObject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}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catch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ClassNotFoundException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|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IOException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7752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F89FA-0AB5-735A-666B-0750563E4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F88957CE-AD12-6B2F-D4BA-DA399C49A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Packet</a:t>
            </a: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 </a:t>
            </a: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Library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6E7EB7C5-EEF6-BAE1-2089-7845C3E5B314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66494B7-DFFE-9166-EC6C-2F5B44F6A5CA}"/>
              </a:ext>
            </a:extLst>
          </p:cNvPr>
          <p:cNvSpPr txBox="1"/>
          <p:nvPr/>
        </p:nvSpPr>
        <p:spPr>
          <a:xfrm>
            <a:off x="228058" y="875211"/>
            <a:ext cx="85800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O método </a:t>
            </a:r>
            <a:r>
              <a:rPr lang="pt-PT" sz="1400" dirty="0" err="1"/>
              <a:t>createMulticastSocket</a:t>
            </a:r>
            <a:r>
              <a:rPr lang="pt-PT" sz="1400" dirty="0"/>
              <a:t> aceita um </a:t>
            </a:r>
            <a:r>
              <a:rPr lang="pt-PT" sz="1400" dirty="0" err="1"/>
              <a:t>InetSocketAddress</a:t>
            </a:r>
            <a:r>
              <a:rPr lang="pt-PT" sz="1400" dirty="0"/>
              <a:t> como parâmetro, que define o endereço do grupo </a:t>
            </a:r>
            <a:r>
              <a:rPr lang="pt-PT" sz="1400" dirty="0" err="1"/>
              <a:t>multicast</a:t>
            </a:r>
            <a:r>
              <a:rPr lang="pt-PT" sz="1400" dirty="0"/>
              <a:t> (IP e Porto) ao qual o </a:t>
            </a:r>
            <a:r>
              <a:rPr lang="pt-PT" sz="1400" dirty="0" err="1"/>
              <a:t>socket</a:t>
            </a:r>
            <a:r>
              <a:rPr lang="pt-PT" sz="1400" dirty="0"/>
              <a:t> deve ligar-se. O </a:t>
            </a:r>
            <a:r>
              <a:rPr lang="pt-PT" sz="1400" dirty="0" err="1"/>
              <a:t>socket</a:t>
            </a:r>
            <a:r>
              <a:rPr lang="pt-PT" sz="1400" dirty="0"/>
              <a:t> é instanciado, ligando-se ao porto especificado pelo </a:t>
            </a:r>
            <a:r>
              <a:rPr lang="pt-PT" sz="1400" dirty="0" err="1"/>
              <a:t>InetSocketAddress</a:t>
            </a:r>
            <a:r>
              <a:rPr lang="pt-PT" sz="1400" dirty="0"/>
              <a:t>. Verificamos a interface de network correta obtendo o seu IP. Por fim adicionamos o </a:t>
            </a:r>
            <a:r>
              <a:rPr lang="pt-PT" sz="1400" dirty="0" err="1"/>
              <a:t>socket</a:t>
            </a:r>
            <a:r>
              <a:rPr lang="pt-PT" sz="1400" dirty="0"/>
              <a:t> ao grupo </a:t>
            </a:r>
            <a:r>
              <a:rPr lang="pt-PT" sz="1400" dirty="0" err="1"/>
              <a:t>multicast</a:t>
            </a:r>
            <a:r>
              <a:rPr lang="pt-PT" sz="1400" dirty="0"/>
              <a:t>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16201E4-45BC-FDF3-EDE2-8F7E5DDB27A2}"/>
              </a:ext>
            </a:extLst>
          </p:cNvPr>
          <p:cNvSpPr txBox="1"/>
          <p:nvPr/>
        </p:nvSpPr>
        <p:spPr>
          <a:xfrm>
            <a:off x="228059" y="2188029"/>
            <a:ext cx="5989861" cy="2825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MulticastSocket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dirty="0" err="1">
                <a:solidFill>
                  <a:srgbClr val="00627A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createMulticastSocket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InetSocketAddress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multicastSocketAddress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throws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IOException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pt-PT" sz="1400" dirty="0">
              <a:latin typeface="JetBrains Mono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b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MulticastSocket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MulticastSocket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multicastSocketAddress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.getPort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()); </a:t>
            </a:r>
            <a: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pt-PT" sz="1100" i="1" dirty="0" err="1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port</a:t>
            </a:r>
            <a:b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   // </a:t>
            </a:r>
            <a:r>
              <a:rPr lang="pt-PT" sz="1100" i="1" dirty="0" err="1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pt-PT" sz="1100" i="1" dirty="0" err="1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i="1" dirty="0" err="1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i="1" dirty="0" err="1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network interface</a:t>
            </a:r>
            <a:b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NetworkInterface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networkInterface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NetworkInterface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PT" sz="1100" i="1" dirty="0" err="1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getByInetAddress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InetAddress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pt-PT" sz="1100" i="1" dirty="0" err="1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getLocalHost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   // </a:t>
            </a:r>
            <a:r>
              <a:rPr lang="pt-PT" sz="1100" i="1" dirty="0" err="1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i="1" dirty="0" err="1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multicast</a:t>
            </a:r>
            <a: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i="1" dirty="0" err="1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b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.joinGroup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multicastSocketAddress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networkInterface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100" i="1" dirty="0">
                <a:solidFill>
                  <a:srgbClr val="8C8C8C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socket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pt-PT" sz="1400" dirty="0">
              <a:effectLst/>
              <a:latin typeface="JetBrains Mono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6658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8B264-55F7-6CDC-BB38-B00833C9C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D24C7E55-C1D9-4A04-CEBB-08D6EC02F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Packet</a:t>
            </a: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 </a:t>
            </a: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Library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3F3F69A-F445-909E-3C2C-785BC592B9EC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EB0DC5D4-82B2-38E8-8D9E-9C8393F61133}"/>
              </a:ext>
            </a:extLst>
          </p:cNvPr>
          <p:cNvSpPr txBox="1"/>
          <p:nvPr/>
        </p:nvSpPr>
        <p:spPr>
          <a:xfrm>
            <a:off x="228059" y="875211"/>
            <a:ext cx="8580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Semelhante a classe </a:t>
            </a:r>
            <a:r>
              <a:rPr lang="pt-PT" sz="1400" dirty="0" err="1"/>
              <a:t>DatagramUtil</a:t>
            </a:r>
            <a:r>
              <a:rPr lang="pt-PT" sz="1400" dirty="0"/>
              <a:t> os </a:t>
            </a:r>
            <a:r>
              <a:rPr lang="pt-PT" sz="1400" dirty="0" err="1"/>
              <a:t>métedos</a:t>
            </a:r>
            <a:r>
              <a:rPr lang="pt-PT" sz="1400" dirty="0"/>
              <a:t> da classe </a:t>
            </a:r>
            <a:r>
              <a:rPr lang="pt-PT" sz="1400" dirty="0" err="1"/>
              <a:t>SocketUtil</a:t>
            </a:r>
            <a:r>
              <a:rPr lang="pt-PT" sz="1400" dirty="0"/>
              <a:t> tem como objetivo simplificar a comunicação TCP baseada em objetos serializados.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7A68D54-70D5-C3E3-BAFD-060687626085}"/>
              </a:ext>
            </a:extLst>
          </p:cNvPr>
          <p:cNvSpPr txBox="1"/>
          <p:nvPr/>
        </p:nvSpPr>
        <p:spPr>
          <a:xfrm>
            <a:off x="228059" y="1595093"/>
            <a:ext cx="5989861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static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627A"/>
                </a:solidFill>
                <a:effectLst/>
                <a:latin typeface="JetBrains Mono"/>
              </a:rPr>
              <a:t>send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Socket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socket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Serializable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object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ObjectOutputStream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out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ObjectOutputStream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socket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.getOutputStream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out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.writeObject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object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}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catch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Exception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_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false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static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Object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627A"/>
                </a:solidFill>
                <a:effectLst/>
                <a:latin typeface="JetBrains Mono"/>
              </a:rPr>
              <a:t>receive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Socket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socket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ObjectInputStream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in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ObjectInputStream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socket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.getInputStream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in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.readObject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}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catch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ClassNotFoundException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|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IOException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9627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C3CB7-F605-C58A-7AA5-5076D6DDE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7A9864CF-F640-B4EE-1CCC-8624428D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Packet</a:t>
            </a: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 </a:t>
            </a: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Library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654D1D72-8CFE-1507-0FC9-9B0514821C67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7531C939-88EF-E00E-CE0D-D1CC312CB9E8}"/>
              </a:ext>
            </a:extLst>
          </p:cNvPr>
          <p:cNvSpPr txBox="1"/>
          <p:nvPr/>
        </p:nvSpPr>
        <p:spPr>
          <a:xfrm>
            <a:off x="228059" y="875211"/>
            <a:ext cx="613355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00" dirty="0"/>
              <a:t>Os packages </a:t>
            </a:r>
            <a:r>
              <a:rPr lang="pt-PT" sz="1500" dirty="0" err="1"/>
              <a:t>request</a:t>
            </a:r>
            <a:r>
              <a:rPr lang="pt-PT" sz="1500" dirty="0"/>
              <a:t> e response contem os classes records para facilitar a comunicação de pedidos e respostas entre servidores e com o cliente. </a:t>
            </a:r>
          </a:p>
          <a:p>
            <a:endParaRPr lang="pt-PT" sz="1500" dirty="0"/>
          </a:p>
          <a:p>
            <a:r>
              <a:rPr lang="pt-PT" sz="1500" dirty="0"/>
              <a:t>Cada record contem a informação necessária para cada pedido.</a:t>
            </a:r>
          </a:p>
          <a:p>
            <a:endParaRPr lang="pt-PT" sz="1500" dirty="0"/>
          </a:p>
          <a:p>
            <a:r>
              <a:rPr lang="pt-PT" sz="1500" dirty="0"/>
              <a:t>Podemos ver o exemplo do registo de um servidor em que o serviço de diretoria recebe o porto do servidor e do cliente e como resposta vai obter o IP e o porto do servidor ativo e o IP e o porto do servidor que fez o pedido.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8B8B7E2-CF40-9BBF-6A62-04D4684185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878" b="15919"/>
          <a:stretch>
            <a:fillRect/>
          </a:stretch>
        </p:blipFill>
        <p:spPr>
          <a:xfrm>
            <a:off x="6535494" y="1251128"/>
            <a:ext cx="2380447" cy="301716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8F63C59-4BA5-2B83-B135-34AC8441D48A}"/>
              </a:ext>
            </a:extLst>
          </p:cNvPr>
          <p:cNvSpPr txBox="1"/>
          <p:nvPr/>
        </p:nvSpPr>
        <p:spPr>
          <a:xfrm>
            <a:off x="596813" y="3431585"/>
            <a:ext cx="247595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record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RegisterServerRequest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serverReceiverPort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clientReceiverPort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implements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Serializable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2DC5DD3-5B44-0744-58CC-46F303C98F4C}"/>
              </a:ext>
            </a:extLst>
          </p:cNvPr>
          <p:cNvSpPr txBox="1"/>
          <p:nvPr/>
        </p:nvSpPr>
        <p:spPr>
          <a:xfrm>
            <a:off x="3159310" y="3403576"/>
            <a:ext cx="2475952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100" dirty="0">
                <a:solidFill>
                  <a:srgbClr val="0033B3"/>
                </a:solidFill>
                <a:effectLst/>
                <a:latin typeface="JetBrains Mono"/>
              </a:rPr>
              <a:t>public record </a:t>
            </a:r>
            <a:r>
              <a:rPr lang="en-US" sz="1100" dirty="0" err="1">
                <a:solidFill>
                  <a:srgbClr val="000000"/>
                </a:solidFill>
                <a:effectLst/>
                <a:latin typeface="JetBrains Mono"/>
              </a:rPr>
              <a:t>RegisterServerResponse</a:t>
            </a:r>
            <a: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100" dirty="0"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lang="en-US" sz="1100" dirty="0" err="1">
                <a:solidFill>
                  <a:srgbClr val="080808"/>
                </a:solidFill>
                <a:effectLst/>
                <a:latin typeface="JetBrains Mono"/>
              </a:rPr>
              <a:t>mainServerAddress</a:t>
            </a:r>
            <a: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1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100" dirty="0" err="1">
                <a:solidFill>
                  <a:srgbClr val="080808"/>
                </a:solidFill>
                <a:effectLst/>
                <a:latin typeface="JetBrains Mono"/>
              </a:rPr>
              <a:t>mainServerPort</a:t>
            </a:r>
            <a: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100" dirty="0">
                <a:solidFill>
                  <a:srgbClr val="000000"/>
                </a:solidFill>
                <a:effectLst/>
                <a:latin typeface="JetBrains Mono"/>
              </a:rPr>
              <a:t>String </a:t>
            </a:r>
            <a:r>
              <a:rPr lang="en-US" sz="1100" dirty="0" err="1">
                <a:solidFill>
                  <a:srgbClr val="080808"/>
                </a:solidFill>
                <a:effectLst/>
                <a:latin typeface="JetBrains Mono"/>
              </a:rPr>
              <a:t>requesterAddress</a:t>
            </a:r>
            <a: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US" sz="1100" dirty="0">
                <a:solidFill>
                  <a:srgbClr val="0033B3"/>
                </a:solidFill>
                <a:effectLst/>
                <a:latin typeface="JetBrains Mono"/>
              </a:rPr>
              <a:t>int </a:t>
            </a:r>
            <a:r>
              <a:rPr lang="en-US" sz="1100" dirty="0" err="1">
                <a:solidFill>
                  <a:srgbClr val="080808"/>
                </a:solidFill>
                <a:effectLst/>
                <a:latin typeface="JetBrains Mono"/>
              </a:rPr>
              <a:t>requesterPort</a:t>
            </a:r>
            <a:b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n-US" sz="1100" dirty="0">
                <a:solidFill>
                  <a:srgbClr val="0033B3"/>
                </a:solidFill>
                <a:effectLst/>
                <a:latin typeface="JetBrains Mono"/>
              </a:rPr>
              <a:t>implements </a:t>
            </a:r>
            <a:r>
              <a:rPr lang="en-US" sz="1100" dirty="0">
                <a:solidFill>
                  <a:srgbClr val="000000"/>
                </a:solidFill>
                <a:effectLst/>
                <a:latin typeface="JetBrains Mono"/>
              </a:rPr>
              <a:t>Serializable </a:t>
            </a:r>
            <a: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US" sz="11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98214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3FEA8-3250-413E-C345-4B05053D0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EDEDEF7F-F23A-09F6-1A2C-8D4770B30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Packet</a:t>
            </a: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 </a:t>
            </a: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Library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64AB11DB-7539-879A-E141-01A1A9F9A955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F81A46EF-C8CE-A145-8A7C-AFCDEA801BD9}"/>
              </a:ext>
            </a:extLst>
          </p:cNvPr>
          <p:cNvSpPr txBox="1"/>
          <p:nvPr/>
        </p:nvSpPr>
        <p:spPr>
          <a:xfrm>
            <a:off x="228059" y="875211"/>
            <a:ext cx="613355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00" dirty="0"/>
              <a:t>A classe </a:t>
            </a:r>
            <a:r>
              <a:rPr lang="pt-PT" sz="1500" dirty="0" err="1"/>
              <a:t>SecurityUtils</a:t>
            </a:r>
            <a:r>
              <a:rPr lang="pt-PT" sz="1500" dirty="0"/>
              <a:t> é utilizada para a transformar as passwords e o código de </a:t>
            </a:r>
            <a:r>
              <a:rPr lang="pt-PT" sz="1500" dirty="0" err="1"/>
              <a:t>Instructor</a:t>
            </a:r>
            <a:r>
              <a:rPr lang="pt-PT" sz="1500" dirty="0"/>
              <a:t> em um </a:t>
            </a:r>
            <a:r>
              <a:rPr lang="pt-PT" sz="1500" dirty="0" err="1"/>
              <a:t>hash</a:t>
            </a:r>
            <a:r>
              <a:rPr lang="pt-PT" sz="1500" dirty="0"/>
              <a:t>, como as boas praticas não guardar a informação sensível diretamente na base de dados. No ato de login a password é transformada num </a:t>
            </a:r>
            <a:r>
              <a:rPr lang="pt-PT" sz="1500" dirty="0" err="1"/>
              <a:t>hash</a:t>
            </a:r>
            <a:r>
              <a:rPr lang="pt-PT" sz="1500" dirty="0"/>
              <a:t> e depois é efetuada uma comparação entre o </a:t>
            </a:r>
            <a:r>
              <a:rPr lang="pt-PT" sz="1500" dirty="0" err="1"/>
              <a:t>hash</a:t>
            </a:r>
            <a:r>
              <a:rPr lang="pt-PT" sz="1500" dirty="0"/>
              <a:t> da password registada.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A74597-930A-2E58-363A-CF52F08B80CF}"/>
              </a:ext>
            </a:extLst>
          </p:cNvPr>
          <p:cNvSpPr txBox="1"/>
          <p:nvPr/>
        </p:nvSpPr>
        <p:spPr>
          <a:xfrm>
            <a:off x="228059" y="2173456"/>
            <a:ext cx="6068238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SecurityUtils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static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0627A"/>
                </a:solidFill>
                <a:effectLst/>
                <a:latin typeface="JetBrains Mono"/>
              </a:rPr>
              <a:t>sha256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input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MessageDigest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digest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MessageDigest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100" i="1" dirty="0" err="1">
                <a:solidFill>
                  <a:srgbClr val="080808"/>
                </a:solidFill>
                <a:effectLst/>
                <a:latin typeface="JetBrains Mono"/>
              </a:rPr>
              <a:t>getInstance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>
                <a:solidFill>
                  <a:srgbClr val="067D17"/>
                </a:solidFill>
                <a:effectLst/>
                <a:latin typeface="JetBrains Mono"/>
              </a:rPr>
              <a:t>"SHA-256"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byte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hashBytes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digest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.digest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input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.getBytes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StandardCharsets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100" i="1" dirty="0">
                <a:solidFill>
                  <a:srgbClr val="871094"/>
                </a:solidFill>
                <a:effectLst/>
                <a:latin typeface="JetBrains Mono"/>
              </a:rPr>
              <a:t>UTF_8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lang="pt-PT" sz="11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pt-PT" sz="1100" i="1" dirty="0"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StringBuilder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hexString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StringBuilder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for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byte 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b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hashBytes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hex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Integer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100" i="1" dirty="0" err="1">
                <a:solidFill>
                  <a:srgbClr val="080808"/>
                </a:solidFill>
                <a:effectLst/>
                <a:latin typeface="JetBrains Mono"/>
              </a:rPr>
              <a:t>toHexString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>
                <a:solidFill>
                  <a:srgbClr val="1750EB"/>
                </a:solidFill>
                <a:effectLst/>
                <a:latin typeface="JetBrains Mono"/>
              </a:rPr>
              <a:t>0xff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&amp; 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b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hex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.length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() == </a:t>
            </a:r>
            <a:r>
              <a:rPr lang="pt-PT" sz="11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hexString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.append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>
                <a:solidFill>
                  <a:srgbClr val="067D17"/>
                </a:solidFill>
                <a:effectLst/>
                <a:latin typeface="JetBrains Mono"/>
              </a:rPr>
              <a:t>'0'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hexString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.append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hex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    }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hexString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.toString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}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catch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 err="1">
                <a:solidFill>
                  <a:srgbClr val="000000"/>
                </a:solidFill>
                <a:effectLst/>
                <a:latin typeface="JetBrains Mono"/>
              </a:rPr>
              <a:t>NoSuchAlgorithmException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 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throw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1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80808"/>
                </a:solidFill>
                <a:effectLst/>
                <a:latin typeface="JetBrains Mono"/>
              </a:rPr>
              <a:t>RuntimeException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100" dirty="0">
                <a:solidFill>
                  <a:srgbClr val="067D17"/>
                </a:solidFill>
                <a:effectLst/>
                <a:latin typeface="JetBrains Mono"/>
              </a:rPr>
              <a:t>"SHA-256 </a:t>
            </a:r>
            <a:r>
              <a:rPr lang="pt-PT" sz="1100" dirty="0" err="1">
                <a:solidFill>
                  <a:srgbClr val="067D17"/>
                </a:solidFill>
                <a:effectLst/>
                <a:latin typeface="JetBrains Mono"/>
              </a:rPr>
              <a:t>algorithm</a:t>
            </a:r>
            <a:r>
              <a:rPr lang="pt-PT" sz="110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67D17"/>
                </a:solidFill>
                <a:effectLst/>
                <a:latin typeface="JetBrains Mono"/>
              </a:rPr>
              <a:t>not</a:t>
            </a:r>
            <a:r>
              <a:rPr lang="pt-PT" sz="110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100" dirty="0" err="1">
                <a:solidFill>
                  <a:srgbClr val="067D17"/>
                </a:solidFill>
                <a:effectLst/>
                <a:latin typeface="JetBrains Mono"/>
              </a:rPr>
              <a:t>found</a:t>
            </a:r>
            <a:r>
              <a:rPr lang="pt-PT" sz="11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100" dirty="0">
                <a:solidFill>
                  <a:srgbClr val="000000"/>
                </a:solidFill>
                <a:effectLst/>
                <a:latin typeface="JetBrains Mono"/>
              </a:rPr>
              <a:t>e</a:t>
            </a: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1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82864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A838D-4B2C-BE46-B20E-CA58C9DE9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>
            <a:extLst>
              <a:ext uri="{FF2B5EF4-FFF2-40B4-BE49-F238E27FC236}">
                <a16:creationId xmlns:a16="http://schemas.microsoft.com/office/drawing/2014/main" id="{D65D7D89-AFBB-6A8D-8FE6-355880D67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240" y="3067200"/>
            <a:ext cx="3352320" cy="187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3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Serviço Diretoria</a:t>
            </a:r>
            <a:endParaRPr lang="pt-PT" sz="3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>
            <a:extLst>
              <a:ext uri="{FF2B5EF4-FFF2-40B4-BE49-F238E27FC236}">
                <a16:creationId xmlns:a16="http://schemas.microsoft.com/office/drawing/2014/main" id="{8369C840-19EA-391A-A548-7DBA33486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280" y="1609560"/>
            <a:ext cx="1266480" cy="126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6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  <a:ea typeface="Figtree"/>
              </a:rPr>
              <a:t>02</a:t>
            </a:r>
            <a:endParaRPr lang="pt-PT" sz="6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Google Shape;220;p32">
            <a:extLst>
              <a:ext uri="{FF2B5EF4-FFF2-40B4-BE49-F238E27FC236}">
                <a16:creationId xmlns:a16="http://schemas.microsoft.com/office/drawing/2014/main" id="{ADEBE1F9-BF23-8A0D-9ED7-E00831674B64}"/>
              </a:ext>
            </a:extLst>
          </p:cNvPr>
          <p:cNvCxnSpPr/>
          <p:nvPr/>
        </p:nvCxnSpPr>
        <p:spPr>
          <a:xfrm>
            <a:off x="-76320" y="2943000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1958500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DB637-82D7-028E-1C07-4AE660E65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94A4A687-E370-4EF2-0460-C00F5A7C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Serviço de Diretoria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885A9F7-517C-68F4-20BC-5DC74B85E6F1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3C507DC8-E3C4-B24B-A444-D28724801A6D}"/>
              </a:ext>
            </a:extLst>
          </p:cNvPr>
          <p:cNvSpPr txBox="1"/>
          <p:nvPr/>
        </p:nvSpPr>
        <p:spPr>
          <a:xfrm>
            <a:off x="228058" y="875211"/>
            <a:ext cx="858006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00" dirty="0"/>
              <a:t>A principal funcionalidade do servidor de diretoria é controlar uma lista de servidores que é ordenada pela ordem de registo do servidor no servidor de diretoria. </a:t>
            </a:r>
          </a:p>
          <a:p>
            <a:endParaRPr lang="pt-PT" sz="1500" dirty="0"/>
          </a:p>
          <a:p>
            <a:r>
              <a:rPr lang="pt-PT" sz="1500" dirty="0"/>
              <a:t>Inicialmente garantimos apenas uma instância do servidor de diretoria através de um </a:t>
            </a:r>
            <a:r>
              <a:rPr lang="pt-PT" sz="1500" dirty="0" err="1"/>
              <a:t>DatagramSocket</a:t>
            </a:r>
            <a:r>
              <a:rPr lang="pt-PT" sz="1500" dirty="0"/>
              <a:t>, porque estamos numa comunicação UDP, que fica em escuta num porto que é passado por argumento ao servidor. De seguida o servidor fica em escuta através do </a:t>
            </a:r>
            <a:r>
              <a:rPr lang="pt-PT" sz="1500" dirty="0" err="1"/>
              <a:t>metedo</a:t>
            </a:r>
            <a:r>
              <a:rPr lang="pt-PT" sz="1500" dirty="0"/>
              <a:t> </a:t>
            </a:r>
            <a:r>
              <a:rPr lang="pt-PT" sz="1500" dirty="0" err="1"/>
              <a:t>run</a:t>
            </a:r>
            <a:r>
              <a:rPr lang="pt-PT" sz="1500" dirty="0"/>
              <a:t>() da classe </a:t>
            </a:r>
            <a:r>
              <a:rPr lang="pt-PT" sz="1500" dirty="0" err="1"/>
              <a:t>SocketListener</a:t>
            </a:r>
            <a:r>
              <a:rPr lang="pt-PT" sz="1500" dirty="0"/>
              <a:t>, que fica a aguardar por </a:t>
            </a:r>
            <a:r>
              <a:rPr lang="pt-PT" sz="1500" dirty="0" err="1"/>
              <a:t>packets</a:t>
            </a:r>
            <a:r>
              <a:rPr lang="pt-PT" sz="1500" dirty="0"/>
              <a:t> até o servidor diretoria ser encerrado.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ED92C24-A522-E3D7-BECF-DBEDD5D5BA7C}"/>
              </a:ext>
            </a:extLst>
          </p:cNvPr>
          <p:cNvSpPr txBox="1"/>
          <p:nvPr/>
        </p:nvSpPr>
        <p:spPr>
          <a:xfrm>
            <a:off x="228058" y="2583371"/>
            <a:ext cx="3671205" cy="24622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70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7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700" dirty="0" err="1"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lang="pt-PT" sz="7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700" dirty="0" err="1">
                <a:solidFill>
                  <a:srgbClr val="00627A"/>
                </a:solidFill>
                <a:effectLst/>
                <a:latin typeface="JetBrains Mono"/>
              </a:rPr>
              <a:t>run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DatagramPacket</a:t>
            </a:r>
            <a:r>
              <a:rPr lang="pt-PT" sz="7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Object</a:t>
            </a:r>
            <a:r>
              <a:rPr lang="pt-PT" sz="7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genericRequest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700" dirty="0" err="1">
                <a:solidFill>
                  <a:srgbClr val="0033B3"/>
                </a:solidFill>
                <a:effectLst/>
                <a:latin typeface="JetBrains Mono"/>
              </a:rPr>
              <a:t>while</a:t>
            </a:r>
            <a:r>
              <a:rPr lang="pt-PT" sz="7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700" dirty="0" err="1">
                <a:solidFill>
                  <a:srgbClr val="871094"/>
                </a:solidFill>
                <a:effectLst/>
                <a:latin typeface="JetBrains Mono"/>
              </a:rPr>
              <a:t>running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  <a:t>// </a:t>
            </a:r>
            <a:r>
              <a:rPr lang="pt-PT" sz="700" i="1" dirty="0" err="1">
                <a:solidFill>
                  <a:srgbClr val="8C8C8C"/>
                </a:solidFill>
                <a:effectLst/>
                <a:latin typeface="JetBrains Mono"/>
              </a:rPr>
              <a:t>Await</a:t>
            </a:r>
            <a: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pt-PT" sz="700" i="1" dirty="0" err="1">
                <a:solidFill>
                  <a:srgbClr val="8C8C8C"/>
                </a:solidFill>
                <a:effectLst/>
                <a:latin typeface="JetBrains Mono"/>
              </a:rPr>
              <a:t>incoming</a:t>
            </a:r>
            <a: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pt-PT" sz="700" i="1" dirty="0" err="1">
                <a:solidFill>
                  <a:srgbClr val="8C8C8C"/>
                </a:solidFill>
                <a:effectLst/>
                <a:latin typeface="JetBrains Mono"/>
              </a:rPr>
              <a:t>packets</a:t>
            </a:r>
            <a:b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pt-PT" sz="70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pt-PT" sz="7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((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7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700" dirty="0" err="1">
                <a:solidFill>
                  <a:srgbClr val="080808"/>
                </a:solidFill>
                <a:effectLst/>
                <a:latin typeface="JetBrains Mono"/>
              </a:rPr>
              <a:t>awaitPacket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()) == </a:t>
            </a:r>
            <a:r>
              <a:rPr lang="pt-PT" sz="700" dirty="0" err="1"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lang="pt-PT" sz="7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|| (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genericRequest</a:t>
            </a:r>
            <a:r>
              <a:rPr lang="pt-PT" sz="7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700" dirty="0" err="1">
                <a:solidFill>
                  <a:srgbClr val="080808"/>
                </a:solidFill>
                <a:effectLst/>
                <a:latin typeface="JetBrains Mono"/>
              </a:rPr>
              <a:t>extractRequest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)) == </a:t>
            </a:r>
            <a:r>
              <a:rPr lang="pt-PT" sz="700" dirty="0" err="1"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pt-PT" sz="7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7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pt-PT" sz="7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700" dirty="0" err="1">
                <a:solidFill>
                  <a:srgbClr val="067D17"/>
                </a:solidFill>
                <a:effectLst/>
                <a:latin typeface="JetBrains Mono"/>
              </a:rPr>
              <a:t>Couldn't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700" dirty="0" err="1">
                <a:solidFill>
                  <a:srgbClr val="067D17"/>
                </a:solidFill>
                <a:effectLst/>
                <a:latin typeface="JetBrains Mono"/>
              </a:rPr>
              <a:t>receive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700" dirty="0" err="1">
                <a:solidFill>
                  <a:srgbClr val="067D17"/>
                </a:solidFill>
                <a:effectLst/>
                <a:latin typeface="JetBrains Mono"/>
              </a:rPr>
              <a:t>packet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700" dirty="0">
                <a:solidFill>
                  <a:srgbClr val="0033B3"/>
                </a:solidFill>
                <a:effectLst/>
                <a:latin typeface="JetBrains Mono"/>
              </a:rPr>
              <a:t>continue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pt-PT" sz="700" i="1" dirty="0">
                <a:solidFill>
                  <a:srgbClr val="008DDE"/>
                </a:solidFill>
                <a:effectLst/>
                <a:latin typeface="JetBrains Mono"/>
              </a:rPr>
            </a:br>
            <a:r>
              <a:rPr lang="pt-PT" sz="700" i="1" dirty="0">
                <a:solidFill>
                  <a:srgbClr val="008DDE"/>
                </a:solidFill>
                <a:effectLst/>
                <a:latin typeface="JetBrains Mono"/>
              </a:rPr>
              <a:t>        </a:t>
            </a:r>
            <a:r>
              <a:rPr lang="pt-PT" sz="700" dirty="0" err="1">
                <a:solidFill>
                  <a:srgbClr val="871094"/>
                </a:solidFill>
                <a:effectLst/>
                <a:latin typeface="JetBrains Mono"/>
              </a:rPr>
              <a:t>serverDirectory</a:t>
            </a:r>
            <a:r>
              <a:rPr lang="pt-PT" sz="700" dirty="0" err="1">
                <a:solidFill>
                  <a:srgbClr val="080808"/>
                </a:solidFill>
                <a:effectLst/>
                <a:latin typeface="JetBrains Mono"/>
              </a:rPr>
              <a:t>.removeInactiveServers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700" i="1" dirty="0">
                <a:solidFill>
                  <a:srgbClr val="008DDE"/>
                </a:solidFill>
                <a:effectLst/>
                <a:latin typeface="JetBrains Mono"/>
              </a:rPr>
            </a:br>
            <a:r>
              <a:rPr lang="pt-PT" sz="700" i="1" dirty="0">
                <a:solidFill>
                  <a:srgbClr val="008DDE"/>
                </a:solidFill>
                <a:effectLst/>
                <a:latin typeface="JetBrains Mono"/>
              </a:rPr>
              <a:t>   </a:t>
            </a:r>
            <a: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  <a:t>// </a:t>
            </a:r>
            <a:r>
              <a:rPr lang="pt-PT" sz="700" i="1" dirty="0" err="1">
                <a:solidFill>
                  <a:srgbClr val="8C8C8C"/>
                </a:solidFill>
                <a:effectLst/>
                <a:latin typeface="JetBrains Mono"/>
              </a:rPr>
              <a:t>Handle</a:t>
            </a:r>
            <a: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pt-PT" sz="700" i="1" dirty="0" err="1">
                <a:solidFill>
                  <a:srgbClr val="8C8C8C"/>
                </a:solidFill>
                <a:effectLst/>
                <a:latin typeface="JetBrains Mono"/>
              </a:rPr>
              <a:t>requests</a:t>
            </a:r>
            <a:b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pt-PT" sz="700" dirty="0" err="1">
                <a:solidFill>
                  <a:srgbClr val="0033B3"/>
                </a:solidFill>
                <a:effectLst/>
                <a:latin typeface="JetBrains Mono"/>
              </a:rPr>
              <a:t>switch</a:t>
            </a:r>
            <a:r>
              <a:rPr lang="pt-PT" sz="7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genericRequest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  <a:t>// server </a:t>
            </a:r>
            <a:r>
              <a:rPr lang="pt-PT" sz="700" i="1" dirty="0" err="1">
                <a:solidFill>
                  <a:srgbClr val="8C8C8C"/>
                </a:solidFill>
                <a:effectLst/>
                <a:latin typeface="JetBrains Mono"/>
              </a:rPr>
              <a:t>messages</a:t>
            </a:r>
            <a:b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lang="pt-PT" sz="700" dirty="0"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RegisterServerRequest</a:t>
            </a:r>
            <a:r>
              <a:rPr lang="pt-PT" sz="7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lang="pt-PT" sz="7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-&gt; {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pt-PT" sz="70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pt-PT" sz="7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(!</a:t>
            </a:r>
            <a:r>
              <a:rPr lang="pt-PT" sz="700" dirty="0" err="1">
                <a:solidFill>
                  <a:srgbClr val="080808"/>
                </a:solidFill>
                <a:effectLst/>
                <a:latin typeface="JetBrains Mono"/>
              </a:rPr>
              <a:t>handleRegisterRequest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pt-PT" sz="7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7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pt-PT" sz="7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700" dirty="0" err="1">
                <a:solidFill>
                  <a:srgbClr val="067D17"/>
                </a:solidFill>
                <a:effectLst/>
                <a:latin typeface="JetBrains Mono"/>
              </a:rPr>
              <a:t>Couldn't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700" dirty="0" err="1">
                <a:solidFill>
                  <a:srgbClr val="067D17"/>
                </a:solidFill>
                <a:effectLst/>
                <a:latin typeface="JetBrains Mono"/>
              </a:rPr>
              <a:t>handle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 server </a:t>
            </a:r>
            <a:r>
              <a:rPr lang="pt-PT" sz="700" dirty="0" err="1">
                <a:solidFill>
                  <a:srgbClr val="067D17"/>
                </a:solidFill>
                <a:effectLst/>
                <a:latin typeface="JetBrains Mono"/>
              </a:rPr>
              <a:t>register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700" dirty="0" err="1">
                <a:solidFill>
                  <a:srgbClr val="067D17"/>
                </a:solidFill>
                <a:effectLst/>
                <a:latin typeface="JetBrains Mono"/>
              </a:rPr>
              <a:t>request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    }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}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D5E14DD-9530-DB33-A98E-557CF4F80493}"/>
              </a:ext>
            </a:extLst>
          </p:cNvPr>
          <p:cNvSpPr txBox="1"/>
          <p:nvPr/>
        </p:nvSpPr>
        <p:spPr>
          <a:xfrm>
            <a:off x="4651020" y="2571750"/>
            <a:ext cx="36712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700" dirty="0"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HeartbeatRequest</a:t>
            </a:r>
            <a:r>
              <a:rPr lang="pt-PT" sz="7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lang="pt-PT" sz="7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-&gt; {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pt-PT" sz="70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pt-PT" sz="7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(!</a:t>
            </a:r>
            <a:r>
              <a:rPr lang="pt-PT" sz="700" dirty="0" err="1">
                <a:solidFill>
                  <a:srgbClr val="080808"/>
                </a:solidFill>
                <a:effectLst/>
                <a:latin typeface="JetBrains Mono"/>
              </a:rPr>
              <a:t>handleHeartBeat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pt-PT" sz="7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7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pt-PT" sz="7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700" dirty="0" err="1">
                <a:solidFill>
                  <a:srgbClr val="067D17"/>
                </a:solidFill>
                <a:effectLst/>
                <a:latin typeface="JetBrains Mono"/>
              </a:rPr>
              <a:t>Couldn't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700" dirty="0" err="1">
                <a:solidFill>
                  <a:srgbClr val="067D17"/>
                </a:solidFill>
                <a:effectLst/>
                <a:latin typeface="JetBrains Mono"/>
              </a:rPr>
              <a:t>handle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700" dirty="0" err="1">
                <a:solidFill>
                  <a:srgbClr val="067D17"/>
                </a:solidFill>
                <a:effectLst/>
                <a:latin typeface="JetBrains Mono"/>
              </a:rPr>
              <a:t>heartbeat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    }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}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  <a:t>// </a:t>
            </a:r>
            <a:r>
              <a:rPr lang="pt-PT" sz="700" i="1" dirty="0" err="1">
                <a:solidFill>
                  <a:srgbClr val="8C8C8C"/>
                </a:solidFill>
                <a:effectLst/>
                <a:latin typeface="JetBrains Mono"/>
              </a:rPr>
              <a:t>client</a:t>
            </a:r>
            <a: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pt-PT" sz="700" i="1" dirty="0" err="1">
                <a:solidFill>
                  <a:srgbClr val="8C8C8C"/>
                </a:solidFill>
                <a:effectLst/>
                <a:latin typeface="JetBrains Mono"/>
              </a:rPr>
              <a:t>messages</a:t>
            </a:r>
            <a:b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lang="pt-PT" sz="700" dirty="0"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ActiveServerRequest</a:t>
            </a:r>
            <a:r>
              <a:rPr lang="pt-PT" sz="7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lang="pt-PT" sz="7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-&gt; {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pt-PT" sz="70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pt-PT" sz="7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(!</a:t>
            </a:r>
            <a:r>
              <a:rPr lang="pt-PT" sz="700" dirty="0" err="1">
                <a:solidFill>
                  <a:srgbClr val="080808"/>
                </a:solidFill>
                <a:effectLst/>
                <a:latin typeface="JetBrains Mono"/>
              </a:rPr>
              <a:t>handleActiveServerRequest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pt-PT" sz="7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pt-PT" sz="7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7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pt-PT" sz="7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700" dirty="0" err="1">
                <a:solidFill>
                  <a:srgbClr val="067D17"/>
                </a:solidFill>
                <a:effectLst/>
                <a:latin typeface="JetBrains Mono"/>
              </a:rPr>
              <a:t>Couldn't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700" dirty="0" err="1">
                <a:solidFill>
                  <a:srgbClr val="067D17"/>
                </a:solidFill>
                <a:effectLst/>
                <a:latin typeface="JetBrains Mono"/>
              </a:rPr>
              <a:t>handle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700" dirty="0" err="1">
                <a:solidFill>
                  <a:srgbClr val="067D17"/>
                </a:solidFill>
                <a:effectLst/>
                <a:latin typeface="JetBrains Mono"/>
              </a:rPr>
              <a:t>heartbeat</a:t>
            </a:r>
            <a:r>
              <a:rPr lang="pt-PT" sz="700" dirty="0"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    }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}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700" dirty="0" err="1">
                <a:solidFill>
                  <a:srgbClr val="0033B3"/>
                </a:solidFill>
                <a:effectLst/>
                <a:latin typeface="JetBrains Mono"/>
              </a:rPr>
              <a:t>default</a:t>
            </a:r>
            <a:r>
              <a:rPr lang="pt-PT" sz="7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-&gt; {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pt-PT" sz="700" i="1" dirty="0">
                <a:solidFill>
                  <a:srgbClr val="8C8C8C"/>
                </a:solidFill>
                <a:effectLst/>
                <a:latin typeface="JetBrains Mono"/>
              </a:rPr>
              <a:t>// </a:t>
            </a:r>
            <a:r>
              <a:rPr lang="pt-PT" sz="700" i="1" dirty="0">
                <a:solidFill>
                  <a:srgbClr val="008DDE"/>
                </a:solidFill>
                <a:effectLst/>
                <a:latin typeface="JetBrains Mono"/>
              </a:rPr>
              <a:t>error </a:t>
            </a:r>
            <a:r>
              <a:rPr lang="pt-PT" sz="700" i="1" dirty="0" err="1">
                <a:solidFill>
                  <a:srgbClr val="008DDE"/>
                </a:solidFill>
                <a:effectLst/>
                <a:latin typeface="JetBrains Mono"/>
              </a:rPr>
              <a:t>message</a:t>
            </a:r>
            <a:br>
              <a:rPr lang="pt-PT" sz="700" i="1" dirty="0">
                <a:solidFill>
                  <a:srgbClr val="008DDE"/>
                </a:solidFill>
                <a:effectLst/>
                <a:latin typeface="JetBrains Mono"/>
              </a:rPr>
            </a:br>
            <a:r>
              <a:rPr lang="pt-PT" sz="700" i="1" dirty="0">
                <a:solidFill>
                  <a:srgbClr val="008DDE"/>
                </a:solidFill>
                <a:effectLst/>
                <a:latin typeface="JetBrains Mono"/>
              </a:rPr>
              <a:t>            </a:t>
            </a: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7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  <p:cxnSp>
        <p:nvCxnSpPr>
          <p:cNvPr id="2" name="Google Shape;213;p31">
            <a:extLst>
              <a:ext uri="{FF2B5EF4-FFF2-40B4-BE49-F238E27FC236}">
                <a16:creationId xmlns:a16="http://schemas.microsoft.com/office/drawing/2014/main" id="{12436CF4-5623-2FDA-E85E-F0A34F595167}"/>
              </a:ext>
            </a:extLst>
          </p:cNvPr>
          <p:cNvCxnSpPr>
            <a:cxnSpLocks/>
          </p:cNvCxnSpPr>
          <p:nvPr/>
        </p:nvCxnSpPr>
        <p:spPr>
          <a:xfrm>
            <a:off x="3896074" y="2662377"/>
            <a:ext cx="0" cy="2212760"/>
          </a:xfrm>
          <a:prstGeom prst="straightConnector1">
            <a:avLst/>
          </a:prstGeom>
          <a:ln w="12700">
            <a:solidFill>
              <a:srgbClr val="083C77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544204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69796-15AA-F1A3-0747-E8B43C904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0D57CC9B-3A44-62A0-7E7C-7B38943E2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Serviço de Diretoria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EF87A554-6CD7-BA5F-A6A7-84CAAC3F7253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9EA84A0B-759E-2F21-6E09-5A22F0D894E3}"/>
              </a:ext>
            </a:extLst>
          </p:cNvPr>
          <p:cNvSpPr txBox="1"/>
          <p:nvPr/>
        </p:nvSpPr>
        <p:spPr>
          <a:xfrm>
            <a:off x="228058" y="875211"/>
            <a:ext cx="858006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500" dirty="0"/>
              <a:t>A </a:t>
            </a:r>
            <a:r>
              <a:rPr lang="pt-PT" sz="1500" dirty="0" err="1"/>
              <a:t>class</a:t>
            </a:r>
            <a:r>
              <a:rPr lang="pt-PT" sz="1500" dirty="0"/>
              <a:t> </a:t>
            </a:r>
            <a:r>
              <a:rPr lang="pt-PT" sz="1500" dirty="0" err="1"/>
              <a:t>SocketListener</a:t>
            </a:r>
            <a:r>
              <a:rPr lang="pt-PT" sz="1500" dirty="0"/>
              <a:t> recebe um </a:t>
            </a:r>
            <a:r>
              <a:rPr lang="pt-PT" sz="1500" dirty="0" err="1"/>
              <a:t>serverDirectory</a:t>
            </a:r>
            <a:r>
              <a:rPr lang="pt-PT" sz="1500" dirty="0"/>
              <a:t> e o </a:t>
            </a:r>
            <a:r>
              <a:rPr lang="pt-PT" sz="1500" dirty="0" err="1"/>
              <a:t>socket</a:t>
            </a:r>
            <a:r>
              <a:rPr lang="pt-PT" sz="1500" dirty="0"/>
              <a:t> onde vai ficar a aguardar por pedidos através do </a:t>
            </a:r>
            <a:r>
              <a:rPr lang="pt-PT" sz="1500" dirty="0" err="1"/>
              <a:t>socket.receive</a:t>
            </a:r>
            <a:r>
              <a:rPr lang="pt-PT" sz="1500" dirty="0"/>
              <a:t>(</a:t>
            </a:r>
            <a:r>
              <a:rPr lang="pt-PT" sz="1500" dirty="0" err="1"/>
              <a:t>packet</a:t>
            </a:r>
            <a:r>
              <a:rPr lang="pt-PT" sz="1500" dirty="0"/>
              <a:t>). O </a:t>
            </a:r>
            <a:r>
              <a:rPr lang="pt-PT" sz="1500" dirty="0" err="1"/>
              <a:t>metedo</a:t>
            </a:r>
            <a:r>
              <a:rPr lang="pt-PT" sz="1500" dirty="0"/>
              <a:t> </a:t>
            </a:r>
            <a:r>
              <a:rPr lang="pt-PT" sz="1500" dirty="0" err="1"/>
              <a:t>extractRequest</a:t>
            </a:r>
            <a:r>
              <a:rPr lang="pt-PT" sz="1500" dirty="0"/>
              <a:t>() é o responsável por </a:t>
            </a:r>
            <a:r>
              <a:rPr lang="pt-PT" sz="1500" dirty="0" err="1"/>
              <a:t>desserializar</a:t>
            </a:r>
            <a:r>
              <a:rPr lang="pt-PT" sz="1500" dirty="0"/>
              <a:t> os objetos recebidos, transformando os bytes recebidos </a:t>
            </a:r>
            <a:r>
              <a:rPr lang="pt-PT" sz="1500" dirty="0" err="1"/>
              <a:t>ByteArrayInputStream</a:t>
            </a:r>
            <a:r>
              <a:rPr lang="pt-PT" sz="1500" dirty="0"/>
              <a:t> em um </a:t>
            </a:r>
            <a:r>
              <a:rPr lang="pt-PT" sz="1500" dirty="0" err="1"/>
              <a:t>ObjectInputStream</a:t>
            </a:r>
            <a:r>
              <a:rPr lang="pt-PT" sz="1500" dirty="0"/>
              <a:t> para decifrarmos que tipo de pedido estamos a receber lendo-o para um objeto genérico </a:t>
            </a:r>
            <a:r>
              <a:rPr lang="pt-PT" sz="1500" dirty="0" err="1"/>
              <a:t>Object</a:t>
            </a:r>
            <a:r>
              <a:rPr lang="pt-PT" sz="1500" dirty="0"/>
              <a:t>, verificando que tipo de mensagem recebemos através do </a:t>
            </a:r>
            <a:r>
              <a:rPr lang="pt-PT" sz="1500" dirty="0" err="1"/>
              <a:t>packet</a:t>
            </a:r>
            <a:r>
              <a:rPr lang="pt-PT" sz="1500" dirty="0"/>
              <a:t>.</a:t>
            </a:r>
          </a:p>
          <a:p>
            <a:endParaRPr lang="pt-PT" sz="1500" dirty="0"/>
          </a:p>
          <a:p>
            <a:r>
              <a:rPr lang="pt-PT" sz="1500" dirty="0"/>
              <a:t>Inicialmente garantimos apenas uma instância do servidor de diretoria através de um </a:t>
            </a:r>
            <a:r>
              <a:rPr lang="pt-PT" sz="1500" dirty="0" err="1"/>
              <a:t>DatagramSocket</a:t>
            </a:r>
            <a:r>
              <a:rPr lang="pt-PT" sz="1500" dirty="0"/>
              <a:t>, porque estamos numa comunicação UDP, que fica em escuta num porto que é passado por argumento ao servidor. De seguida o servidor fica em escuta através do </a:t>
            </a:r>
            <a:r>
              <a:rPr lang="pt-PT" sz="1500" dirty="0" err="1"/>
              <a:t>metedo</a:t>
            </a:r>
            <a:r>
              <a:rPr lang="pt-PT" sz="1500" dirty="0"/>
              <a:t> </a:t>
            </a:r>
            <a:r>
              <a:rPr lang="pt-PT" sz="1500" dirty="0" err="1"/>
              <a:t>run</a:t>
            </a:r>
            <a:r>
              <a:rPr lang="pt-PT" sz="1500" dirty="0"/>
              <a:t>() da classe </a:t>
            </a:r>
            <a:r>
              <a:rPr lang="pt-PT" sz="1500" dirty="0" err="1"/>
              <a:t>SocketListener</a:t>
            </a:r>
            <a:r>
              <a:rPr lang="pt-PT" sz="1500" dirty="0"/>
              <a:t>, que fica a aguardar por </a:t>
            </a:r>
            <a:r>
              <a:rPr lang="pt-PT" sz="1500" dirty="0" err="1"/>
              <a:t>packets</a:t>
            </a:r>
            <a:r>
              <a:rPr lang="pt-PT" sz="1500" dirty="0"/>
              <a:t> até o servidor diretoria ser encerrado.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8BF039C-8CCE-E9FB-6A1F-93C516D78369}"/>
              </a:ext>
            </a:extLst>
          </p:cNvPr>
          <p:cNvSpPr txBox="1"/>
          <p:nvPr/>
        </p:nvSpPr>
        <p:spPr>
          <a:xfrm>
            <a:off x="228058" y="3275868"/>
            <a:ext cx="86856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Object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627A"/>
                </a:solidFill>
                <a:effectLst/>
                <a:latin typeface="JetBrains Mono"/>
              </a:rPr>
              <a:t>extractRequest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DatagramPacket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Object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pt-PT" sz="1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pt-PT" sz="1200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ObjectInputStream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in 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ObjectInputStream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ByteArrayInputStream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.getData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lang="pt-PT" sz="1200" dirty="0"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.getLength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()));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in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.readObject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}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catch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IOException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|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ClassNotFoundException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_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93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060AB-DC9F-F857-1F0C-EFF980BC2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2E2D01C3-8CF7-0FD8-99BB-5C64B44A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Serviço de Diretoria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A465FE53-DE53-74EC-4754-DBBE7C7E58C3}"/>
              </a:ext>
            </a:extLst>
          </p:cNvPr>
          <p:cNvCxnSpPr>
            <a:cxnSpLocks/>
          </p:cNvCxnSpPr>
          <p:nvPr/>
        </p:nvCxnSpPr>
        <p:spPr>
          <a:xfrm>
            <a:off x="0" y="678189"/>
            <a:ext cx="9144000" cy="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4BE2D-DBDC-B346-DC78-A29C456C6303}"/>
              </a:ext>
            </a:extLst>
          </p:cNvPr>
          <p:cNvSpPr txBox="1"/>
          <p:nvPr/>
        </p:nvSpPr>
        <p:spPr>
          <a:xfrm>
            <a:off x="228058" y="875211"/>
            <a:ext cx="85800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 recebermos um pedido de registo de um servidor,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RegisterServerRequest</a:t>
            </a:r>
            <a:r>
              <a:rPr lang="pt-PT" sz="1600" dirty="0"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vamos regista-lo na lista de servidores obtendo o seu IP através de </a:t>
            </a:r>
            <a:r>
              <a:rPr lang="pt-PT" sz="1600" i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packet.getAdress</a:t>
            </a:r>
            <a:r>
              <a:rPr lang="pt-PT" sz="1600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().</a:t>
            </a:r>
            <a:r>
              <a:rPr lang="pt-PT" sz="1600" i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getHostAddress</a:t>
            </a:r>
            <a:r>
              <a:rPr lang="pt-PT" sz="1600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criamos objeto do tipo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ServerDescriptor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onde registamos o IP do servidor o porto do servidor e o porto do cliente</a:t>
            </a:r>
            <a:r>
              <a:rPr lang="pt-PT" sz="105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 Adicionamos o servidor a lista de servidores no modo </a:t>
            </a:r>
            <a:r>
              <a:rPr lang="pt-PT" sz="1600" i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synchronized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para evitar múltiplos acessos simultâneos a lista de servidores. O servidor fica a aguardar por uma resposta com os dados do servidor ativo e do servidor de diretoria.</a:t>
            </a:r>
            <a:r>
              <a:rPr lang="pt-PT" sz="1600" dirty="0">
                <a:effectLst/>
              </a:rPr>
              <a:t>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F3804CB-FEEE-EEF9-7D89-2ABC68421BF5}"/>
              </a:ext>
            </a:extLst>
          </p:cNvPr>
          <p:cNvSpPr txBox="1"/>
          <p:nvPr/>
        </p:nvSpPr>
        <p:spPr>
          <a:xfrm>
            <a:off x="228058" y="2598384"/>
            <a:ext cx="80349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627A"/>
                </a:solidFill>
                <a:effectLst/>
                <a:latin typeface="JetBrains Mono"/>
              </a:rPr>
              <a:t>handleRegisterRequest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RegisterServerRequest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DatagramPacket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serverAddress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.getAddress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getHostAddress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1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pt-PT" sz="12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ServerDescriptor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serverDescriptor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ServerDescriptor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200" i="1" dirty="0" err="1">
                <a:solidFill>
                  <a:srgbClr val="080808"/>
                </a:solidFill>
                <a:effectLst/>
                <a:latin typeface="JetBrains Mono"/>
              </a:rPr>
              <a:t>fromRegisterRequest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serverAddress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synchronized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 dirty="0" err="1">
                <a:solidFill>
                  <a:srgbClr val="871094"/>
                </a:solidFill>
                <a:effectLst/>
                <a:latin typeface="JetBrains Mono"/>
              </a:rPr>
              <a:t>serverDirectory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200" dirty="0" err="1">
                <a:solidFill>
                  <a:srgbClr val="871094"/>
                </a:solidFill>
                <a:effectLst/>
                <a:latin typeface="JetBrains Mono"/>
              </a:rPr>
              <a:t>serverDirectory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.addServer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serverDescriptor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</a:p>
          <a:p>
            <a:pPr>
              <a:buNone/>
            </a:pPr>
            <a:r>
              <a:rPr lang="en-US" sz="1200" dirty="0" err="1">
                <a:solidFill>
                  <a:srgbClr val="080808"/>
                </a:solidFill>
                <a:effectLst/>
                <a:latin typeface="JetBrains Mono"/>
              </a:rPr>
              <a:t>System.out.printf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("Server Connected: %s\n", </a:t>
            </a:r>
            <a:r>
              <a:rPr lang="en-US" sz="1200" dirty="0" err="1">
                <a:solidFill>
                  <a:srgbClr val="080808"/>
                </a:solidFill>
                <a:effectLst/>
                <a:latin typeface="JetBrains Mono"/>
              </a:rPr>
              <a:t>serverDescriptor</a:t>
            </a:r>
            <a:r>
              <a:rPr lang="en-US" sz="12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ServerDescriptor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activeServer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200" dirty="0" err="1">
                <a:solidFill>
                  <a:srgbClr val="871094"/>
                </a:solidFill>
                <a:effectLst/>
                <a:latin typeface="JetBrains Mono"/>
              </a:rPr>
              <a:t>serverDirectory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.getActiveServer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RegisterServerResponse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response 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RegisterServerResponse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activeServer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.getAddress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(),        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activeServer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.getServerReceiverPort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serverDescriptor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.getAddress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serverDescriptor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.getServerReceiverPort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sendServerRegisterResponse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response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0444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F80CD-E8B9-E39A-1591-9E6DF0C61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5F3F82A9-C077-C1C4-B758-BC817E6CD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Serviço de Diretoria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D1CFE98C-2212-66F8-AE20-A7C2B0533310}"/>
              </a:ext>
            </a:extLst>
          </p:cNvPr>
          <p:cNvCxnSpPr>
            <a:cxnSpLocks/>
          </p:cNvCxnSpPr>
          <p:nvPr/>
        </p:nvCxnSpPr>
        <p:spPr>
          <a:xfrm>
            <a:off x="0" y="678189"/>
            <a:ext cx="9144000" cy="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BDB0AA8F-FE49-77CD-25F9-A4B190D30E8A}"/>
              </a:ext>
            </a:extLst>
          </p:cNvPr>
          <p:cNvSpPr txBox="1"/>
          <p:nvPr/>
        </p:nvSpPr>
        <p:spPr>
          <a:xfrm>
            <a:off x="228058" y="875211"/>
            <a:ext cx="8580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 recebermos um pedido por um servidor ativo vamos retornar o primeiro servidor da lista e enviamos o seu IP e porto através do </a:t>
            </a:r>
            <a:r>
              <a:rPr lang="pt-PT" sz="1600" i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socket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 comunicação UDP.</a:t>
            </a:r>
            <a:endParaRPr lang="pt-PT" sz="1600" dirty="0">
              <a:effectLst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AEF8CF9-6173-0BC5-D870-10D28B93BB0E}"/>
              </a:ext>
            </a:extLst>
          </p:cNvPr>
          <p:cNvSpPr txBox="1"/>
          <p:nvPr/>
        </p:nvSpPr>
        <p:spPr>
          <a:xfrm>
            <a:off x="228058" y="2144631"/>
            <a:ext cx="803491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200">
                <a:solidFill>
                  <a:srgbClr val="0033B3"/>
                </a:solidFill>
                <a:effectLst/>
                <a:latin typeface="JetBrains Mono"/>
              </a:rPr>
              <a:t>private boolean </a:t>
            </a:r>
            <a:r>
              <a:rPr lang="pt-PT" sz="1200">
                <a:solidFill>
                  <a:srgbClr val="00627A"/>
                </a:solidFill>
                <a:effectLst/>
                <a:latin typeface="JetBrains Mono"/>
              </a:rPr>
              <a:t>handleActiveServerRequest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>
                <a:solidFill>
                  <a:srgbClr val="000000"/>
                </a:solidFill>
                <a:effectLst/>
                <a:latin typeface="JetBrains Mono"/>
              </a:rPr>
              <a:t>ActiveServerRequest request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200">
                <a:solidFill>
                  <a:srgbClr val="000000"/>
                </a:solidFill>
                <a:effectLst/>
                <a:latin typeface="JetBrains Mono"/>
              </a:rPr>
              <a:t>DatagramPacket receivePacket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2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200">
                <a:solidFill>
                  <a:srgbClr val="000000"/>
                </a:solidFill>
                <a:effectLst/>
                <a:latin typeface="JetBrains Mono"/>
              </a:rPr>
              <a:t>ServerDescriptor activeAddressServer 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200">
                <a:solidFill>
                  <a:srgbClr val="871094"/>
                </a:solidFill>
                <a:effectLst/>
                <a:latin typeface="JetBrains Mono"/>
              </a:rPr>
              <a:t>serverDirectory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.getActiveServer();</a:t>
            </a:r>
            <a:br>
              <a:rPr lang="pt-PT" sz="12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200">
                <a:solidFill>
                  <a:srgbClr val="000000"/>
                </a:solidFill>
                <a:effectLst/>
                <a:latin typeface="JetBrains Mono"/>
              </a:rPr>
              <a:t>ActiveServerResponse response 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20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ActiveServerResponse(</a:t>
            </a:r>
            <a:br>
              <a:rPr lang="pt-PT" sz="12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200">
                <a:solidFill>
                  <a:srgbClr val="000000"/>
                </a:solidFill>
                <a:effectLst/>
                <a:latin typeface="JetBrains Mono"/>
              </a:rPr>
              <a:t>activeAddressServer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.getAddress(),</a:t>
            </a:r>
            <a:br>
              <a:rPr lang="pt-PT" sz="12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200">
                <a:solidFill>
                  <a:srgbClr val="000000"/>
                </a:solidFill>
                <a:effectLst/>
                <a:latin typeface="JetBrains Mono"/>
              </a:rPr>
              <a:t>activeAddressServer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.getClientReceiverPort()</a:t>
            </a:r>
            <a:br>
              <a:rPr lang="pt-PT" sz="12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    );</a:t>
            </a:r>
            <a:br>
              <a:rPr lang="pt-PT" sz="12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200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>
                <a:solidFill>
                  <a:srgbClr val="000000"/>
                </a:solidFill>
                <a:effectLst/>
                <a:latin typeface="JetBrains Mono"/>
              </a:rPr>
              <a:t>activeAddressServer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.getClientReceiverPort() == -</a:t>
            </a:r>
            <a:r>
              <a:rPr lang="pt-PT" sz="120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lang="pt-PT" sz="12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200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200" i="1"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>
                <a:solidFill>
                  <a:srgbClr val="067D17"/>
                </a:solidFill>
                <a:effectLst/>
                <a:latin typeface="JetBrains Mono"/>
              </a:rPr>
              <a:t>"Client request received, but no active server is available."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200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200"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200" i="1">
                <a:solidFill>
                  <a:srgbClr val="871094"/>
                </a:solidFill>
                <a:effectLst/>
                <a:latin typeface="JetBrains Mono"/>
              </a:rPr>
              <a:t>FAILED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2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pt-PT" sz="12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200">
                <a:solidFill>
                  <a:srgbClr val="0033B3"/>
                </a:solidFill>
                <a:effectLst/>
                <a:latin typeface="JetBrains Mono"/>
              </a:rPr>
              <a:t>return </a:t>
            </a:r>
            <a:r>
              <a:rPr lang="pt-PT" sz="1200">
                <a:solidFill>
                  <a:srgbClr val="000000"/>
                </a:solidFill>
                <a:effectLst/>
                <a:latin typeface="JetBrains Mono"/>
              </a:rPr>
              <a:t>DatagramUtil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200" i="1">
                <a:solidFill>
                  <a:srgbClr val="080808"/>
                </a:solidFill>
                <a:effectLst/>
                <a:latin typeface="JetBrains Mono"/>
              </a:rPr>
              <a:t>send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>
                <a:solidFill>
                  <a:srgbClr val="871094"/>
                </a:solidFill>
                <a:effectLst/>
                <a:latin typeface="JetBrains Mono"/>
              </a:rPr>
              <a:t>socket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200">
                <a:solidFill>
                  <a:srgbClr val="000000"/>
                </a:solidFill>
                <a:effectLst/>
                <a:latin typeface="JetBrains Mono"/>
              </a:rPr>
              <a:t>response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200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.getSocketAddress());</a:t>
            </a:r>
            <a:br>
              <a:rPr lang="pt-PT" sz="120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1457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D488E-1379-5826-A1B0-128A817F3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9CCF4B83-64B0-3367-79FA-569426087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Serviço de Diretoria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A7DA5D46-9213-71CD-8EA9-7A99118E4284}"/>
              </a:ext>
            </a:extLst>
          </p:cNvPr>
          <p:cNvCxnSpPr>
            <a:cxnSpLocks/>
          </p:cNvCxnSpPr>
          <p:nvPr/>
        </p:nvCxnSpPr>
        <p:spPr>
          <a:xfrm>
            <a:off x="0" y="678189"/>
            <a:ext cx="9144000" cy="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2533F3-9D76-FDB7-5E0D-F25DAC1A0E0B}"/>
              </a:ext>
            </a:extLst>
          </p:cNvPr>
          <p:cNvSpPr txBox="1"/>
          <p:nvPr/>
        </p:nvSpPr>
        <p:spPr>
          <a:xfrm>
            <a:off x="228058" y="875211"/>
            <a:ext cx="8580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O serviço de diretoria é responsável por atualizar o </a:t>
            </a:r>
            <a:r>
              <a:rPr lang="pt-PT" dirty="0" err="1"/>
              <a:t>heartbeat</a:t>
            </a:r>
            <a:r>
              <a:rPr lang="pt-PT" dirty="0"/>
              <a:t> de um servidor existente, com o tempo atual (hora, minutos e segundo), e enviar a atualização para o mesmo.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A04CB6-70DD-F479-38DC-3CBE79462601}"/>
              </a:ext>
            </a:extLst>
          </p:cNvPr>
          <p:cNvSpPr txBox="1"/>
          <p:nvPr/>
        </p:nvSpPr>
        <p:spPr>
          <a:xfrm>
            <a:off x="0" y="1819513"/>
            <a:ext cx="91440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400" dirty="0" err="1"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lang="pt-PT" sz="14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400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pt-PT" sz="14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400" dirty="0" err="1">
                <a:solidFill>
                  <a:srgbClr val="00627A"/>
                </a:solidFill>
                <a:effectLst/>
                <a:latin typeface="JetBrains Mono"/>
              </a:rPr>
              <a:t>handleHeartBeat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HeartbeatRequest</a:t>
            </a:r>
            <a:r>
              <a:rPr lang="pt-PT" sz="14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DatagramPacket</a:t>
            </a:r>
            <a:r>
              <a:rPr lang="pt-PT" sz="14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pt-PT" sz="14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serverAddress</a:t>
            </a:r>
            <a:r>
              <a:rPr lang="pt-PT" sz="14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1400" dirty="0" err="1">
                <a:solidFill>
                  <a:srgbClr val="080808"/>
                </a:solidFill>
                <a:effectLst/>
                <a:latin typeface="JetBrains Mono"/>
              </a:rPr>
              <a:t>.getAddress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lang="pt-PT" sz="1400" dirty="0" err="1">
                <a:solidFill>
                  <a:srgbClr val="080808"/>
                </a:solidFill>
                <a:effectLst/>
                <a:latin typeface="JetBrains Mono"/>
              </a:rPr>
              <a:t>getHostAddress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400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pt-PT" sz="14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serverReceiverPort</a:t>
            </a:r>
            <a:r>
              <a:rPr lang="pt-PT" sz="14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lang="pt-PT" sz="1400" dirty="0" err="1">
                <a:solidFill>
                  <a:srgbClr val="080808"/>
                </a:solidFill>
                <a:effectLst/>
                <a:latin typeface="JetBrains Mono"/>
              </a:rPr>
              <a:t>.serverReceiverPort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400" i="1" dirty="0">
                <a:solidFill>
                  <a:srgbClr val="8C8C8C"/>
                </a:solidFill>
                <a:effectLst/>
                <a:latin typeface="JetBrains Mono"/>
              </a:rPr>
              <a:t>// </a:t>
            </a:r>
            <a:r>
              <a:rPr lang="pt-PT" sz="1400" i="1" dirty="0" err="1">
                <a:solidFill>
                  <a:srgbClr val="8C8C8C"/>
                </a:solidFill>
                <a:effectLst/>
                <a:latin typeface="JetBrains Mono"/>
              </a:rPr>
              <a:t>Check</a:t>
            </a:r>
            <a:r>
              <a:rPr lang="pt-PT" sz="14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pt-PT" sz="1400" i="1" dirty="0" err="1">
                <a:solidFill>
                  <a:srgbClr val="8C8C8C"/>
                </a:solidFill>
                <a:effectLst/>
                <a:latin typeface="JetBrains Mono"/>
              </a:rPr>
              <a:t>if</a:t>
            </a:r>
            <a:r>
              <a:rPr lang="pt-PT" sz="14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pt-PT" sz="1400" i="1" dirty="0" err="1">
                <a:solidFill>
                  <a:srgbClr val="8C8C8C"/>
                </a:solidFill>
                <a:effectLst/>
                <a:latin typeface="JetBrains Mono"/>
              </a:rPr>
              <a:t>it's</a:t>
            </a:r>
            <a:r>
              <a:rPr lang="pt-PT" sz="14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pt-PT" sz="1400" i="1" dirty="0" err="1">
                <a:solidFill>
                  <a:srgbClr val="8C8C8C"/>
                </a:solidFill>
                <a:effectLst/>
                <a:latin typeface="JetBrains Mono"/>
              </a:rPr>
              <a:t>an</a:t>
            </a:r>
            <a:r>
              <a:rPr lang="pt-PT" sz="14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pt-PT" sz="1400" i="1" dirty="0" err="1">
                <a:solidFill>
                  <a:srgbClr val="8C8C8C"/>
                </a:solidFill>
                <a:effectLst/>
                <a:latin typeface="JetBrains Mono"/>
              </a:rPr>
              <a:t>existent</a:t>
            </a:r>
            <a:r>
              <a:rPr lang="pt-PT" sz="1400" i="1" dirty="0">
                <a:solidFill>
                  <a:srgbClr val="8C8C8C"/>
                </a:solidFill>
                <a:effectLst/>
                <a:latin typeface="JetBrains Mono"/>
              </a:rPr>
              <a:t> server</a:t>
            </a:r>
            <a:br>
              <a:rPr lang="pt-PT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pt-PT" sz="14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pt-PT" sz="140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pt-PT" sz="14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(!</a:t>
            </a:r>
            <a:r>
              <a:rPr lang="pt-PT" sz="1400" dirty="0" err="1">
                <a:solidFill>
                  <a:srgbClr val="871094"/>
                </a:solidFill>
                <a:effectLst/>
                <a:latin typeface="JetBrains Mono"/>
              </a:rPr>
              <a:t>serverDirectory</a:t>
            </a:r>
            <a:r>
              <a:rPr lang="pt-PT" sz="1400" dirty="0" err="1">
                <a:solidFill>
                  <a:srgbClr val="080808"/>
                </a:solidFill>
                <a:effectLst/>
                <a:latin typeface="JetBrains Mono"/>
              </a:rPr>
              <a:t>.hasServer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serverAddress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pt-PT" sz="14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400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pt-PT" sz="1400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400" dirty="0">
                <a:solidFill>
                  <a:srgbClr val="067D17"/>
                </a:solidFill>
                <a:effectLst/>
                <a:latin typeface="JetBrains Mono"/>
              </a:rPr>
              <a:t>"Server </a:t>
            </a:r>
            <a:r>
              <a:rPr lang="pt-PT" sz="1400" dirty="0" err="1">
                <a:solidFill>
                  <a:srgbClr val="067D17"/>
                </a:solidFill>
                <a:effectLst/>
                <a:latin typeface="JetBrains Mono"/>
              </a:rPr>
              <a:t>is</a:t>
            </a:r>
            <a:r>
              <a:rPr lang="pt-PT" sz="140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400" dirty="0" err="1">
                <a:solidFill>
                  <a:srgbClr val="067D17"/>
                </a:solidFill>
                <a:effectLst/>
                <a:latin typeface="JetBrains Mono"/>
              </a:rPr>
              <a:t>not</a:t>
            </a:r>
            <a:r>
              <a:rPr lang="pt-PT" sz="140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400" dirty="0" err="1">
                <a:solidFill>
                  <a:srgbClr val="067D17"/>
                </a:solidFill>
                <a:effectLst/>
                <a:latin typeface="JetBrains Mono"/>
              </a:rPr>
              <a:t>registered</a:t>
            </a:r>
            <a:r>
              <a:rPr lang="pt-PT" sz="1400" dirty="0">
                <a:solidFill>
                  <a:srgbClr val="067D17"/>
                </a:solidFill>
                <a:effectLst/>
                <a:latin typeface="JetBrains Mono"/>
              </a:rPr>
              <a:t>. </a:t>
            </a:r>
            <a:r>
              <a:rPr lang="pt-PT" sz="1400" dirty="0" err="1">
                <a:solidFill>
                  <a:srgbClr val="067D17"/>
                </a:solidFill>
                <a:effectLst/>
                <a:latin typeface="JetBrains Mono"/>
              </a:rPr>
              <a:t>Ignoring</a:t>
            </a:r>
            <a:r>
              <a:rPr lang="pt-PT" sz="1400" dirty="0">
                <a:solidFill>
                  <a:srgbClr val="067D17"/>
                </a:solidFill>
                <a:effectLst/>
                <a:latin typeface="JetBrains Mono"/>
              </a:rPr>
              <a:t>..."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400" dirty="0" err="1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pt-PT" sz="14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400" dirty="0" err="1"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400" i="1" dirty="0">
                <a:solidFill>
                  <a:srgbClr val="8C8C8C"/>
                </a:solidFill>
                <a:effectLst/>
                <a:latin typeface="JetBrains Mono"/>
              </a:rPr>
              <a:t>// </a:t>
            </a:r>
            <a:r>
              <a:rPr lang="pt-PT" sz="1400" i="1" dirty="0" err="1">
                <a:solidFill>
                  <a:srgbClr val="8C8C8C"/>
                </a:solidFill>
                <a:effectLst/>
                <a:latin typeface="JetBrains Mono"/>
              </a:rPr>
              <a:t>Update</a:t>
            </a:r>
            <a:r>
              <a:rPr lang="pt-PT" sz="14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pt-PT" sz="1400" i="1" dirty="0" err="1">
                <a:solidFill>
                  <a:srgbClr val="8C8C8C"/>
                </a:solidFill>
                <a:effectLst/>
                <a:latin typeface="JetBrains Mono"/>
              </a:rPr>
              <a:t>timestamp</a:t>
            </a:r>
            <a:br>
              <a:rPr lang="pt-PT" sz="14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pt-PT" sz="1400" i="1" dirty="0"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lang="pt-PT" sz="1400" dirty="0" err="1">
                <a:solidFill>
                  <a:srgbClr val="871094"/>
                </a:solidFill>
                <a:effectLst/>
                <a:latin typeface="JetBrains Mono"/>
              </a:rPr>
              <a:t>serverDirectory</a:t>
            </a:r>
            <a:r>
              <a:rPr lang="pt-PT" sz="1400" dirty="0" err="1">
                <a:solidFill>
                  <a:srgbClr val="080808"/>
                </a:solidFill>
                <a:effectLst/>
                <a:latin typeface="JetBrains Mono"/>
              </a:rPr>
              <a:t>.updateServerHeartbeat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serverAddress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serverReceiverPort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ServerDescriptor</a:t>
            </a:r>
            <a:r>
              <a:rPr lang="pt-PT" sz="14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activeServer</a:t>
            </a:r>
            <a:r>
              <a:rPr lang="pt-PT" sz="14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400" dirty="0" err="1">
                <a:solidFill>
                  <a:srgbClr val="871094"/>
                </a:solidFill>
                <a:effectLst/>
                <a:latin typeface="JetBrains Mono"/>
              </a:rPr>
              <a:t>serverDirectory</a:t>
            </a:r>
            <a:r>
              <a:rPr lang="pt-PT" sz="1400" dirty="0" err="1">
                <a:solidFill>
                  <a:srgbClr val="080808"/>
                </a:solidFill>
                <a:effectLst/>
                <a:latin typeface="JetBrains Mono"/>
              </a:rPr>
              <a:t>.getActiveServer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HeartBeatResponse</a:t>
            </a:r>
            <a:r>
              <a:rPr lang="pt-PT" sz="1400" dirty="0">
                <a:solidFill>
                  <a:srgbClr val="000000"/>
                </a:solidFill>
                <a:effectLst/>
                <a:latin typeface="JetBrains Mono"/>
              </a:rPr>
              <a:t> response 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4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4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400" dirty="0" err="1">
                <a:solidFill>
                  <a:srgbClr val="080808"/>
                </a:solidFill>
                <a:effectLst/>
                <a:latin typeface="JetBrains Mono"/>
              </a:rPr>
              <a:t>HeartBeatResponse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activeServer</a:t>
            </a:r>
            <a:r>
              <a:rPr lang="pt-PT" sz="1400" dirty="0" err="1">
                <a:solidFill>
                  <a:srgbClr val="080808"/>
                </a:solidFill>
                <a:effectLst/>
                <a:latin typeface="JetBrains Mono"/>
              </a:rPr>
              <a:t>.getAddress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activeServer</a:t>
            </a:r>
            <a:r>
              <a:rPr lang="pt-PT" sz="1400" dirty="0" err="1">
                <a:solidFill>
                  <a:srgbClr val="080808"/>
                </a:solidFill>
                <a:effectLst/>
                <a:latin typeface="JetBrains Mono"/>
              </a:rPr>
              <a:t>.getServerReceiverPort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DatagramUtil</a:t>
            </a:r>
            <a:r>
              <a:rPr lang="pt-PT" sz="140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400" i="1" dirty="0" err="1">
                <a:solidFill>
                  <a:srgbClr val="080808"/>
                </a:solidFill>
                <a:effectLst/>
                <a:latin typeface="JetBrains Mono"/>
              </a:rPr>
              <a:t>send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400" dirty="0" err="1">
                <a:solidFill>
                  <a:srgbClr val="871094"/>
                </a:solidFill>
                <a:effectLst/>
                <a:latin typeface="JetBrains Mono"/>
              </a:rPr>
              <a:t>socket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400" dirty="0">
                <a:solidFill>
                  <a:srgbClr val="000000"/>
                </a:solidFill>
                <a:effectLst/>
                <a:latin typeface="JetBrains Mono"/>
              </a:rPr>
              <a:t>response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400" dirty="0" err="1">
                <a:solidFill>
                  <a:srgbClr val="000000"/>
                </a:solidFill>
                <a:effectLst/>
                <a:latin typeface="JetBrains Mono"/>
              </a:rPr>
              <a:t>receivePacket</a:t>
            </a:r>
            <a:r>
              <a:rPr lang="pt-PT" sz="1400" dirty="0" err="1">
                <a:solidFill>
                  <a:srgbClr val="080808"/>
                </a:solidFill>
                <a:effectLst/>
                <a:latin typeface="JetBrains Mono"/>
              </a:rPr>
              <a:t>.getSocketAddress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400" dirty="0" err="1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pt-PT" sz="14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400" dirty="0" err="1"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40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2310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44F9B-40BA-BDBE-A3BB-87027085B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DAA46FC7-6474-B3EE-CBBA-2657B284A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Serviço de Diretoria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9CE27CE3-4FD8-413A-EE2D-94DEBBA91AB3}"/>
              </a:ext>
            </a:extLst>
          </p:cNvPr>
          <p:cNvCxnSpPr>
            <a:cxnSpLocks/>
          </p:cNvCxnSpPr>
          <p:nvPr/>
        </p:nvCxnSpPr>
        <p:spPr>
          <a:xfrm>
            <a:off x="0" y="678189"/>
            <a:ext cx="9144000" cy="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E623216-AE34-A2CE-C16D-37C02340E7DB}"/>
              </a:ext>
            </a:extLst>
          </p:cNvPr>
          <p:cNvSpPr txBox="1"/>
          <p:nvPr/>
        </p:nvSpPr>
        <p:spPr>
          <a:xfrm>
            <a:off x="228058" y="875211"/>
            <a:ext cx="8580061" cy="873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classe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ServerDirectory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é utilizada para a gestão da lista de servidores ativos e obter dados para os pedidos dos clientes, já a classe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ServerDescriptor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é a classe utilizada para caracterizar as informações de um servidor (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getters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e atualizar o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heartbeat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2F7E174-95A1-C85F-89B3-CDE531D0F484}"/>
              </a:ext>
            </a:extLst>
          </p:cNvPr>
          <p:cNvSpPr txBox="1"/>
          <p:nvPr/>
        </p:nvSpPr>
        <p:spPr>
          <a:xfrm>
            <a:off x="335880" y="1945997"/>
            <a:ext cx="40108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ServerDirectory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ServerDescriptor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&gt; </a:t>
            </a:r>
            <a:r>
              <a:rPr lang="pt-PT" sz="1200" dirty="0" err="1">
                <a:solidFill>
                  <a:srgbClr val="871094"/>
                </a:solidFill>
                <a:effectLst/>
                <a:latin typeface="JetBrains Mono"/>
              </a:rPr>
              <a:t>registeredServers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627A"/>
                </a:solidFill>
                <a:effectLst/>
                <a:latin typeface="JetBrains Mono"/>
              </a:rPr>
              <a:t>ServerDirectory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200" dirty="0" err="1">
                <a:solidFill>
                  <a:srgbClr val="871094"/>
                </a:solidFill>
                <a:effectLst/>
                <a:latin typeface="JetBrains Mono"/>
              </a:rPr>
              <a:t>registeredServers</a:t>
            </a:r>
            <a:r>
              <a:rPr lang="pt-PT" sz="120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LinkedList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ServerDescriptor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&gt;();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627A"/>
                </a:solidFill>
                <a:effectLst/>
                <a:latin typeface="JetBrains Mono"/>
              </a:rPr>
              <a:t>addServer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ServerDescriptor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server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200" dirty="0" err="1">
                <a:solidFill>
                  <a:srgbClr val="871094"/>
                </a:solidFill>
                <a:effectLst/>
                <a:latin typeface="JetBrains Mono"/>
              </a:rPr>
              <a:t>registeredServers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.add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server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0000"/>
                </a:solidFill>
                <a:effectLst/>
                <a:latin typeface="JetBrains Mono"/>
              </a:rPr>
              <a:t>ServerDescriptor</a:t>
            </a:r>
            <a:r>
              <a:rPr lang="pt-PT" sz="120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627A"/>
                </a:solidFill>
                <a:effectLst/>
                <a:latin typeface="JetBrains Mono"/>
              </a:rPr>
              <a:t>getActiveServer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(){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200" i="1" dirty="0">
                <a:solidFill>
                  <a:srgbClr val="8C8C8C"/>
                </a:solidFill>
                <a:effectLst/>
                <a:latin typeface="JetBrains Mono"/>
              </a:rPr>
              <a:t>// For </a:t>
            </a:r>
            <a:r>
              <a:rPr lang="pt-PT" sz="1200" i="1" dirty="0" err="1">
                <a:solidFill>
                  <a:srgbClr val="8C8C8C"/>
                </a:solidFill>
                <a:effectLst/>
                <a:latin typeface="JetBrains Mono"/>
              </a:rPr>
              <a:t>simplicity</a:t>
            </a:r>
            <a:r>
              <a:rPr lang="pt-PT" sz="1200" i="1" dirty="0">
                <a:solidFill>
                  <a:srgbClr val="8C8C8C"/>
                </a:solidFill>
                <a:effectLst/>
                <a:latin typeface="JetBrains Mono"/>
              </a:rPr>
              <a:t>, </a:t>
            </a:r>
            <a:r>
              <a:rPr lang="pt-PT" sz="1200" i="1" dirty="0" err="1">
                <a:solidFill>
                  <a:srgbClr val="8C8C8C"/>
                </a:solidFill>
                <a:effectLst/>
                <a:latin typeface="JetBrains Mono"/>
              </a:rPr>
              <a:t>return</a:t>
            </a:r>
            <a:r>
              <a:rPr lang="pt-PT" sz="12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pt-PT" sz="1200" i="1" dirty="0" err="1">
                <a:solidFill>
                  <a:srgbClr val="8C8C8C"/>
                </a:solidFill>
                <a:effectLst/>
                <a:latin typeface="JetBrains Mono"/>
              </a:rPr>
              <a:t>the</a:t>
            </a:r>
            <a:r>
              <a:rPr lang="pt-PT" sz="12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pt-PT" sz="1200" i="1" dirty="0" err="1">
                <a:solidFill>
                  <a:srgbClr val="8C8C8C"/>
                </a:solidFill>
                <a:effectLst/>
                <a:latin typeface="JetBrains Mono"/>
              </a:rPr>
              <a:t>first</a:t>
            </a:r>
            <a:r>
              <a:rPr lang="pt-PT" sz="1200" i="1" dirty="0">
                <a:solidFill>
                  <a:srgbClr val="8C8C8C"/>
                </a:solidFill>
                <a:effectLst/>
                <a:latin typeface="JetBrains Mono"/>
              </a:rPr>
              <a:t> server in </a:t>
            </a:r>
            <a:r>
              <a:rPr lang="pt-PT" sz="1200" i="1" dirty="0" err="1">
                <a:solidFill>
                  <a:srgbClr val="8C8C8C"/>
                </a:solidFill>
                <a:effectLst/>
                <a:latin typeface="JetBrains Mono"/>
              </a:rPr>
              <a:t>the</a:t>
            </a:r>
            <a:r>
              <a:rPr lang="pt-PT" sz="1200" i="1" dirty="0"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lang="pt-PT" sz="1200" i="1" dirty="0" err="1">
                <a:solidFill>
                  <a:srgbClr val="8C8C8C"/>
                </a:solidFill>
                <a:effectLst/>
                <a:latin typeface="JetBrains Mono"/>
              </a:rPr>
              <a:t>list</a:t>
            </a:r>
            <a:br>
              <a:rPr lang="pt-PT" sz="120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pt-PT" sz="1200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(!</a:t>
            </a:r>
            <a:r>
              <a:rPr lang="pt-PT" sz="1200" dirty="0" err="1">
                <a:solidFill>
                  <a:srgbClr val="871094"/>
                </a:solidFill>
                <a:effectLst/>
                <a:latin typeface="JetBrains Mono"/>
              </a:rPr>
              <a:t>registeredServers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.isEmpty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()) {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871094"/>
                </a:solidFill>
                <a:effectLst/>
                <a:latin typeface="JetBrains Mono"/>
              </a:rPr>
              <a:t>registeredServers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.getFirst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lang="pt-PT" sz="120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200" dirty="0" err="1">
                <a:solidFill>
                  <a:srgbClr val="080808"/>
                </a:solidFill>
                <a:effectLst/>
                <a:latin typeface="JetBrains Mono"/>
              </a:rPr>
              <a:t>ServerDescriptor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200" dirty="0"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,-</a:t>
            </a:r>
            <a:r>
              <a:rPr lang="pt-PT" sz="12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, -</a:t>
            </a:r>
            <a:r>
              <a:rPr lang="pt-PT" sz="120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1200" dirty="0">
                <a:solidFill>
                  <a:srgbClr val="080808"/>
                </a:solidFill>
                <a:effectLst/>
                <a:latin typeface="JetBrains Mono"/>
              </a:rPr>
            </a:br>
            <a:endParaRPr lang="pt-PT" sz="1200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890F495-A2F6-69A5-CE84-600B91155A38}"/>
              </a:ext>
            </a:extLst>
          </p:cNvPr>
          <p:cNvSpPr txBox="1"/>
          <p:nvPr/>
        </p:nvSpPr>
        <p:spPr>
          <a:xfrm>
            <a:off x="4238897" y="1708155"/>
            <a:ext cx="2199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4408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A1F0634-16D8-A1F4-591D-957A093A832E}"/>
              </a:ext>
            </a:extLst>
          </p:cNvPr>
          <p:cNvSpPr txBox="1"/>
          <p:nvPr/>
        </p:nvSpPr>
        <p:spPr>
          <a:xfrm>
            <a:off x="411481" y="202474"/>
            <a:ext cx="422583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public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boolean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hasServer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String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serverAddress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){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for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ServerDescriptor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server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: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registeredServers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){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if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.getAddress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().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equalsIgnoreCase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serverAddress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)){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return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true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;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}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}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return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false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;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}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public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ServerDescriptor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getServer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String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serverAddress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){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for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ServerDescriptor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server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: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registeredServers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){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if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.getAddress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().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equalsIgnoreCase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serverAddress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)){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return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;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}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}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return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null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;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}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public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void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updateServerHeartbeat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String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serverAddress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){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ServerDescriptor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server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=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getServer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serverAddress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if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!=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null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){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.updateLastHeartbeat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();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}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}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endParaRPr lang="pt-PT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E9407BD-020B-2381-01F6-61C95A773E45}"/>
              </a:ext>
            </a:extLst>
          </p:cNvPr>
          <p:cNvSpPr txBox="1"/>
          <p:nvPr/>
        </p:nvSpPr>
        <p:spPr>
          <a:xfrm>
            <a:off x="4637315" y="202474"/>
            <a:ext cx="418954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public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void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removeInactiveServers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(){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Instant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timeNow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=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Instant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now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();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var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descriptorIterator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=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registeredServers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.iterator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();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while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descriptorIterator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.hasNext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()){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ServerDescriptor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server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=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descriptorIterator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.next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();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if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Duration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200" b="0" i="1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between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.getLastHeartbeat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(),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timeNow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</a:t>
            </a:r>
          </a:p>
          <a:p>
            <a:r>
              <a:rPr lang="pt-PT" sz="1200" dirty="0">
                <a:solidFill>
                  <a:srgbClr val="080808"/>
                </a:solidFill>
                <a:latin typeface="JetBrains Mono"/>
              </a:rPr>
              <a:t>	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getSeconds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 &gt;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17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){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    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descriptorIterator</a:t>
            </a:r>
            <a:r>
              <a:rPr kumimoji="0" lang="pt-PT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.remove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();</a:t>
            </a:r>
            <a:br>
              <a:rPr kumimoji="0" lang="pt-PT" sz="1200" b="0" i="1" u="none" strike="noStrike" kern="1200" cap="none" spc="0" normalizeH="0" baseline="0" noProof="0" dirty="0">
                <a:ln>
                  <a:noFill/>
                </a:ln>
                <a:solidFill>
                  <a:srgbClr val="008DDE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1" u="none" strike="noStrike" kern="1200" cap="none" spc="0" normalizeH="0" baseline="0" noProof="0" dirty="0">
                <a:ln>
                  <a:noFill/>
                </a:ln>
                <a:solidFill>
                  <a:srgbClr val="008DDE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}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}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}</a:t>
            </a: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b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}</a:t>
            </a:r>
            <a:endParaRPr lang="pt-PT" dirty="0"/>
          </a:p>
        </p:txBody>
      </p:sp>
      <p:cxnSp>
        <p:nvCxnSpPr>
          <p:cNvPr id="8" name="Google Shape;213;p31">
            <a:extLst>
              <a:ext uri="{FF2B5EF4-FFF2-40B4-BE49-F238E27FC236}">
                <a16:creationId xmlns:a16="http://schemas.microsoft.com/office/drawing/2014/main" id="{CA53CFE0-8F26-A1B0-4E86-AD99F55AD4D7}"/>
              </a:ext>
            </a:extLst>
          </p:cNvPr>
          <p:cNvCxnSpPr>
            <a:cxnSpLocks/>
          </p:cNvCxnSpPr>
          <p:nvPr/>
        </p:nvCxnSpPr>
        <p:spPr>
          <a:xfrm>
            <a:off x="4614943" y="202474"/>
            <a:ext cx="22372" cy="4591595"/>
          </a:xfrm>
          <a:prstGeom prst="straightConnector1">
            <a:avLst/>
          </a:prstGeom>
          <a:ln w="12700">
            <a:solidFill>
              <a:srgbClr val="083C77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3651507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38C07-04F3-D87A-856F-063F7DDAD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>
            <a:extLst>
              <a:ext uri="{FF2B5EF4-FFF2-40B4-BE49-F238E27FC236}">
                <a16:creationId xmlns:a16="http://schemas.microsoft.com/office/drawing/2014/main" id="{5762E82C-8EC3-6538-358C-7847D4ACB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240" y="3067200"/>
            <a:ext cx="3352320" cy="187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3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Servidor</a:t>
            </a:r>
            <a:endParaRPr lang="pt-PT" sz="3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>
            <a:extLst>
              <a:ext uri="{FF2B5EF4-FFF2-40B4-BE49-F238E27FC236}">
                <a16:creationId xmlns:a16="http://schemas.microsoft.com/office/drawing/2014/main" id="{B2E3A723-8E18-C797-31CE-366A5D7E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280" y="1609560"/>
            <a:ext cx="1266480" cy="126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6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  <a:ea typeface="Figtree"/>
              </a:rPr>
              <a:t>03</a:t>
            </a:r>
            <a:endParaRPr lang="pt-PT" sz="6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Google Shape;220;p32">
            <a:extLst>
              <a:ext uri="{FF2B5EF4-FFF2-40B4-BE49-F238E27FC236}">
                <a16:creationId xmlns:a16="http://schemas.microsoft.com/office/drawing/2014/main" id="{8A3C0E5C-2B89-361C-BE51-7040E04D2798}"/>
              </a:ext>
            </a:extLst>
          </p:cNvPr>
          <p:cNvCxnSpPr/>
          <p:nvPr/>
        </p:nvCxnSpPr>
        <p:spPr>
          <a:xfrm>
            <a:off x="-76320" y="2943000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2866898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934CA-E232-927A-68C6-C173C4681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E335192F-6C5C-AA69-203C-9D8495A4B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Servidor – Configuração Inicial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4510BDAF-99D9-33E3-E831-78E169402790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27347660-5BBB-57FC-D06F-5FF464991248}"/>
              </a:ext>
            </a:extLst>
          </p:cNvPr>
          <p:cNvSpPr txBox="1"/>
          <p:nvPr/>
        </p:nvSpPr>
        <p:spPr>
          <a:xfrm>
            <a:off x="228058" y="875211"/>
            <a:ext cx="8580061" cy="139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 servidor vai conter toda a logica e verificação do sistema, inicialmente temos uma classe de configuração,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ServerConfig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que verifica os dados introduzidos através da linha de comandos o IP e porto UDP do serviço de diretoria, caminho onde o ficheiro da base de dados vai ser guardado e o endereço de IP da interface de rede local para a comunicação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multicast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5E319A5-2161-8E25-7AFD-E4D5F2D27085}"/>
              </a:ext>
            </a:extLst>
          </p:cNvPr>
          <p:cNvSpPr txBox="1"/>
          <p:nvPr/>
        </p:nvSpPr>
        <p:spPr>
          <a:xfrm>
            <a:off x="228058" y="2265720"/>
            <a:ext cx="3671205" cy="283923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ServerConfig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final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directoryServerAddress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final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directoryServerPort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final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databaseDirectory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final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multicastAddress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627A"/>
                </a:solidFill>
                <a:effectLst/>
                <a:latin typeface="JetBrains Mono"/>
              </a:rPr>
              <a:t>ServerConfig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directoryServerAddress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directoryServerPort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        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databaseDirectory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multicastAddress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directoryServerAddress</a:t>
            </a:r>
            <a:r>
              <a:rPr lang="pt-PT" sz="105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directoryServerAddress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directoryServerPort</a:t>
            </a:r>
            <a:r>
              <a:rPr lang="pt-PT" sz="105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directoryServerPort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databaseDirectory</a:t>
            </a:r>
            <a:r>
              <a:rPr lang="pt-PT" sz="105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databaseDirectory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this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multicastAddress</a:t>
            </a:r>
            <a:r>
              <a:rPr lang="pt-PT" sz="1050" dirty="0"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multicastAddress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lang="pt-PT" sz="1050" dirty="0">
              <a:solidFill>
                <a:srgbClr val="080808"/>
              </a:solidFill>
              <a:latin typeface="JetBrains Mono"/>
            </a:endParaRPr>
          </a:p>
          <a:p>
            <a:pPr>
              <a:buNone/>
            </a:pP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//Restante código 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getters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e validações porto, diretoria e endereço 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multicast</a:t>
            </a:r>
            <a:endParaRPr lang="pt-PT" sz="1050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9034412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01E80-3070-5BD3-230C-EE94C6E1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DF7DCE41-65FE-A14D-2093-9EDF8AF76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Servidor – Configuração Inicial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AFF92671-F1C7-B095-DAD3-2E5ECD9F3CA6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787B9135-8D6A-1BD6-BC66-2CB5CB4093CB}"/>
              </a:ext>
            </a:extLst>
          </p:cNvPr>
          <p:cNvSpPr txBox="1"/>
          <p:nvPr/>
        </p:nvSpPr>
        <p:spPr>
          <a:xfrm>
            <a:off x="228058" y="875211"/>
            <a:ext cx="8717822" cy="139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configuração inicial do servidor é feita na classe </a:t>
            </a:r>
            <a:r>
              <a:rPr lang="pt-PT" sz="1600" i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ServerSetup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são criados 2 </a:t>
            </a:r>
            <a:r>
              <a:rPr lang="pt-PT" sz="1600" i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sockets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 comunicação uma para servidores e outro para clientes com </a:t>
            </a:r>
            <a:r>
              <a:rPr lang="pt-PT" sz="1600" i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ServerSocket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Definimos também o porto </a:t>
            </a:r>
            <a:r>
              <a:rPr lang="pt-PT" sz="1600" i="1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multicast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:3030. De seguida criamos os </a:t>
            </a:r>
            <a:r>
              <a:rPr lang="pt-PT" sz="1600" i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sockets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 comunicação </a:t>
            </a:r>
            <a:r>
              <a:rPr lang="pt-PT" sz="1600" i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multicast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 fazemos a conexão com o serviço diretoria. 0 servidor faz o pedido de registo ao serviço de diretoria através da comunicação UDP enviando um pedido de registo, </a:t>
            </a:r>
            <a:r>
              <a:rPr lang="pt-PT" sz="1600" i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RegisterServerRequest</a:t>
            </a:r>
            <a:endParaRPr lang="pt-PT" sz="16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06ABBCD-0452-462A-8D3F-2F40CB9E4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58" y="2213468"/>
            <a:ext cx="3857146" cy="313932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Server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createServer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pt-PT" altLang="pt-PT" sz="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pt-PT" altLang="pt-PT" sz="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8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Opening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client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and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server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listener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TCP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ports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..."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serverReceiverSocket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ServerSocket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clientReceiverSocket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ServerSocket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{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formatString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"""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Opened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TCP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ports.Server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&lt;=&gt;Server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port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: %d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Client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&lt;=&gt;Server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port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: %s"""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formattedString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formatString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.formatted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serverReceiverSocket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.getLocalPort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clientReceiverSocket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.getLocalPort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8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formattedString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8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OK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catch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Exception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e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8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Could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not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create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server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sockets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8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FAILED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    }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multicastSocketAddress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InetSocketAddress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config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.getMulticastAddress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 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MULTICAST_PORT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catch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Exception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e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8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Failed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to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get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multicast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sockets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8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FAILED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endParaRPr kumimoji="0" lang="pt-PT" altLang="pt-PT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7EE92DA-90D4-414D-B32D-7A1D5BED45C4}"/>
              </a:ext>
            </a:extLst>
          </p:cNvPr>
          <p:cNvSpPr txBox="1"/>
          <p:nvPr/>
        </p:nvSpPr>
        <p:spPr>
          <a:xfrm>
            <a:off x="4343406" y="2265720"/>
            <a:ext cx="4865434" cy="29238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pt-PT" altLang="pt-PT" sz="8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directorySocketAddress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InetSocketAddress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config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.getDirectoryServerAddress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config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.getDirectoryServerPort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catch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Exception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_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;}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DirectoryRegistrar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registrar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DirectoryRegistrar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directorySocketAddress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serverReceiverSocket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.getLocalPort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clientReceiverSocket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.getLocalPort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8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Registering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with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DirectoryServer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..."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RegisterServerResponse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response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registrar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.register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response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8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Registration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failed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. Server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will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exit."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8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FAILED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;}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registeredWithDirectory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_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mainServerSocketAddress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InetSocketAddress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response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.mainServerAddress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 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	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response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.mainServerPort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8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"MAIN server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at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: "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mainServerSocketAddress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getHostAddress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+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":" 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mainServerSocketAddress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.getPort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thisServerSocketAddress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InetSocketAddress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response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.requesterAddress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response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.requesterPort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catch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Exception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e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registrar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.unregister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8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pt-PT" altLang="pt-PT" sz="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;}</a:t>
            </a:r>
            <a:endParaRPr lang="pt-PT" sz="800" dirty="0"/>
          </a:p>
        </p:txBody>
      </p:sp>
      <p:cxnSp>
        <p:nvCxnSpPr>
          <p:cNvPr id="10" name="Google Shape;213;p31">
            <a:extLst>
              <a:ext uri="{FF2B5EF4-FFF2-40B4-BE49-F238E27FC236}">
                <a16:creationId xmlns:a16="http://schemas.microsoft.com/office/drawing/2014/main" id="{A850EB4C-9392-4FC2-9189-57026CC67F4D}"/>
              </a:ext>
            </a:extLst>
          </p:cNvPr>
          <p:cNvCxnSpPr>
            <a:cxnSpLocks/>
          </p:cNvCxnSpPr>
          <p:nvPr/>
        </p:nvCxnSpPr>
        <p:spPr>
          <a:xfrm>
            <a:off x="4286238" y="2410097"/>
            <a:ext cx="0" cy="2582640"/>
          </a:xfrm>
          <a:prstGeom prst="straightConnector1">
            <a:avLst/>
          </a:prstGeom>
          <a:ln w="12700">
            <a:solidFill>
              <a:srgbClr val="083C77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2676749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1A5E-34DC-776B-7E61-CEF1F4EC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72CF6F90-7382-3F9D-C374-D0FE15499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Servidor – Configuração Inicial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916BBD49-457B-C8AB-7121-B3C7E1BBB44D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A9C14A-538D-EE2C-F382-D92F1DEE02E8}"/>
              </a:ext>
            </a:extLst>
          </p:cNvPr>
          <p:cNvSpPr txBox="1"/>
          <p:nvPr/>
        </p:nvSpPr>
        <p:spPr>
          <a:xfrm>
            <a:off x="228058" y="875211"/>
            <a:ext cx="8580061" cy="1458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Na inicialização do servidor temos de ter em conta se existe um servidor principal caso este seja o servidor principal é o que vai realizar a comunicação com os clientes e criar a base de dados caso esta não exista. Se não for o servidor principal deve obter a base de dados correta porque vai servir de servidor de backup ao servidor principal. Para a gestão da base de dados utilizamos um gestor de base de dados, </a:t>
            </a:r>
            <a:r>
              <a:rPr lang="pt-PT" sz="1400" i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DatabaseManager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e vamos obter a base de dados mais recente, última a ser modificada, ou criar uma caso este seja o primeiro servidor a correr.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F550929-A759-4D22-A2CB-4EB1F4F84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380" y="2434627"/>
            <a:ext cx="8914620" cy="25545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isMainServer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mainServerSocketAddress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.equals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thisServerSocketAddress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DatabaseManager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databaseManager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createDatabaseManager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config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.getDatabaseDirectory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isMainServer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databaseManager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Couldn't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connect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to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the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SQLite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database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FAILED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registrar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.unregister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Connection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to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the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SQLite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database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\"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databaseManager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.getDbFilePath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+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\"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established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OK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(!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isMainServer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Requesting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up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to date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database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(!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requestDatabaseSync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databaseManager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mainServerSocketAddress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Couldn't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get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up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to date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database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FAILED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registrar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.unregister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Database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received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OK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);}</a:t>
            </a:r>
            <a:b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Server(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config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mainServerSocketAddress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thisServerSocketAddress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databaseManager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clientReceiverSocket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serverReceiverSocket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multicastSocketAddress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directorySocketAddress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101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1A5E-34DC-776B-7E61-CEF1F4EC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72CF6F90-7382-3F9D-C374-D0FE15499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Servidor – Criar Base de dados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916BBD49-457B-C8AB-7121-B3C7E1BBB44D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5FA9C14A-538D-EE2C-F382-D92F1DEE02E8}"/>
              </a:ext>
            </a:extLst>
          </p:cNvPr>
          <p:cNvSpPr txBox="1"/>
          <p:nvPr/>
        </p:nvSpPr>
        <p:spPr>
          <a:xfrm>
            <a:off x="228058" y="875211"/>
            <a:ext cx="8580061" cy="767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base de dados é criada através do </a:t>
            </a:r>
            <a:r>
              <a:rPr lang="pt-PT" sz="14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DatabaseManager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Foi construída uma arquitetura baseada em DAO, Data Access </a:t>
            </a:r>
            <a:r>
              <a:rPr lang="pt-PT" sz="14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Object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para facilitar e organizar melhor o código no servidor. </a:t>
            </a:r>
            <a:r>
              <a:rPr lang="pt-PT" sz="1400" dirty="0">
                <a:ea typeface="Aptos" panose="020B0004020202020204" pitchFamily="34" charset="0"/>
                <a:cs typeface="Times New Roman" panose="02020603050405020304" pitchFamily="18" charset="0"/>
              </a:rPr>
              <a:t>Um DAO, contem as instruções necessárias a obter dados da base de dados, segue o exemplo de verificar o login:</a:t>
            </a:r>
            <a:endParaRPr lang="pt-PT" sz="14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F2DC92-998A-4278-8D26-7079852DED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58" y="1643525"/>
            <a:ext cx="3985386" cy="33239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SQLiteUserDAO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extends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BaseDAO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SQLiteUserDAO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DatabaseManager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dbManager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super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dbManager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emailExists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email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throws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SQLException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sqlStudent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"SELECT 1 FROM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students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WHERE email = ?"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ResultSet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executeQuery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sqlStudent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email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rs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 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sqlInstructor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"SELECT 1 FROM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instructors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WHERE email = ?"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ResultSet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executeQuery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sqlInstructor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email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rs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.next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false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41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6CDA8-DC6C-4218-84FC-7FEC846F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70B95563-7608-8E43-A135-A7397A39F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Servidor – Configuração Inicial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12D60A10-78B3-7B1D-BC65-9C8D46C6A139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23B2548D-2D17-00FE-87E1-90C42E1F1791}"/>
              </a:ext>
            </a:extLst>
          </p:cNvPr>
          <p:cNvSpPr txBox="1"/>
          <p:nvPr/>
        </p:nvSpPr>
        <p:spPr>
          <a:xfrm>
            <a:off x="228058" y="875211"/>
            <a:ext cx="8580061" cy="863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Apos todas as configurações e comunicações estarem estabelecidas são criadas e inicializadas </a:t>
            </a:r>
            <a:r>
              <a:rPr lang="pt-PT" sz="1600" i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Threads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receçao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 envio de </a:t>
            </a:r>
            <a:r>
              <a:rPr lang="pt-PT" sz="1600" i="1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Heartbeat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pedido de envio de base de dados e o pedido de ligação do cliente. 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0B29E82-D7A9-4F9A-8EC1-EA8C052534E1}"/>
              </a:ext>
            </a:extLst>
          </p:cNvPr>
          <p:cNvSpPr/>
          <p:nvPr/>
        </p:nvSpPr>
        <p:spPr>
          <a:xfrm>
            <a:off x="3479758" y="2267219"/>
            <a:ext cx="1431169" cy="5149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Configuração do servidor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E29BEA4-F3FF-4AE7-AB6E-DE8A4C286B9B}"/>
              </a:ext>
            </a:extLst>
          </p:cNvPr>
          <p:cNvSpPr/>
          <p:nvPr/>
        </p:nvSpPr>
        <p:spPr>
          <a:xfrm>
            <a:off x="3479249" y="3006384"/>
            <a:ext cx="1431170" cy="5149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Inicialização do servidor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D01CE41-4822-473C-BCAC-A0009D3FB343}"/>
              </a:ext>
            </a:extLst>
          </p:cNvPr>
          <p:cNvSpPr/>
          <p:nvPr/>
        </p:nvSpPr>
        <p:spPr>
          <a:xfrm>
            <a:off x="3545803" y="3759839"/>
            <a:ext cx="1215597" cy="5149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Inicialização das </a:t>
            </a:r>
            <a:r>
              <a:rPr lang="pt-PT" sz="1400" dirty="0" err="1"/>
              <a:t>Threads</a:t>
            </a:r>
            <a:r>
              <a:rPr lang="pt-PT" sz="1400" dirty="0"/>
              <a:t> </a:t>
            </a:r>
          </a:p>
        </p:txBody>
      </p:sp>
      <p:cxnSp>
        <p:nvCxnSpPr>
          <p:cNvPr id="10" name="Conexão reta unidirecional 9">
            <a:extLst>
              <a:ext uri="{FF2B5EF4-FFF2-40B4-BE49-F238E27FC236}">
                <a16:creationId xmlns:a16="http://schemas.microsoft.com/office/drawing/2014/main" id="{EEA41A9B-39ED-4BBA-B657-4BF146927E1E}"/>
              </a:ext>
            </a:extLst>
          </p:cNvPr>
          <p:cNvCxnSpPr>
            <a:cxnSpLocks/>
          </p:cNvCxnSpPr>
          <p:nvPr/>
        </p:nvCxnSpPr>
        <p:spPr>
          <a:xfrm flipH="1">
            <a:off x="4194835" y="2784692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exão reta unidirecional 11">
            <a:extLst>
              <a:ext uri="{FF2B5EF4-FFF2-40B4-BE49-F238E27FC236}">
                <a16:creationId xmlns:a16="http://schemas.microsoft.com/office/drawing/2014/main" id="{A06260D2-EF5F-4377-827A-ABD9DA576462}"/>
              </a:ext>
            </a:extLst>
          </p:cNvPr>
          <p:cNvCxnSpPr>
            <a:cxnSpLocks/>
          </p:cNvCxnSpPr>
          <p:nvPr/>
        </p:nvCxnSpPr>
        <p:spPr>
          <a:xfrm flipH="1">
            <a:off x="4195343" y="3532170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8789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1A5E-34DC-776B-7E61-CEF1F4EC2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72CF6F90-7382-3F9D-C374-D0FE15499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Servidor – Fluxo de funcionamento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916BBD49-457B-C8AB-7121-B3C7E1BBB44D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14" name="Retângulo 13">
            <a:extLst>
              <a:ext uri="{FF2B5EF4-FFF2-40B4-BE49-F238E27FC236}">
                <a16:creationId xmlns:a16="http://schemas.microsoft.com/office/drawing/2014/main" id="{C7CBF81E-AD61-4585-8D16-8B6B8B0E4181}"/>
              </a:ext>
            </a:extLst>
          </p:cNvPr>
          <p:cNvSpPr/>
          <p:nvPr/>
        </p:nvSpPr>
        <p:spPr>
          <a:xfrm>
            <a:off x="3155143" y="865777"/>
            <a:ext cx="2212462" cy="5937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err="1"/>
              <a:t>Thread</a:t>
            </a:r>
            <a:r>
              <a:rPr lang="pt-PT" sz="1400" dirty="0"/>
              <a:t> de escuta de clientes</a:t>
            </a:r>
          </a:p>
        </p:txBody>
      </p: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6E028282-64E1-4433-81C9-695B7018DCC0}"/>
              </a:ext>
            </a:extLst>
          </p:cNvPr>
          <p:cNvCxnSpPr>
            <a:cxnSpLocks/>
          </p:cNvCxnSpPr>
          <p:nvPr/>
        </p:nvCxnSpPr>
        <p:spPr>
          <a:xfrm flipH="1">
            <a:off x="4261373" y="1466210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xão reta unidirecional 18">
            <a:extLst>
              <a:ext uri="{FF2B5EF4-FFF2-40B4-BE49-F238E27FC236}">
                <a16:creationId xmlns:a16="http://schemas.microsoft.com/office/drawing/2014/main" id="{E1E413E6-01C9-4C8A-AF6B-E2A36D0A5FCD}"/>
              </a:ext>
            </a:extLst>
          </p:cNvPr>
          <p:cNvCxnSpPr>
            <a:cxnSpLocks/>
          </p:cNvCxnSpPr>
          <p:nvPr/>
        </p:nvCxnSpPr>
        <p:spPr>
          <a:xfrm flipH="1">
            <a:off x="4261372" y="2314452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tângulo 21">
            <a:extLst>
              <a:ext uri="{FF2B5EF4-FFF2-40B4-BE49-F238E27FC236}">
                <a16:creationId xmlns:a16="http://schemas.microsoft.com/office/drawing/2014/main" id="{ABE4591F-EAB4-4599-A8A9-A30F26892D53}"/>
              </a:ext>
            </a:extLst>
          </p:cNvPr>
          <p:cNvSpPr/>
          <p:nvPr/>
        </p:nvSpPr>
        <p:spPr>
          <a:xfrm>
            <a:off x="3144587" y="2555103"/>
            <a:ext cx="2212462" cy="7200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Aguarda pedidos do cliente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FBF2CC27-5BF1-48D5-B9DD-6611864C8699}"/>
              </a:ext>
            </a:extLst>
          </p:cNvPr>
          <p:cNvSpPr/>
          <p:nvPr/>
        </p:nvSpPr>
        <p:spPr>
          <a:xfrm>
            <a:off x="3164909" y="1720724"/>
            <a:ext cx="2212462" cy="5937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err="1"/>
              <a:t>Thread</a:t>
            </a:r>
            <a:r>
              <a:rPr lang="pt-PT" sz="1400" dirty="0"/>
              <a:t> de sessão de cada cliente</a:t>
            </a:r>
          </a:p>
        </p:txBody>
      </p: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D104BA81-5CB6-4711-BE5C-D2EBF711934B}"/>
              </a:ext>
            </a:extLst>
          </p:cNvPr>
          <p:cNvCxnSpPr>
            <a:cxnSpLocks/>
          </p:cNvCxnSpPr>
          <p:nvPr/>
        </p:nvCxnSpPr>
        <p:spPr>
          <a:xfrm flipH="1">
            <a:off x="4250817" y="3298707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6" name="Retângulo 25">
            <a:extLst>
              <a:ext uri="{FF2B5EF4-FFF2-40B4-BE49-F238E27FC236}">
                <a16:creationId xmlns:a16="http://schemas.microsoft.com/office/drawing/2014/main" id="{4A621A92-496A-42A0-BD6F-1B724CEACBD1}"/>
              </a:ext>
            </a:extLst>
          </p:cNvPr>
          <p:cNvSpPr/>
          <p:nvPr/>
        </p:nvSpPr>
        <p:spPr>
          <a:xfrm>
            <a:off x="3164909" y="3544915"/>
            <a:ext cx="2212462" cy="7200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Pedido processado pelo respetivo </a:t>
            </a:r>
            <a:r>
              <a:rPr lang="pt-PT" sz="1400" dirty="0" err="1"/>
              <a:t>controller</a:t>
            </a:r>
            <a:endParaRPr lang="pt-PT" sz="1400" dirty="0"/>
          </a:p>
        </p:txBody>
      </p:sp>
      <p:cxnSp>
        <p:nvCxnSpPr>
          <p:cNvPr id="27" name="Conexão reta unidirecional 26">
            <a:extLst>
              <a:ext uri="{FF2B5EF4-FFF2-40B4-BE49-F238E27FC236}">
                <a16:creationId xmlns:a16="http://schemas.microsoft.com/office/drawing/2014/main" id="{4237F33E-A619-49DD-84AC-FD9E3422C03E}"/>
              </a:ext>
            </a:extLst>
          </p:cNvPr>
          <p:cNvCxnSpPr>
            <a:cxnSpLocks/>
          </p:cNvCxnSpPr>
          <p:nvPr/>
        </p:nvCxnSpPr>
        <p:spPr>
          <a:xfrm flipH="1">
            <a:off x="4250817" y="4288519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Retângulo 27">
            <a:extLst>
              <a:ext uri="{FF2B5EF4-FFF2-40B4-BE49-F238E27FC236}">
                <a16:creationId xmlns:a16="http://schemas.microsoft.com/office/drawing/2014/main" id="{023B6C81-1DD5-47AA-AC3C-7A8B5ABE41E4}"/>
              </a:ext>
            </a:extLst>
          </p:cNvPr>
          <p:cNvSpPr/>
          <p:nvPr/>
        </p:nvSpPr>
        <p:spPr>
          <a:xfrm>
            <a:off x="3164909" y="4534727"/>
            <a:ext cx="2212462" cy="52947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Envio da resposta ao cliente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CD16B7C7-D19A-47F4-BF0C-B794996DA094}"/>
              </a:ext>
            </a:extLst>
          </p:cNvPr>
          <p:cNvSpPr/>
          <p:nvPr/>
        </p:nvSpPr>
        <p:spPr>
          <a:xfrm>
            <a:off x="6128706" y="865777"/>
            <a:ext cx="2212462" cy="5937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err="1"/>
              <a:t>Thread</a:t>
            </a:r>
            <a:r>
              <a:rPr lang="pt-PT" sz="1400" dirty="0"/>
              <a:t> de sincronização da base de dados</a:t>
            </a:r>
          </a:p>
        </p:txBody>
      </p:sp>
      <p:cxnSp>
        <p:nvCxnSpPr>
          <p:cNvPr id="30" name="Conexão reta unidirecional 29">
            <a:extLst>
              <a:ext uri="{FF2B5EF4-FFF2-40B4-BE49-F238E27FC236}">
                <a16:creationId xmlns:a16="http://schemas.microsoft.com/office/drawing/2014/main" id="{6735C649-71E1-4490-A271-23A7D439BDE4}"/>
              </a:ext>
            </a:extLst>
          </p:cNvPr>
          <p:cNvCxnSpPr>
            <a:cxnSpLocks/>
          </p:cNvCxnSpPr>
          <p:nvPr/>
        </p:nvCxnSpPr>
        <p:spPr>
          <a:xfrm flipH="1">
            <a:off x="7234936" y="1466210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94C3AE4B-C0BB-4498-BE24-7775AECD31FC}"/>
              </a:ext>
            </a:extLst>
          </p:cNvPr>
          <p:cNvCxnSpPr>
            <a:cxnSpLocks/>
          </p:cNvCxnSpPr>
          <p:nvPr/>
        </p:nvCxnSpPr>
        <p:spPr>
          <a:xfrm flipH="1">
            <a:off x="7234935" y="2314452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Retângulo 31">
            <a:extLst>
              <a:ext uri="{FF2B5EF4-FFF2-40B4-BE49-F238E27FC236}">
                <a16:creationId xmlns:a16="http://schemas.microsoft.com/office/drawing/2014/main" id="{25C33E5D-8FF3-40BA-AA9E-361176CDFC3A}"/>
              </a:ext>
            </a:extLst>
          </p:cNvPr>
          <p:cNvSpPr/>
          <p:nvPr/>
        </p:nvSpPr>
        <p:spPr>
          <a:xfrm>
            <a:off x="6118150" y="2555103"/>
            <a:ext cx="2212462" cy="7200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Envio da base de dados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6B7B28B0-455F-46A6-B440-DDAFF0C48422}"/>
              </a:ext>
            </a:extLst>
          </p:cNvPr>
          <p:cNvSpPr/>
          <p:nvPr/>
        </p:nvSpPr>
        <p:spPr>
          <a:xfrm>
            <a:off x="6138472" y="1720724"/>
            <a:ext cx="2212462" cy="5937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Aguarda por pedidos no </a:t>
            </a:r>
            <a:r>
              <a:rPr lang="pt-PT" sz="1400" dirty="0" err="1"/>
              <a:t>socket</a:t>
            </a:r>
            <a:r>
              <a:rPr lang="pt-PT" sz="1400" dirty="0"/>
              <a:t> se </a:t>
            </a:r>
            <a:r>
              <a:rPr lang="pt-PT" sz="1400" dirty="0" err="1"/>
              <a:t>main</a:t>
            </a:r>
            <a:r>
              <a:rPr lang="pt-PT" sz="1400" dirty="0"/>
              <a:t> server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AA2C4A2-8F3D-1702-BFEE-BD36C7D3FD21}"/>
              </a:ext>
            </a:extLst>
          </p:cNvPr>
          <p:cNvSpPr/>
          <p:nvPr/>
        </p:nvSpPr>
        <p:spPr>
          <a:xfrm>
            <a:off x="485591" y="865777"/>
            <a:ext cx="2212462" cy="5937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err="1"/>
              <a:t>Thread</a:t>
            </a:r>
            <a:r>
              <a:rPr lang="pt-PT" sz="1400" dirty="0"/>
              <a:t> de envio de </a:t>
            </a:r>
            <a:r>
              <a:rPr lang="pt-PT" sz="1400" dirty="0" err="1"/>
              <a:t>Heartbeat</a:t>
            </a:r>
            <a:endParaRPr lang="pt-PT" sz="1400" dirty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25C7A5E-C342-F192-04CD-5585C0B2B49A}"/>
              </a:ext>
            </a:extLst>
          </p:cNvPr>
          <p:cNvSpPr/>
          <p:nvPr/>
        </p:nvSpPr>
        <p:spPr>
          <a:xfrm>
            <a:off x="475036" y="2549959"/>
            <a:ext cx="2212462" cy="5937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err="1"/>
              <a:t>Thread</a:t>
            </a:r>
            <a:r>
              <a:rPr lang="pt-PT" sz="1400" dirty="0"/>
              <a:t> de receção de </a:t>
            </a:r>
            <a:r>
              <a:rPr lang="pt-PT" sz="1400" dirty="0" err="1"/>
              <a:t>Heartbeat</a:t>
            </a:r>
            <a:endParaRPr lang="pt-PT" sz="1400" dirty="0"/>
          </a:p>
        </p:txBody>
      </p:sp>
    </p:spTree>
    <p:extLst>
      <p:ext uri="{BB962C8B-B14F-4D97-AF65-F5344CB8AC3E}">
        <p14:creationId xmlns:p14="http://schemas.microsoft.com/office/powerpoint/2010/main" val="4501208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6E5C2-29DB-1D45-DDB2-7B90F198B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05100D37-B9D9-8986-A587-0FF400B86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Servidor – Pedido de atualização de </a:t>
            </a: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HeartBeat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D6CD5685-CB6E-3763-4C41-191AAE2EFBA1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4A1E1D25-6FF9-5769-95A1-B30F2D64E6E8}"/>
              </a:ext>
            </a:extLst>
          </p:cNvPr>
          <p:cNvSpPr txBox="1"/>
          <p:nvPr/>
        </p:nvSpPr>
        <p:spPr>
          <a:xfrm>
            <a:off x="228058" y="875211"/>
            <a:ext cx="8580061" cy="1134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HeartbeatEmitter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vai criar um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HeartbeatRequest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com a versão da base de dados o porto do servidor e do cliente e o IP do serviço de diretoria. O pedido é enviado através da comunicação UDP pelo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multicast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 envia uma notificação ao serviço de diretoria para que o seu último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heartbeat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seja atualizado.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D1432C5-F5E9-64B8-5363-9EAF28EE0265}"/>
              </a:ext>
            </a:extLst>
          </p:cNvPr>
          <p:cNvSpPr txBox="1"/>
          <p:nvPr/>
        </p:nvSpPr>
        <p:spPr>
          <a:xfrm>
            <a:off x="228058" y="2010202"/>
            <a:ext cx="3671205" cy="33239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627A"/>
                </a:solidFill>
                <a:effectLst/>
                <a:latin typeface="JetBrains Mono"/>
              </a:rPr>
              <a:t>run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Started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HeartbeatEmitter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thread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871094"/>
                </a:solidFill>
                <a:effectLst/>
                <a:latin typeface="JetBrains Mono"/>
              </a:rPr>
              <a:t>OK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while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serverManager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.getIsRunning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HeartbeatRequest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heartbeatRequest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createHeartbeat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heartbeatRequest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.databaseVersion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 == -</a:t>
            </a:r>
            <a:r>
              <a:rPr lang="pt-PT" sz="1050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Couldn't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get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the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database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version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.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Exiting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..."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871094"/>
                </a:solidFill>
                <a:effectLst/>
                <a:latin typeface="JetBrains Mono"/>
              </a:rPr>
              <a:t>FAILED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serverManager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.errorShutdown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break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sentBroadcast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DatagramUtil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send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datagramSocket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heartbeatRequest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multicastSocketAddress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notifiedDirectoryServer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DatagramUtil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send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datagramSocket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heartbeatRequest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directorySocketAddress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endParaRPr lang="pt-PT" sz="1050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75A2F73-86A2-5BF5-FD9B-5D6445DEA3DB}"/>
              </a:ext>
            </a:extLst>
          </p:cNvPr>
          <p:cNvSpPr txBox="1"/>
          <p:nvPr/>
        </p:nvSpPr>
        <p:spPr>
          <a:xfrm>
            <a:off x="3971960" y="2010202"/>
            <a:ext cx="5136342" cy="3116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if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(!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sentBroadcast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 {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FancyLog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println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"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Couldn't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send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broadcast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."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,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FancyLog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Status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FAILED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}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if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(!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notifiedDirectoryServer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 {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FancyLog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println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"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Couldn't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notify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the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DirectoryServer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"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,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FancyLog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Status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FAILED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}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try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{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Thread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sleep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5000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}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catch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InterruptedException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e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 {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throw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new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RuntimeException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e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}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}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FancyLog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println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"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Closed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HeartbeatEmitter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thread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."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}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private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HeartbeatRequest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627A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createHeartbeat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 {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return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new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HeartbeatRequest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systemConfigDAO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.getDatabaseVersion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(),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""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,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serverReceiverPort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,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clientReceiverPort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,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serverManager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.getLocalAddress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());</a:t>
            </a:r>
          </a:p>
          <a:p>
            <a:r>
              <a:rPr lang="pt-PT" sz="1050" dirty="0">
                <a:solidFill>
                  <a:srgbClr val="080808"/>
                </a:solidFill>
                <a:latin typeface="JetBrains Mono"/>
              </a:rPr>
              <a:t>}</a:t>
            </a:r>
            <a:endParaRPr lang="pt-PT" dirty="0"/>
          </a:p>
        </p:txBody>
      </p:sp>
      <p:cxnSp>
        <p:nvCxnSpPr>
          <p:cNvPr id="3" name="Google Shape;213;p31">
            <a:extLst>
              <a:ext uri="{FF2B5EF4-FFF2-40B4-BE49-F238E27FC236}">
                <a16:creationId xmlns:a16="http://schemas.microsoft.com/office/drawing/2014/main" id="{146A7E90-8B81-BF4B-4D08-B094123D0DED}"/>
              </a:ext>
            </a:extLst>
          </p:cNvPr>
          <p:cNvCxnSpPr>
            <a:cxnSpLocks/>
          </p:cNvCxnSpPr>
          <p:nvPr/>
        </p:nvCxnSpPr>
        <p:spPr>
          <a:xfrm>
            <a:off x="3820885" y="2116183"/>
            <a:ext cx="0" cy="2873829"/>
          </a:xfrm>
          <a:prstGeom prst="straightConnector1">
            <a:avLst/>
          </a:prstGeom>
          <a:ln w="12700">
            <a:solidFill>
              <a:srgbClr val="083C77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3924081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B5A86-8D0D-5782-8DF6-F158CC7B6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B93FC5D5-3A7F-50B2-261B-2DFC2B4A9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Servidor – Receção do pedido do </a:t>
            </a: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HeartBeat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BFB45430-FC71-3C08-B406-510A5AEAA8DB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69B53CF-A095-9116-4C08-C4ACB051E33A}"/>
              </a:ext>
            </a:extLst>
          </p:cNvPr>
          <p:cNvSpPr txBox="1"/>
          <p:nvPr/>
        </p:nvSpPr>
        <p:spPr>
          <a:xfrm>
            <a:off x="228058" y="875211"/>
            <a:ext cx="8580061" cy="1925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HeartbeatReceiver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vai receber a resposta do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multicast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 vai verificar se a mensagem recebida no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socket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é do tipo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HeartbeatRequest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que contem a versão da base de dados a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query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 efetuar, o porto do servidor e do cliente e o IP. De seguida verifica se for o servidor principal ou a mensagem não tenha sido recebida através do mesmo ignora, caso contrário vai verificar a versão da base de dados.  Para ir de acordo com o enunciado proposto apenas vamos fazer o pedido a base de dados se a versão da base de dados do pedido é igual á local mais um e se a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query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é válida.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CC3CAA5-87D7-F458-692D-29B2EF7C07D8}"/>
              </a:ext>
            </a:extLst>
          </p:cNvPr>
          <p:cNvSpPr txBox="1"/>
          <p:nvPr/>
        </p:nvSpPr>
        <p:spPr>
          <a:xfrm>
            <a:off x="228058" y="2789009"/>
            <a:ext cx="3671205" cy="23544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627A"/>
                </a:solidFill>
                <a:effectLst/>
                <a:latin typeface="JetBrains Mono"/>
              </a:rPr>
              <a:t>run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Started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HeartbeatReceiver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thread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871094"/>
                </a:solidFill>
                <a:effectLst/>
                <a:latin typeface="JetBrains Mono"/>
              </a:rPr>
              <a:t>OK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while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serverManager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.getIsRunning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Object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obj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DatagramUtil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receive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multicastReceiverSocket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multicastSocketAddress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(!(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obj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instanceof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HeartbeatRequest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heartbeatRequest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HeartbeatReceiver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received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invalid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packet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.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Ignoring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871094"/>
                </a:solidFill>
                <a:effectLst/>
                <a:latin typeface="JetBrains Mono"/>
              </a:rPr>
              <a:t>FAILED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continue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r>
              <a:rPr lang="pt-PT" sz="1050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serverManager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.isMainServer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()||!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serverManager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.isHeartBeatFromMainServer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heartbeatRequest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)){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continue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;}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3A13B0A-5C24-0D29-C526-5F82614C34D7}"/>
              </a:ext>
            </a:extLst>
          </p:cNvPr>
          <p:cNvSpPr txBox="1"/>
          <p:nvPr/>
        </p:nvSpPr>
        <p:spPr>
          <a:xfrm>
            <a:off x="3899263" y="2644187"/>
            <a:ext cx="5131533" cy="25160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FancyLog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println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"DEBUG: "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+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heartbeatRequest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int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databaseVersion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=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systemConfigDAO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.getDatabaseVersion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if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heartbeatRequest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.databaseQuery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().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isBlank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 &amp;&amp; </a:t>
            </a:r>
          </a:p>
          <a:p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heartbeatRequest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.databaseVersion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 !=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databaseVersion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 {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serverManager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.errorShutdown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}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else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if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(!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heartbeatRequest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.databaseQuery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().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isBlank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 &amp;&amp;</a:t>
            </a:r>
          </a:p>
          <a:p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heartbeatRequest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.databaseVersion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 !=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databaseVersion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+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1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 {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serverManager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.errorShutdown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}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else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if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(!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heartbeatRequest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.databaseQuery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().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isBlank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 &amp;&amp; </a:t>
            </a:r>
          </a:p>
          <a:p>
            <a:r>
              <a:rPr lang="pt-PT" sz="1050" dirty="0">
                <a:solidFill>
                  <a:srgbClr val="080808"/>
                </a:solidFill>
                <a:latin typeface="JetBrains Mono"/>
              </a:rPr>
              <a:t>             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heartbeatRequest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.databaseVersion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 ==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databaseVersion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+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1750EB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1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 {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if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(!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databaseManager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.executeNetworkQuery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heartbeatRequest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.databaseQuery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())) {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serverManager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.errorShutdown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}}}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FancyLog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println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"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Closed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HeartbeatReceiver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thread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."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}</a:t>
            </a:r>
            <a:endParaRPr lang="pt-PT" dirty="0"/>
          </a:p>
        </p:txBody>
      </p:sp>
      <p:cxnSp>
        <p:nvCxnSpPr>
          <p:cNvPr id="3" name="Google Shape;213;p31">
            <a:extLst>
              <a:ext uri="{FF2B5EF4-FFF2-40B4-BE49-F238E27FC236}">
                <a16:creationId xmlns:a16="http://schemas.microsoft.com/office/drawing/2014/main" id="{2ECAA73D-D179-A385-A0A0-1337CECDC837}"/>
              </a:ext>
            </a:extLst>
          </p:cNvPr>
          <p:cNvCxnSpPr>
            <a:cxnSpLocks/>
          </p:cNvCxnSpPr>
          <p:nvPr/>
        </p:nvCxnSpPr>
        <p:spPr>
          <a:xfrm>
            <a:off x="3899263" y="2800610"/>
            <a:ext cx="0" cy="2221117"/>
          </a:xfrm>
          <a:prstGeom prst="straightConnector1">
            <a:avLst/>
          </a:prstGeom>
          <a:ln w="12700">
            <a:solidFill>
              <a:srgbClr val="083C77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36735989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2AA86-A298-E471-B6F9-9163584E1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3E8306E6-3038-C617-B3F9-AFFAA1418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Servidor – Sincronização da base de dados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635CD87D-10CE-1059-9247-87B032E53359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DFA9FB-5A1C-5874-4A97-6C7A23D48931}"/>
              </a:ext>
            </a:extLst>
          </p:cNvPr>
          <p:cNvSpPr txBox="1"/>
          <p:nvPr/>
        </p:nvSpPr>
        <p:spPr>
          <a:xfrm>
            <a:off x="228058" y="875211"/>
            <a:ext cx="8580061" cy="1134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ServerDatabaseTrasnmitter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fica em ciclo enquanto o serviço de diretoria estiver a ser executado. A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fica a aguardar por pedidos TCP de servidores para realizar a transferência da base de dados caso estes sejam servidores backup, apenas o servidor principal do momento está a executar esta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7365F75-AD0C-657B-7358-09A18AF41D6A}"/>
              </a:ext>
            </a:extLst>
          </p:cNvPr>
          <p:cNvSpPr txBox="1"/>
          <p:nvPr/>
        </p:nvSpPr>
        <p:spPr>
          <a:xfrm>
            <a:off x="228058" y="2010202"/>
            <a:ext cx="3671205" cy="235449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627A"/>
                </a:solidFill>
                <a:effectLst/>
                <a:latin typeface="JetBrains Mono"/>
              </a:rPr>
              <a:t>run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Started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ServerDatabaseTransmitter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thread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871094"/>
                </a:solidFill>
                <a:effectLst/>
                <a:latin typeface="JetBrains Mono"/>
              </a:rPr>
              <a:t>OK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while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serverManager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.getIsRunning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Socket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serverSocket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serverReceiverSocket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.accept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serverManager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.isMainServer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Received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database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sync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request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.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Sending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data..."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SocketUtil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send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serverSocket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databaseManager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.getDatabaseBytes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Sent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database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871094"/>
                </a:solidFill>
                <a:effectLst/>
                <a:latin typeface="JetBrains Mono"/>
              </a:rPr>
              <a:t>OK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}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1907228-BF0F-A3CF-2919-889B93469A88}"/>
              </a:ext>
            </a:extLst>
          </p:cNvPr>
          <p:cNvSpPr txBox="1"/>
          <p:nvPr/>
        </p:nvSpPr>
        <p:spPr>
          <a:xfrm>
            <a:off x="3782549" y="2010202"/>
            <a:ext cx="5458546" cy="18697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else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{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FancyLog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println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"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Received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database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sync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request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But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is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not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MAIN server.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Ignoring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..."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}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}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catch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Exception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_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 {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FancyLog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println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"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Couldn't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send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database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over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."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,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FancyLog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Status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FAILED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}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}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FancyLog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println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"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Closed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ServerDatabaseTransmitter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thread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."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}</a:t>
            </a:r>
            <a:endParaRPr lang="pt-PT" dirty="0"/>
          </a:p>
        </p:txBody>
      </p:sp>
      <p:cxnSp>
        <p:nvCxnSpPr>
          <p:cNvPr id="3" name="Google Shape;213;p31">
            <a:extLst>
              <a:ext uri="{FF2B5EF4-FFF2-40B4-BE49-F238E27FC236}">
                <a16:creationId xmlns:a16="http://schemas.microsoft.com/office/drawing/2014/main" id="{137DB124-3F47-4C7C-7B65-6EB5E8444C31}"/>
              </a:ext>
            </a:extLst>
          </p:cNvPr>
          <p:cNvCxnSpPr>
            <a:cxnSpLocks/>
          </p:cNvCxnSpPr>
          <p:nvPr/>
        </p:nvCxnSpPr>
        <p:spPr>
          <a:xfrm>
            <a:off x="3795611" y="2010202"/>
            <a:ext cx="0" cy="2354491"/>
          </a:xfrm>
          <a:prstGeom prst="straightConnector1">
            <a:avLst/>
          </a:prstGeom>
          <a:ln w="12700">
            <a:solidFill>
              <a:srgbClr val="083C77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31412928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2AA86-A298-E471-B6F9-9163584E1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3E8306E6-3038-C617-B3F9-AFFAA1418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Servidor – Sincronização da base de dados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635CD87D-10CE-1059-9247-87B032E53359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DFA9FB-5A1C-5874-4A97-6C7A23D48931}"/>
              </a:ext>
            </a:extLst>
          </p:cNvPr>
          <p:cNvSpPr txBox="1"/>
          <p:nvPr/>
        </p:nvSpPr>
        <p:spPr>
          <a:xfrm>
            <a:off x="228058" y="875211"/>
            <a:ext cx="8580061" cy="1653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Para manter as bases de dados dos clusters atualizadas é enviado um pedido de atualização a base de dados, através do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QueryLogger.sendLogs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(…). Para evitar que um pedido fique a meio como o de criação de questões porque é mais que uma instrução então fazemos um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lock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sincronizado durante o tratamento do pedido para evitar que o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HeartBeatEmitter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envie um pedido a meio de outro e dessincronize as versões da bas</a:t>
            </a:r>
            <a:r>
              <a:rPr lang="pt-PT" sz="1600" dirty="0">
                <a:ea typeface="Aptos" panose="020B0004020202020204" pitchFamily="34" charset="0"/>
                <a:cs typeface="Times New Roman" panose="02020603050405020304" pitchFamily="18" charset="0"/>
              </a:rPr>
              <a:t>e de dados.</a:t>
            </a:r>
            <a:endParaRPr lang="pt-PT" sz="16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A3EB1D5-A8AE-4531-9483-3100DD6AE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58" y="3098738"/>
            <a:ext cx="7630615" cy="116955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synchronized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QueryLogger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logLock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switch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receivedObject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</a:t>
            </a: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Client</a:t>
            </a: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Requests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Replicate</a:t>
            </a: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database</a:t>
            </a: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updates</a:t>
            </a:r>
            <a:b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QueryLogger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sendLogs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datagramSocket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multicastSocketAddress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serverManager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.getLocalAddress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serverReceiverPort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clientReceiverPort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492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44E97-C9F1-CED9-621F-C0F154BEA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797C797A-23CB-6E3E-1B23-4C637CE31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Servidor – Ligação com o cliente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62F17545-9BC0-4555-2A4C-4CE790FAC12E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B07F4A4E-65C6-DF8F-24BA-D7CF9051F4F8}"/>
              </a:ext>
            </a:extLst>
          </p:cNvPr>
          <p:cNvSpPr txBox="1"/>
          <p:nvPr/>
        </p:nvSpPr>
        <p:spPr>
          <a:xfrm>
            <a:off x="228058" y="875211"/>
            <a:ext cx="8580061" cy="1664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ClientConnectionReceiver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apenas vai ser executada enquanto o serviço de diretoria estiver a ser executado. Para garantir que o servidor consegue lidar com múltiplos clientes simultaneamente, o método utiliza um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ExecutorService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clientThreadPool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configurado para usar um pool de 10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threads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Quando um cliente se liga ao servidor, é aceite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clientReceiverSocket.accept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(), este adiciona uma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para o cliente que vai ser tratado através da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PT" sz="16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ClientSessionHandler</a:t>
            </a:r>
            <a:r>
              <a:rPr lang="pt-PT" sz="16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que vai tratar de toda a lógica de negócio.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9D95A22-C139-C93A-0D7C-A895C50E6BA0}"/>
              </a:ext>
            </a:extLst>
          </p:cNvPr>
          <p:cNvSpPr txBox="1"/>
          <p:nvPr/>
        </p:nvSpPr>
        <p:spPr>
          <a:xfrm>
            <a:off x="228058" y="2539385"/>
            <a:ext cx="3671205" cy="219290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627A"/>
                </a:solidFill>
                <a:effectLst/>
                <a:latin typeface="JetBrains Mono"/>
              </a:rPr>
              <a:t>run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Started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ClientConnectionReceiver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thread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871094"/>
                </a:solidFill>
                <a:effectLst/>
                <a:latin typeface="JetBrains Mono"/>
              </a:rPr>
              <a:t>OK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while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serverManager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.getIsRunning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Socket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clientSocket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clientReceiverSocket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.accept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"New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client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connected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: %s</a:t>
            </a:r>
            <a:r>
              <a:rPr lang="pt-PT" sz="1050" dirty="0">
                <a:solidFill>
                  <a:srgbClr val="0037A6"/>
                </a:solidFill>
                <a:effectLst/>
                <a:latin typeface="JetBrains Mono"/>
              </a:rPr>
              <a:t>\</a:t>
            </a:r>
            <a:r>
              <a:rPr lang="pt-PT" sz="1050" dirty="0" err="1">
                <a:solidFill>
                  <a:srgbClr val="0037A6"/>
                </a:solidFill>
                <a:effectLst/>
                <a:latin typeface="JetBrains Mono"/>
              </a:rPr>
              <a:t>n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Starting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thread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formatted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clientSocket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.getRemoteSocketAddress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()));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3E7934F-B5A5-9176-A360-832E9B02C56A}"/>
              </a:ext>
            </a:extLst>
          </p:cNvPr>
          <p:cNvSpPr txBox="1"/>
          <p:nvPr/>
        </p:nvSpPr>
        <p:spPr>
          <a:xfrm>
            <a:off x="3899263" y="2539385"/>
            <a:ext cx="5368777" cy="25160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pt-PT" sz="105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// 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handle</a:t>
            </a:r>
            <a:r>
              <a:rPr kumimoji="0" lang="pt-PT" sz="105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client</a:t>
            </a:r>
            <a:r>
              <a:rPr kumimoji="0" lang="pt-PT" sz="105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in 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thread</a:t>
            </a:r>
            <a:r>
              <a:rPr kumimoji="0" lang="pt-PT" sz="105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pool</a:t>
            </a:r>
            <a:br>
              <a:rPr kumimoji="0" lang="pt-PT" sz="105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1" u="none" strike="noStrike" kern="1200" cap="none" spc="0" normalizeH="0" baseline="0" noProof="0" dirty="0">
                <a:ln>
                  <a:noFill/>
                </a:ln>
                <a:solidFill>
                  <a:srgbClr val="8C8C8C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ClientSessionHandler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clientSessionHandler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=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new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ClientSessionHandler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serverManager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,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databaseManager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,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questionController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,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clientSocket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clientThreadPool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.submit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clientSessionHandler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}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catch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33B3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Exception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_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 {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FancyLog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println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"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Failed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to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handle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client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connection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Closing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."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,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FancyLog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Status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FAILED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871094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serverManager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.errorShutdown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    }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}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  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FancyLog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</a:t>
            </a:r>
            <a:r>
              <a:rPr kumimoji="0" lang="pt-PT" sz="1050" b="0" i="1" u="none" strike="noStrike" kern="1200" cap="none" spc="0" normalizeH="0" baseline="0" noProof="0" dirty="0" err="1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println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(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"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Closed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ClientConnectionReceiver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 </a:t>
            </a:r>
            <a:r>
              <a:rPr kumimoji="0" lang="pt-PT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thread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67D17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."</a:t>
            </a: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);</a:t>
            </a:r>
            <a:b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</a:br>
            <a:r>
              <a:rPr kumimoji="0" lang="pt-PT" sz="1050" b="0" i="0" u="none" strike="noStrike" kern="1200" cap="none" spc="0" normalizeH="0" baseline="0" noProof="0" dirty="0">
                <a:ln>
                  <a:noFill/>
                </a:ln>
                <a:solidFill>
                  <a:srgbClr val="080808"/>
                </a:solidFill>
                <a:effectLst/>
                <a:uLnTx/>
                <a:uFillTx/>
                <a:latin typeface="JetBrains Mono"/>
                <a:ea typeface="+mn-ea"/>
                <a:cs typeface="+mn-cs"/>
              </a:rPr>
              <a:t>}</a:t>
            </a:r>
            <a:endParaRPr lang="pt-PT" dirty="0"/>
          </a:p>
        </p:txBody>
      </p:sp>
      <p:cxnSp>
        <p:nvCxnSpPr>
          <p:cNvPr id="3" name="Google Shape;213;p31">
            <a:extLst>
              <a:ext uri="{FF2B5EF4-FFF2-40B4-BE49-F238E27FC236}">
                <a16:creationId xmlns:a16="http://schemas.microsoft.com/office/drawing/2014/main" id="{8AE25F2E-D20A-1B1A-2AEE-E404DA567FEA}"/>
              </a:ext>
            </a:extLst>
          </p:cNvPr>
          <p:cNvCxnSpPr>
            <a:cxnSpLocks/>
          </p:cNvCxnSpPr>
          <p:nvPr/>
        </p:nvCxnSpPr>
        <p:spPr>
          <a:xfrm>
            <a:off x="3847011" y="2619234"/>
            <a:ext cx="0" cy="2436224"/>
          </a:xfrm>
          <a:prstGeom prst="straightConnector1">
            <a:avLst/>
          </a:prstGeom>
          <a:ln w="12700">
            <a:solidFill>
              <a:srgbClr val="083C77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3730653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79012-3628-4F2B-429E-A5618B5E4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0C550F2C-F729-1D55-9D04-359F7ED0D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Servidor – Lógica de negócio para cada cliente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3B7D0BED-F2FC-68FA-38BB-679C890F4100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05C78859-728B-D8AE-C435-A1F230AFBB16}"/>
              </a:ext>
            </a:extLst>
          </p:cNvPr>
          <p:cNvSpPr txBox="1"/>
          <p:nvPr/>
        </p:nvSpPr>
        <p:spPr>
          <a:xfrm>
            <a:off x="228058" y="875211"/>
            <a:ext cx="8580061" cy="1458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pt-PT" sz="14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PT" sz="14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ClientSessionHandler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é o componente central do servidor para o processamento da lógica de negócio para um cliente individual. Cada instância desta </a:t>
            </a:r>
            <a:r>
              <a:rPr lang="pt-PT" sz="14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é dedicada a uma única conexão TCP, administrando a sessão completa do cliente desde a autenticação até à gestão de perguntas. A </a:t>
            </a:r>
            <a:r>
              <a:rPr lang="pt-PT" sz="14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thread</a:t>
            </a:r>
            <a:r>
              <a:rPr lang="pt-PT" sz="14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fica a aguardar por pedidos serializados por parte do cliente enquanto o serviço de diretoria estiver a ser executado. Com o objeto serializado verificamos qual o tipo de pedido do cliente e encapsulamos a logica dentro dos respetivos controladores tornado o código limpo e legível enviado a resposta ao cliente.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B31B9B8-3506-26AF-2B8A-B178365D48F6}"/>
              </a:ext>
            </a:extLst>
          </p:cNvPr>
          <p:cNvSpPr txBox="1"/>
          <p:nvPr/>
        </p:nvSpPr>
        <p:spPr>
          <a:xfrm>
            <a:off x="228058" y="2549051"/>
            <a:ext cx="3671205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None/>
            </a:pPr>
            <a:endParaRPr lang="pt-PT" sz="1050" dirty="0">
              <a:solidFill>
                <a:srgbClr val="080808"/>
              </a:solidFill>
              <a:effectLst/>
              <a:latin typeface="JetBrains Mono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11422FA-EC44-23F2-00C3-2791BADFC178}"/>
              </a:ext>
            </a:extLst>
          </p:cNvPr>
          <p:cNvSpPr txBox="1"/>
          <p:nvPr/>
        </p:nvSpPr>
        <p:spPr>
          <a:xfrm>
            <a:off x="228058" y="2348737"/>
            <a:ext cx="73157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627A"/>
                </a:solidFill>
                <a:effectLst/>
                <a:latin typeface="JetBrains Mono"/>
              </a:rPr>
              <a:t>run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Started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ClientSessionHandler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thread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Status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871094"/>
                </a:solidFill>
                <a:effectLst/>
                <a:latin typeface="JetBrains Mono"/>
              </a:rPr>
              <a:t>OK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while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serverManager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.getIsRunning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())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Object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receivedObject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SocketUtil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receive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clientSocket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receivedObject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lang="pt-PT" sz="1050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pt-PT" sz="1050" i="1" dirty="0" err="1"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Client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sent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empty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packet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. </a:t>
            </a:r>
            <a:r>
              <a:rPr lang="pt-PT" sz="1050" dirty="0" err="1">
                <a:solidFill>
                  <a:srgbClr val="067D17"/>
                </a:solidFill>
                <a:effectLst/>
                <a:latin typeface="JetBrains Mono"/>
              </a:rPr>
              <a:t>Disconnecting</a:t>
            </a:r>
            <a:r>
              <a:rPr lang="pt-PT" sz="1050" dirty="0"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break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pt-PT" sz="1050" i="1" dirty="0">
                <a:solidFill>
                  <a:srgbClr val="008DDE"/>
                </a:solidFill>
                <a:effectLst/>
                <a:latin typeface="JetBrains Mono"/>
              </a:rPr>
            </a:br>
            <a:r>
              <a:rPr lang="pt-PT" sz="1050" i="1" dirty="0">
                <a:solidFill>
                  <a:srgbClr val="008DDE"/>
                </a:solidFill>
                <a:effectLst/>
                <a:latin typeface="JetBrains Mono"/>
              </a:rPr>
              <a:t>           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pt-PT" sz="1050" dirty="0" err="1">
                <a:solidFill>
                  <a:srgbClr val="0033B3"/>
                </a:solidFill>
                <a:effectLst/>
                <a:latin typeface="JetBrains Mono"/>
              </a:rPr>
              <a:t>switch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receivedObject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pt-PT" sz="1050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pt-PT" sz="1050" i="1" dirty="0">
                <a:solidFill>
                  <a:srgbClr val="8C8C8C"/>
                </a:solidFill>
                <a:effectLst/>
                <a:latin typeface="JetBrains Mono"/>
              </a:rPr>
              <a:t>                </a:t>
            </a:r>
            <a:r>
              <a:rPr lang="pt-PT" sz="1050" dirty="0"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RegisterStudentRequest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 err="1"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lang="pt-PT" sz="1050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-&gt; {</a:t>
            </a:r>
          </a:p>
          <a:p>
            <a:pPr>
              <a:buNone/>
            </a:pP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	</a:t>
            </a:r>
            <a:r>
              <a:rPr lang="en-US" sz="1050" dirty="0" err="1">
                <a:solidFill>
                  <a:srgbClr val="080808"/>
                </a:solidFill>
                <a:effectLst/>
                <a:latin typeface="JetBrains Mono"/>
              </a:rPr>
              <a:t>RegisterUserResponse</a:t>
            </a:r>
            <a:r>
              <a:rPr lang="en-US" sz="1050" dirty="0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n-US" sz="1050" dirty="0" err="1">
                <a:solidFill>
                  <a:srgbClr val="080808"/>
                </a:solidFill>
                <a:effectLst/>
                <a:latin typeface="JetBrains Mono"/>
              </a:rPr>
              <a:t>userResponse</a:t>
            </a:r>
            <a:r>
              <a:rPr lang="en-US" sz="1050" dirty="0">
                <a:solidFill>
                  <a:srgbClr val="080808"/>
                </a:solidFill>
                <a:effectLst/>
                <a:latin typeface="JetBrains Mono"/>
              </a:rPr>
              <a:t> = </a:t>
            </a:r>
            <a:r>
              <a:rPr lang="pt-PT" sz="1050" dirty="0" err="1">
                <a:solidFill>
                  <a:srgbClr val="871094"/>
                </a:solidFill>
                <a:latin typeface="JetBrains Mono"/>
              </a:rPr>
              <a:t>userController</a:t>
            </a:r>
            <a:r>
              <a:rPr lang="en-US" sz="1050" dirty="0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US" sz="1050" dirty="0" err="1">
                <a:solidFill>
                  <a:srgbClr val="080808"/>
                </a:solidFill>
                <a:effectLst/>
                <a:latin typeface="JetBrains Mono"/>
              </a:rPr>
              <a:t>registerStudent</a:t>
            </a:r>
            <a:r>
              <a:rPr lang="en-US" sz="1050" dirty="0">
                <a:solidFill>
                  <a:srgbClr val="080808"/>
                </a:solidFill>
                <a:effectLst/>
                <a:latin typeface="JetBrains Mono"/>
              </a:rPr>
              <a:t>(request);</a:t>
            </a:r>
          </a:p>
          <a:p>
            <a:pPr>
              <a:buNone/>
            </a:pPr>
            <a:r>
              <a:rPr lang="en-US" sz="1050" dirty="0">
                <a:solidFill>
                  <a:srgbClr val="080808"/>
                </a:solidFill>
                <a:effectLst/>
                <a:latin typeface="JetBrains Mono"/>
              </a:rPr>
              <a:t>                        </a:t>
            </a:r>
            <a:r>
              <a:rPr lang="en-US" sz="1050" dirty="0" err="1">
                <a:solidFill>
                  <a:srgbClr val="080808"/>
                </a:solidFill>
                <a:effectLst/>
                <a:latin typeface="JetBrains Mono"/>
              </a:rPr>
              <a:t>SocketUtil.send</a:t>
            </a:r>
            <a:r>
              <a:rPr lang="en-US" sz="1050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pt-PT" sz="1050" dirty="0" err="1">
                <a:solidFill>
                  <a:srgbClr val="871094"/>
                </a:solidFill>
                <a:effectLst/>
                <a:latin typeface="JetBrains Mono"/>
              </a:rPr>
              <a:t>clientSocket</a:t>
            </a:r>
            <a:r>
              <a:rPr lang="en-US" sz="1050" dirty="0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n-US" sz="1050" dirty="0" err="1">
                <a:solidFill>
                  <a:srgbClr val="080808"/>
                </a:solidFill>
                <a:effectLst/>
                <a:latin typeface="JetBrains Mono"/>
              </a:rPr>
              <a:t>userResponse</a:t>
            </a:r>
            <a:r>
              <a:rPr lang="en-US" sz="1050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    }</a:t>
            </a:r>
            <a:b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pt-PT" sz="1050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0972954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7A0959B-8A4D-485E-ACBB-1C59C71BE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420347" cy="5170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       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RegisterInstructorRequest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RegisterUserResponse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userResponse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userController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.registerInstructor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SocketUtil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send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clientSocket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userResponse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LoginUserRequest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LoginUserResponse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loginUserResponse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userController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.loginUser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SocketUtil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send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clientSocket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loginUserResponse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 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instructor</a:t>
            </a: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question</a:t>
            </a: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management</a:t>
            </a:r>
            <a:b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       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CreateQuestionRequest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CreateQuestionResponse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response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questionController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.createQuestion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userController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SocketUtil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send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clientSocket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ListInstructorQuestionsRequest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ListInstructorQuestionsResponse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questionsResponse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questionController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.listInstructorQuestions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userController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SocketUtil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send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clientSocket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questionsResponse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//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Student</a:t>
            </a: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question</a:t>
            </a: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management</a:t>
            </a:r>
            <a:b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       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ShowQuestionRequest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ShowQuestionResponse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questionResponse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questionController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.showQuestion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userController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SocketUtil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send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clientSocket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questionResponse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AnswerQuestionRequest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AnswerQuestionResponse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questionResponse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questionController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.answerQuestion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userController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SocketUtil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send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clientSocket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questionResponse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default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{ </a:t>
            </a:r>
            <a:r>
              <a:rPr lang="pt-PT" altLang="pt-PT" sz="1000" i="1" dirty="0">
                <a:solidFill>
                  <a:srgbClr val="8C8C8C"/>
                </a:solidFill>
                <a:latin typeface="JetBrains Mono"/>
              </a:rPr>
              <a:t>//</a:t>
            </a:r>
            <a:r>
              <a:rPr lang="pt-PT" altLang="pt-PT" sz="1000" i="1" dirty="0">
                <a:solidFill>
                  <a:srgbClr val="008DDE"/>
                </a:solidFill>
                <a:latin typeface="JetBrains Mono"/>
              </a:rPr>
              <a:t>TODO error </a:t>
            </a:r>
            <a:r>
              <a:rPr lang="pt-PT" altLang="pt-PT" sz="1000" i="1" dirty="0" err="1">
                <a:solidFill>
                  <a:srgbClr val="008DDE"/>
                </a:solidFill>
                <a:latin typeface="JetBrains Mono"/>
              </a:rPr>
              <a:t>message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catch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Exception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_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Closed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ClientSessionHandler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thread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1624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B3D23-3CB5-C51D-9387-64A9D169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>
            <a:extLst>
              <a:ext uri="{FF2B5EF4-FFF2-40B4-BE49-F238E27FC236}">
                <a16:creationId xmlns:a16="http://schemas.microsoft.com/office/drawing/2014/main" id="{21C3A60A-1011-A287-C07F-3C785AE49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240" y="3067200"/>
            <a:ext cx="3352320" cy="187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3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Cliente</a:t>
            </a:r>
            <a:endParaRPr lang="pt-PT" sz="3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>
            <a:extLst>
              <a:ext uri="{FF2B5EF4-FFF2-40B4-BE49-F238E27FC236}">
                <a16:creationId xmlns:a16="http://schemas.microsoft.com/office/drawing/2014/main" id="{DDB4B94F-E9E2-4436-EC15-115F71A20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280" y="1609560"/>
            <a:ext cx="1266480" cy="126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6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  <a:ea typeface="Figtree"/>
              </a:rPr>
              <a:t>04</a:t>
            </a:r>
            <a:endParaRPr lang="pt-PT" sz="6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Google Shape;220;p32">
            <a:extLst>
              <a:ext uri="{FF2B5EF4-FFF2-40B4-BE49-F238E27FC236}">
                <a16:creationId xmlns:a16="http://schemas.microsoft.com/office/drawing/2014/main" id="{960D9F6B-5EC6-2EA1-8BB5-DE69F07247A5}"/>
              </a:ext>
            </a:extLst>
          </p:cNvPr>
          <p:cNvCxnSpPr/>
          <p:nvPr/>
        </p:nvCxnSpPr>
        <p:spPr>
          <a:xfrm>
            <a:off x="-76320" y="2943000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10425987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67F1-1BC0-0181-3AAF-F8CAF59D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5184D583-3247-909B-0986-C855BC5A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Cliente – Sistema de Login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F3FAA597-C6A0-F32F-38FF-BE90B5A6F533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0DAEDB-14DD-C9BA-DF37-BD12782B9F7B}"/>
              </a:ext>
            </a:extLst>
          </p:cNvPr>
          <p:cNvSpPr txBox="1"/>
          <p:nvPr/>
        </p:nvSpPr>
        <p:spPr>
          <a:xfrm>
            <a:off x="228058" y="875211"/>
            <a:ext cx="8580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A classe </a:t>
            </a:r>
            <a:r>
              <a:rPr lang="pt-PT" dirty="0" err="1"/>
              <a:t>QuizApp</a:t>
            </a:r>
            <a:r>
              <a:rPr lang="pt-PT" dirty="0"/>
              <a:t> (que estende </a:t>
            </a:r>
            <a:r>
              <a:rPr lang="pt-PT" dirty="0" err="1"/>
              <a:t>Application</a:t>
            </a:r>
            <a:r>
              <a:rPr lang="pt-PT" dirty="0"/>
              <a:t>) é o Controlador de Vistas da aplicação. É responsável por gerir as transições de cena (</a:t>
            </a:r>
            <a:r>
              <a:rPr lang="pt-PT" dirty="0" err="1"/>
              <a:t>Scene</a:t>
            </a:r>
            <a:r>
              <a:rPr lang="pt-PT" dirty="0"/>
              <a:t>) perante as ações do utilizador e o tipo de utilizador ativo (</a:t>
            </a:r>
            <a:r>
              <a:rPr lang="pt-PT" dirty="0" err="1"/>
              <a:t>Instructor</a:t>
            </a:r>
            <a:r>
              <a:rPr lang="pt-PT" dirty="0"/>
              <a:t> ou </a:t>
            </a:r>
            <a:r>
              <a:rPr lang="pt-PT" dirty="0" err="1"/>
              <a:t>Student</a:t>
            </a:r>
            <a:r>
              <a:rPr lang="pt-PT" dirty="0"/>
              <a:t>), iniciando sempre com a vista de login.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6808DAF-47E4-4E92-92CC-9C35F023B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885" y="2272202"/>
            <a:ext cx="4118029" cy="254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46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67F1-1BC0-0181-3AAF-F8CAF59D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5184D583-3247-909B-0986-C855BC5A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Cliente – Sistema de registo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F3FAA597-C6A0-F32F-38FF-BE90B5A6F533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0DAEDB-14DD-C9BA-DF37-BD12782B9F7B}"/>
              </a:ext>
            </a:extLst>
          </p:cNvPr>
          <p:cNvSpPr txBox="1"/>
          <p:nvPr/>
        </p:nvSpPr>
        <p:spPr>
          <a:xfrm>
            <a:off x="228058" y="875211"/>
            <a:ext cx="8580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A classe </a:t>
            </a:r>
            <a:r>
              <a:rPr lang="pt-PT" dirty="0" err="1"/>
              <a:t>RegisterView</a:t>
            </a:r>
            <a:r>
              <a:rPr lang="pt-PT" dirty="0"/>
              <a:t> é responsável por criar a UI e enviar o pedido de registo de um utilizador para o servidor através do </a:t>
            </a:r>
            <a:r>
              <a:rPr lang="pt-PT" dirty="0" err="1"/>
              <a:t>métedo</a:t>
            </a:r>
            <a:r>
              <a:rPr lang="pt-PT" dirty="0"/>
              <a:t> </a:t>
            </a:r>
            <a:r>
              <a:rPr lang="pt-PT" dirty="0" err="1"/>
              <a:t>registerHandlers</a:t>
            </a:r>
            <a:r>
              <a:rPr lang="pt-PT" dirty="0"/>
              <a:t>() utilizando recursos da classe </a:t>
            </a:r>
            <a:r>
              <a:rPr lang="pt-PT" dirty="0" err="1"/>
              <a:t>AuthenticatorService</a:t>
            </a:r>
            <a:r>
              <a:rPr lang="pt-PT" dirty="0"/>
              <a:t> e da </a:t>
            </a:r>
            <a:r>
              <a:rPr lang="pt-PT" dirty="0" err="1"/>
              <a:t>AppManager</a:t>
            </a:r>
            <a:r>
              <a:rPr lang="pt-PT" dirty="0"/>
              <a:t>.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5A7E7A9-D0EB-46BF-8182-52ABCA050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822" y="2579275"/>
            <a:ext cx="2112450" cy="217960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66F2B4A-362A-4628-9B77-75A3458C3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766" y="2571749"/>
            <a:ext cx="2113412" cy="218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4328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67F1-1BC0-0181-3AAF-F8CAF59D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5184D583-3247-909B-0986-C855BC5A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500" dirty="0">
                <a:solidFill>
                  <a:schemeClr val="dk1"/>
                </a:solidFill>
                <a:latin typeface="Figtree"/>
                <a:ea typeface="Figtree"/>
              </a:rPr>
              <a:t>Cliente – Sistema de registo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F3FAA597-C6A0-F32F-38FF-BE90B5A6F533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AC48DA29-4A9C-4089-B287-4929D3771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7" y="678189"/>
            <a:ext cx="5573962" cy="44012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registerHandlers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//código sem as validações  apenas o pedido de registo e aguarda pela resposta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instructorRadio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.isSelected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appManager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.getAuthenticatorService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registerInstructor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emailField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.getText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passwordField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.getText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usernameField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.getText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instructorCodeField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.getText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);    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studentRadio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.isSelected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appManager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.getAuthenticatorService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registerStudent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emailField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.getText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passwordField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.getText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usernameField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.getText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studentNumberField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.getText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);        }</a:t>
            </a: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});</a:t>
            </a:r>
            <a:b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appManager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.addPropertyChangeListener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QuizAppManager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REGISTER_USER_RESPONSE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packet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Platform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runLater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(() -&gt;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51691"/>
                </a:solidFill>
                <a:effectLst/>
                <a:latin typeface="JetBrains Mono"/>
              </a:rPr>
              <a:t>packet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.getNewValue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instanceof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RegisterUserResponse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response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.success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Alert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alert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Alert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Alert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AlertType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INFORMATION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response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.message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ButtonType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OK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alert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.showAndWait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stage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.close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else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Alert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alert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Alert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Alert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AlertType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ERROR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response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.message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ButtonType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OK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alert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.showAndWait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}}        });    });}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5383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67F1-1BC0-0181-3AAF-F8CAF59D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5184D583-3247-909B-0986-C855BC5A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Cliente – Fluxo do cliente com o servidor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F3FAA597-C6A0-F32F-38FF-BE90B5A6F533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7" name="Retângulo 6">
            <a:extLst>
              <a:ext uri="{FF2B5EF4-FFF2-40B4-BE49-F238E27FC236}">
                <a16:creationId xmlns:a16="http://schemas.microsoft.com/office/drawing/2014/main" id="{40E4C28B-DCE6-4CEF-845C-6AF501857CE9}"/>
              </a:ext>
            </a:extLst>
          </p:cNvPr>
          <p:cNvSpPr/>
          <p:nvPr/>
        </p:nvSpPr>
        <p:spPr>
          <a:xfrm>
            <a:off x="1956010" y="858133"/>
            <a:ext cx="1215597" cy="5149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Obter dados da UI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A5062D9-E627-4302-9786-67A7E9DB067B}"/>
              </a:ext>
            </a:extLst>
          </p:cNvPr>
          <p:cNvSpPr/>
          <p:nvPr/>
        </p:nvSpPr>
        <p:spPr>
          <a:xfrm>
            <a:off x="1854449" y="1603730"/>
            <a:ext cx="1431170" cy="5149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err="1"/>
              <a:t>AppManager</a:t>
            </a:r>
            <a:endParaRPr lang="pt-PT" sz="1400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B13ABB5-6921-495E-AD91-0B61E70D96F5}"/>
              </a:ext>
            </a:extLst>
          </p:cNvPr>
          <p:cNvSpPr/>
          <p:nvPr/>
        </p:nvSpPr>
        <p:spPr>
          <a:xfrm>
            <a:off x="1921003" y="2357185"/>
            <a:ext cx="1215597" cy="5149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Serviço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81D83EE-A864-41C6-860F-33E59A614A28}"/>
              </a:ext>
            </a:extLst>
          </p:cNvPr>
          <p:cNvSpPr/>
          <p:nvPr/>
        </p:nvSpPr>
        <p:spPr>
          <a:xfrm>
            <a:off x="1778636" y="3112698"/>
            <a:ext cx="1570343" cy="5149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Método da ação</a:t>
            </a:r>
          </a:p>
        </p:txBody>
      </p:sp>
      <p:cxnSp>
        <p:nvCxnSpPr>
          <p:cNvPr id="14" name="Conexão reta unidirecional 13">
            <a:extLst>
              <a:ext uri="{FF2B5EF4-FFF2-40B4-BE49-F238E27FC236}">
                <a16:creationId xmlns:a16="http://schemas.microsoft.com/office/drawing/2014/main" id="{45FFE2F9-0D0F-4398-B090-7572B4B2605E}"/>
              </a:ext>
            </a:extLst>
          </p:cNvPr>
          <p:cNvCxnSpPr>
            <a:cxnSpLocks/>
          </p:cNvCxnSpPr>
          <p:nvPr/>
        </p:nvCxnSpPr>
        <p:spPr>
          <a:xfrm flipH="1">
            <a:off x="2570035" y="1382038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8C933133-D12E-48F7-80C1-62D2657EFD15}"/>
              </a:ext>
            </a:extLst>
          </p:cNvPr>
          <p:cNvSpPr/>
          <p:nvPr/>
        </p:nvSpPr>
        <p:spPr>
          <a:xfrm>
            <a:off x="1639557" y="3886058"/>
            <a:ext cx="1778485" cy="75791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Envio ao servidor através do </a:t>
            </a:r>
            <a:r>
              <a:rPr lang="pt-PT" sz="1400" dirty="0" err="1"/>
              <a:t>AppManager</a:t>
            </a:r>
            <a:endParaRPr lang="pt-PT" sz="1400" dirty="0"/>
          </a:p>
        </p:txBody>
      </p: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207FDD81-C0B7-4535-89A7-5351F608CD8A}"/>
              </a:ext>
            </a:extLst>
          </p:cNvPr>
          <p:cNvCxnSpPr>
            <a:cxnSpLocks/>
          </p:cNvCxnSpPr>
          <p:nvPr/>
        </p:nvCxnSpPr>
        <p:spPr>
          <a:xfrm flipH="1">
            <a:off x="2570543" y="2129516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32C76D77-1BC8-462F-82CE-2F3DCCEB4DD6}"/>
              </a:ext>
            </a:extLst>
          </p:cNvPr>
          <p:cNvCxnSpPr>
            <a:cxnSpLocks/>
          </p:cNvCxnSpPr>
          <p:nvPr/>
        </p:nvCxnSpPr>
        <p:spPr>
          <a:xfrm flipH="1">
            <a:off x="2563810" y="2888007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E3D28B59-C25B-4A06-B805-58348B14B792}"/>
              </a:ext>
            </a:extLst>
          </p:cNvPr>
          <p:cNvSpPr/>
          <p:nvPr/>
        </p:nvSpPr>
        <p:spPr>
          <a:xfrm>
            <a:off x="4475456" y="858133"/>
            <a:ext cx="2212462" cy="101483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err="1"/>
              <a:t>Thread</a:t>
            </a:r>
            <a:r>
              <a:rPr lang="pt-PT" sz="1400" dirty="0"/>
              <a:t> de escuta de respostas</a:t>
            </a:r>
          </a:p>
          <a:p>
            <a:pPr algn="ctr"/>
            <a:r>
              <a:rPr lang="pt-PT" sz="1400" dirty="0"/>
              <a:t>(</a:t>
            </a:r>
            <a:r>
              <a:rPr lang="pt-PT" sz="1400" dirty="0" err="1"/>
              <a:t>ComunicationReceiver</a:t>
            </a:r>
            <a:r>
              <a:rPr lang="pt-PT" sz="1400" dirty="0"/>
              <a:t>)</a:t>
            </a:r>
          </a:p>
        </p:txBody>
      </p:sp>
      <p:cxnSp>
        <p:nvCxnSpPr>
          <p:cNvPr id="22" name="Conexão reta unidirecional 21">
            <a:extLst>
              <a:ext uri="{FF2B5EF4-FFF2-40B4-BE49-F238E27FC236}">
                <a16:creationId xmlns:a16="http://schemas.microsoft.com/office/drawing/2014/main" id="{46DCF2C2-1182-406C-9F13-031B750B62FD}"/>
              </a:ext>
            </a:extLst>
          </p:cNvPr>
          <p:cNvCxnSpPr>
            <a:cxnSpLocks/>
          </p:cNvCxnSpPr>
          <p:nvPr/>
        </p:nvCxnSpPr>
        <p:spPr>
          <a:xfrm flipH="1">
            <a:off x="2563809" y="3645526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Retângulo 22">
            <a:extLst>
              <a:ext uri="{FF2B5EF4-FFF2-40B4-BE49-F238E27FC236}">
                <a16:creationId xmlns:a16="http://schemas.microsoft.com/office/drawing/2014/main" id="{EE61D227-1D87-4579-869F-C61E03578DF8}"/>
              </a:ext>
            </a:extLst>
          </p:cNvPr>
          <p:cNvSpPr/>
          <p:nvPr/>
        </p:nvSpPr>
        <p:spPr>
          <a:xfrm>
            <a:off x="4866101" y="2109064"/>
            <a:ext cx="1431170" cy="5149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err="1"/>
              <a:t>AppManager</a:t>
            </a:r>
            <a:endParaRPr lang="pt-PT" sz="1400" dirty="0"/>
          </a:p>
        </p:txBody>
      </p:sp>
      <p:cxnSp>
        <p:nvCxnSpPr>
          <p:cNvPr id="24" name="Conexão reta unidirecional 23">
            <a:extLst>
              <a:ext uri="{FF2B5EF4-FFF2-40B4-BE49-F238E27FC236}">
                <a16:creationId xmlns:a16="http://schemas.microsoft.com/office/drawing/2014/main" id="{C1273994-9BDF-42DD-BA07-E294E38D79A3}"/>
              </a:ext>
            </a:extLst>
          </p:cNvPr>
          <p:cNvCxnSpPr>
            <a:cxnSpLocks/>
          </p:cNvCxnSpPr>
          <p:nvPr/>
        </p:nvCxnSpPr>
        <p:spPr>
          <a:xfrm flipH="1">
            <a:off x="5581686" y="1879674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7654572E-351B-44C9-89F5-8485FCDF6758}"/>
              </a:ext>
            </a:extLst>
          </p:cNvPr>
          <p:cNvSpPr/>
          <p:nvPr/>
        </p:nvSpPr>
        <p:spPr>
          <a:xfrm>
            <a:off x="4740055" y="2872267"/>
            <a:ext cx="1683262" cy="43359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err="1"/>
              <a:t>QuizAppManager</a:t>
            </a:r>
            <a:endParaRPr lang="pt-PT" sz="1400" dirty="0"/>
          </a:p>
        </p:txBody>
      </p: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BE3DCE17-0998-4B43-A735-8399C5F5462D}"/>
              </a:ext>
            </a:extLst>
          </p:cNvPr>
          <p:cNvCxnSpPr>
            <a:cxnSpLocks/>
          </p:cNvCxnSpPr>
          <p:nvPr/>
        </p:nvCxnSpPr>
        <p:spPr>
          <a:xfrm flipH="1">
            <a:off x="5581686" y="2630750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7A2B72AC-6EAD-4923-AD8C-FA60F698E987}"/>
              </a:ext>
            </a:extLst>
          </p:cNvPr>
          <p:cNvSpPr/>
          <p:nvPr/>
        </p:nvSpPr>
        <p:spPr>
          <a:xfrm>
            <a:off x="4973887" y="3575399"/>
            <a:ext cx="1215597" cy="5149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Serviço</a:t>
            </a:r>
          </a:p>
        </p:txBody>
      </p:sp>
      <p:cxnSp>
        <p:nvCxnSpPr>
          <p:cNvPr id="28" name="Conexão reta unidirecional 27">
            <a:extLst>
              <a:ext uri="{FF2B5EF4-FFF2-40B4-BE49-F238E27FC236}">
                <a16:creationId xmlns:a16="http://schemas.microsoft.com/office/drawing/2014/main" id="{20512137-14A3-462A-B739-E31ACDEB86F7}"/>
              </a:ext>
            </a:extLst>
          </p:cNvPr>
          <p:cNvCxnSpPr>
            <a:cxnSpLocks/>
          </p:cNvCxnSpPr>
          <p:nvPr/>
        </p:nvCxnSpPr>
        <p:spPr>
          <a:xfrm flipH="1">
            <a:off x="5586297" y="3330604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tângulo 28">
            <a:extLst>
              <a:ext uri="{FF2B5EF4-FFF2-40B4-BE49-F238E27FC236}">
                <a16:creationId xmlns:a16="http://schemas.microsoft.com/office/drawing/2014/main" id="{74453589-0949-4C6E-B5AD-09F012687E4E}"/>
              </a:ext>
            </a:extLst>
          </p:cNvPr>
          <p:cNvSpPr/>
          <p:nvPr/>
        </p:nvSpPr>
        <p:spPr>
          <a:xfrm>
            <a:off x="4740055" y="4333283"/>
            <a:ext cx="1702797" cy="72008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/>
              <a:t>Obtém os dados do serviço e apresenta na UI</a:t>
            </a:r>
          </a:p>
        </p:txBody>
      </p:sp>
      <p:cxnSp>
        <p:nvCxnSpPr>
          <p:cNvPr id="30" name="Conexão reta unidirecional 29">
            <a:extLst>
              <a:ext uri="{FF2B5EF4-FFF2-40B4-BE49-F238E27FC236}">
                <a16:creationId xmlns:a16="http://schemas.microsoft.com/office/drawing/2014/main" id="{FDDB24CF-4640-4180-B379-6F407B821D9F}"/>
              </a:ext>
            </a:extLst>
          </p:cNvPr>
          <p:cNvCxnSpPr>
            <a:cxnSpLocks/>
          </p:cNvCxnSpPr>
          <p:nvPr/>
        </p:nvCxnSpPr>
        <p:spPr>
          <a:xfrm flipH="1">
            <a:off x="5581685" y="4097292"/>
            <a:ext cx="1" cy="222685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7497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67F1-1BC0-0181-3AAF-F8CAF59D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5184D583-3247-909B-0986-C855BC5A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Cliente – </a:t>
            </a: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Reconecção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F3FAA597-C6A0-F32F-38FF-BE90B5A6F533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0DAEDB-14DD-C9BA-DF37-BD12782B9F7B}"/>
              </a:ext>
            </a:extLst>
          </p:cNvPr>
          <p:cNvSpPr txBox="1"/>
          <p:nvPr/>
        </p:nvSpPr>
        <p:spPr>
          <a:xfrm>
            <a:off x="228058" y="875211"/>
            <a:ext cx="858006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600" dirty="0"/>
              <a:t>Todos os pedidos do cliente pelo método </a:t>
            </a:r>
            <a:r>
              <a:rPr lang="pt-PT" sz="1600" dirty="0" err="1"/>
              <a:t>sendToServer</a:t>
            </a:r>
            <a:r>
              <a:rPr lang="pt-PT" sz="1600" dirty="0"/>
              <a:t> e em caso de perda de conexão com o servidor ele efetua um </a:t>
            </a:r>
            <a:r>
              <a:rPr lang="pt-PT" sz="1600" dirty="0" err="1"/>
              <a:t>reconnect</a:t>
            </a:r>
            <a:r>
              <a:rPr lang="pt-PT" sz="1600" dirty="0"/>
              <a:t>, um pedido ao serviço de diretoria do servidor ativo. É necessário efetuar o login no novo servidor se em 10 tentativas falhar é encerrado o cliente, ou no caso de estar </a:t>
            </a:r>
            <a:r>
              <a:rPr lang="pt-PT" sz="1600" dirty="0" err="1"/>
              <a:t>logado</a:t>
            </a:r>
            <a:r>
              <a:rPr lang="pt-PT" sz="1600" dirty="0"/>
              <a:t> ele efetua a mesma ação mas apenas um única vez. 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F35FE0C-D7B5-4599-890C-597587B96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057" y="2117055"/>
            <a:ext cx="4775666" cy="301621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void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sendToServer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Serializable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packet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messageSent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false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int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retryCount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0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while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retryCount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&lt;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10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messageSent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SocketUtil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send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getActiveServerSocket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packet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messageSent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Send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packet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.getClass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().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getSimpleName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+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 to server."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;}</a:t>
            </a:r>
            <a:b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retryCount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Lost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connection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to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the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server.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Trying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to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reconnect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);}</a:t>
            </a:r>
            <a:b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reconnect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authenticatorService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.reconnectUser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retryCount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+=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Thread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sleep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2000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catch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InterruptedException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{}</a:t>
            </a:r>
            <a:b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</a:br>
            <a:r>
              <a:rPr kumimoji="0" lang="pt-PT" altLang="pt-PT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FancyLog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kumimoji="0" lang="pt-PT" altLang="pt-PT" sz="10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println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Couldn't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reconnect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.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Shutting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down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."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shutdown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3FAB70A-DB9E-46A4-9F27-6CE15ECCE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723" y="2117055"/>
            <a:ext cx="4253087" cy="209288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private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synchronized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reconnect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try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ActiveServerResponse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response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directoryService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.getActiveServer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response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null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false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activeServerSocketAddress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InetSocketAddress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response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.address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 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response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.port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setActiveServerSocket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Socket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response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.address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response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.port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()));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catch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Exception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_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pt-PT" altLang="pt-PT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false</a:t>
            </a: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pt-PT" altLang="pt-PT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pt-PT" altLang="pt-P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3" name="Google Shape;213;p31">
            <a:extLst>
              <a:ext uri="{FF2B5EF4-FFF2-40B4-BE49-F238E27FC236}">
                <a16:creationId xmlns:a16="http://schemas.microsoft.com/office/drawing/2014/main" id="{4269FC4A-9F0C-489C-87AD-F60CBB67C81F}"/>
              </a:ext>
            </a:extLst>
          </p:cNvPr>
          <p:cNvCxnSpPr>
            <a:cxnSpLocks/>
          </p:cNvCxnSpPr>
          <p:nvPr/>
        </p:nvCxnSpPr>
        <p:spPr>
          <a:xfrm>
            <a:off x="5003723" y="2012346"/>
            <a:ext cx="0" cy="3016210"/>
          </a:xfrm>
          <a:prstGeom prst="straightConnector1">
            <a:avLst/>
          </a:prstGeom>
          <a:ln w="12700">
            <a:solidFill>
              <a:srgbClr val="083C77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39839048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67F1-1BC0-0181-3AAF-F8CAF59D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5184D583-3247-909B-0986-C855BC5A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Cliente – </a:t>
            </a: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DashboardViews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F3FAA597-C6A0-F32F-38FF-BE90B5A6F533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0DAEDB-14DD-C9BA-DF37-BD12782B9F7B}"/>
              </a:ext>
            </a:extLst>
          </p:cNvPr>
          <p:cNvSpPr txBox="1"/>
          <p:nvPr/>
        </p:nvSpPr>
        <p:spPr>
          <a:xfrm>
            <a:off x="228058" y="875211"/>
            <a:ext cx="8580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Se o login for efetuado com sucesso o utilizador vai ter acesso diferentes vistas dependendo do tipo de utilizador que deu login com sucesso.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6839D0B-BDAA-41C2-BBD8-F6F0FC7DA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83" y="2001449"/>
            <a:ext cx="3553116" cy="237023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35C4AE6-9D4F-4955-AA0B-F0548D57F6C9}"/>
              </a:ext>
            </a:extLst>
          </p:cNvPr>
          <p:cNvSpPr txBox="1"/>
          <p:nvPr/>
        </p:nvSpPr>
        <p:spPr>
          <a:xfrm>
            <a:off x="1626596" y="4371681"/>
            <a:ext cx="12831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Vista do </a:t>
            </a:r>
            <a:r>
              <a:rPr lang="pt-PT" sz="1200" dirty="0" err="1"/>
              <a:t>studant</a:t>
            </a:r>
            <a:endParaRPr lang="pt-PT" sz="12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6C49F1F-92A7-4CB7-B038-463A1A781805}"/>
              </a:ext>
            </a:extLst>
          </p:cNvPr>
          <p:cNvSpPr txBox="1"/>
          <p:nvPr/>
        </p:nvSpPr>
        <p:spPr>
          <a:xfrm>
            <a:off x="6229502" y="4371681"/>
            <a:ext cx="1411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Vista do </a:t>
            </a:r>
            <a:r>
              <a:rPr lang="pt-PT" sz="1200" dirty="0" err="1"/>
              <a:t>instructor</a:t>
            </a:r>
            <a:endParaRPr lang="pt-PT" sz="12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6AC6020-26EF-423C-AC6F-7C9D98C19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303" y="1999168"/>
            <a:ext cx="3654952" cy="237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3172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67F1-1BC0-0181-3AAF-F8CAF59D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5184D583-3247-909B-0986-C855BC5A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Cliente – </a:t>
            </a: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Student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F3FAA597-C6A0-F32F-38FF-BE90B5A6F533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0DAEDB-14DD-C9BA-DF37-BD12782B9F7B}"/>
              </a:ext>
            </a:extLst>
          </p:cNvPr>
          <p:cNvSpPr txBox="1"/>
          <p:nvPr/>
        </p:nvSpPr>
        <p:spPr>
          <a:xfrm>
            <a:off x="228058" y="875211"/>
            <a:ext cx="8580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O utilizador </a:t>
            </a:r>
            <a:r>
              <a:rPr lang="pt-PT" dirty="0" err="1"/>
              <a:t>student</a:t>
            </a:r>
            <a:r>
              <a:rPr lang="pt-PT" dirty="0"/>
              <a:t> tem acesso as questões através de um código, se a questão estiver em tempo útil de resposta o utilizador verá a pergunta com as respetivas opções de resposta.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82AA634-2E40-4B8E-9EC3-1336BE352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19" y="1977696"/>
            <a:ext cx="3659335" cy="260673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9C5BC15-981D-4095-B6C3-8571A75A812E}"/>
              </a:ext>
            </a:extLst>
          </p:cNvPr>
          <p:cNvSpPr txBox="1"/>
          <p:nvPr/>
        </p:nvSpPr>
        <p:spPr>
          <a:xfrm>
            <a:off x="1572405" y="4584431"/>
            <a:ext cx="1384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Vista da pergunta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2243E117-B0E3-4DC3-BE09-06A9586A83E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568"/>
          <a:stretch/>
        </p:blipFill>
        <p:spPr>
          <a:xfrm>
            <a:off x="4651020" y="1966386"/>
            <a:ext cx="3659335" cy="2618045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91421AC5-4BB7-478E-B453-5BE575CC2D4C}"/>
              </a:ext>
            </a:extLst>
          </p:cNvPr>
          <p:cNvSpPr txBox="1"/>
          <p:nvPr/>
        </p:nvSpPr>
        <p:spPr>
          <a:xfrm>
            <a:off x="5719677" y="4584430"/>
            <a:ext cx="1522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Vista das respostas</a:t>
            </a:r>
          </a:p>
        </p:txBody>
      </p:sp>
    </p:spTree>
    <p:extLst>
      <p:ext uri="{BB962C8B-B14F-4D97-AF65-F5344CB8AC3E}">
        <p14:creationId xmlns:p14="http://schemas.microsoft.com/office/powerpoint/2010/main" val="13249428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67F1-1BC0-0181-3AAF-F8CAF59D4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5184D583-3247-909B-0986-C855BC5A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Cliente – </a:t>
            </a: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Instructor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F3FAA597-C6A0-F32F-38FF-BE90B5A6F533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350DAEDB-14DD-C9BA-DF37-BD12782B9F7B}"/>
              </a:ext>
            </a:extLst>
          </p:cNvPr>
          <p:cNvSpPr txBox="1"/>
          <p:nvPr/>
        </p:nvSpPr>
        <p:spPr>
          <a:xfrm>
            <a:off x="228058" y="875211"/>
            <a:ext cx="8580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O utilizador </a:t>
            </a:r>
            <a:r>
              <a:rPr lang="pt-PT" dirty="0" err="1"/>
              <a:t>instructor</a:t>
            </a:r>
            <a:r>
              <a:rPr lang="pt-PT" dirty="0"/>
              <a:t> pode criar questões, editar e apagar questões que ainda não contenham qualquer resposta. O </a:t>
            </a:r>
            <a:r>
              <a:rPr lang="pt-PT" dirty="0" err="1"/>
              <a:t>instructor</a:t>
            </a:r>
            <a:r>
              <a:rPr lang="pt-PT" dirty="0"/>
              <a:t> tem a possibilidade de ver os resultados correspondentes a uma questão e ainda exporta-las para um ficheiro </a:t>
            </a:r>
            <a:r>
              <a:rPr lang="pt-PT" dirty="0" err="1"/>
              <a:t>csv</a:t>
            </a:r>
            <a:r>
              <a:rPr lang="pt-PT" dirty="0"/>
              <a:t>.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D564D57-1BCE-4EB1-A712-80A20F052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7622" y="2122943"/>
            <a:ext cx="3361382" cy="2635053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7FBD72F8-CCF6-4475-991E-8797A92BC8CB}"/>
              </a:ext>
            </a:extLst>
          </p:cNvPr>
          <p:cNvSpPr txBox="1"/>
          <p:nvPr/>
        </p:nvSpPr>
        <p:spPr>
          <a:xfrm>
            <a:off x="3108312" y="4751759"/>
            <a:ext cx="25800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Vista das respostas a uma questão</a:t>
            </a:r>
          </a:p>
        </p:txBody>
      </p:sp>
    </p:spTree>
    <p:extLst>
      <p:ext uri="{BB962C8B-B14F-4D97-AF65-F5344CB8AC3E}">
        <p14:creationId xmlns:p14="http://schemas.microsoft.com/office/powerpoint/2010/main" val="6274863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405FD-148E-7679-CD28-377663374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>
            <a:extLst>
              <a:ext uri="{FF2B5EF4-FFF2-40B4-BE49-F238E27FC236}">
                <a16:creationId xmlns:a16="http://schemas.microsoft.com/office/drawing/2014/main" id="{43EA7E50-6336-648F-1E87-9B834902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240" y="3067200"/>
            <a:ext cx="3352320" cy="187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3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API REST</a:t>
            </a:r>
            <a:endParaRPr lang="pt-PT" sz="3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>
            <a:extLst>
              <a:ext uri="{FF2B5EF4-FFF2-40B4-BE49-F238E27FC236}">
                <a16:creationId xmlns:a16="http://schemas.microsoft.com/office/drawing/2014/main" id="{4A50B073-8056-2DF0-B7E3-B5344FAC4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280" y="1609560"/>
            <a:ext cx="1266480" cy="126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6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  <a:ea typeface="Figtree"/>
              </a:rPr>
              <a:t>05</a:t>
            </a:r>
            <a:endParaRPr lang="pt-PT" sz="6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Google Shape;220;p32">
            <a:extLst>
              <a:ext uri="{FF2B5EF4-FFF2-40B4-BE49-F238E27FC236}">
                <a16:creationId xmlns:a16="http://schemas.microsoft.com/office/drawing/2014/main" id="{E6ABD9CF-3FF1-9758-31F5-F343C1D44C64}"/>
              </a:ext>
            </a:extLst>
          </p:cNvPr>
          <p:cNvCxnSpPr/>
          <p:nvPr/>
        </p:nvCxnSpPr>
        <p:spPr>
          <a:xfrm>
            <a:off x="-76320" y="2943000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14442401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73CFD-8469-7220-E32C-30B1C228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AE60DE32-35A0-0379-9F9D-642028CEC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API REST – Tabela de síntese de </a:t>
            </a:r>
            <a:r>
              <a:rPr lang="pt-PT" sz="2500" b="0" u="none" strike="noStrike" noProof="0" dirty="0" err="1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endoints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17C9DB1A-3A93-73AA-CBB7-7859E5C75313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1E22B75E-66EE-EB06-2D08-F993AD680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1620660"/>
              </p:ext>
            </p:extLst>
          </p:nvPr>
        </p:nvGraphicFramePr>
        <p:xfrm>
          <a:off x="209005" y="918573"/>
          <a:ext cx="8415157" cy="3411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124">
                  <a:extLst>
                    <a:ext uri="{9D8B030D-6E8A-4147-A177-3AD203B41FA5}">
                      <a16:colId xmlns:a16="http://schemas.microsoft.com/office/drawing/2014/main" val="4291502864"/>
                    </a:ext>
                  </a:extLst>
                </a:gridCol>
                <a:gridCol w="1784772">
                  <a:extLst>
                    <a:ext uri="{9D8B030D-6E8A-4147-A177-3AD203B41FA5}">
                      <a16:colId xmlns:a16="http://schemas.microsoft.com/office/drawing/2014/main" val="2718381619"/>
                    </a:ext>
                  </a:extLst>
                </a:gridCol>
                <a:gridCol w="946467">
                  <a:extLst>
                    <a:ext uri="{9D8B030D-6E8A-4147-A177-3AD203B41FA5}">
                      <a16:colId xmlns:a16="http://schemas.microsoft.com/office/drawing/2014/main" val="2086615320"/>
                    </a:ext>
                  </a:extLst>
                </a:gridCol>
                <a:gridCol w="1457598">
                  <a:extLst>
                    <a:ext uri="{9D8B030D-6E8A-4147-A177-3AD203B41FA5}">
                      <a16:colId xmlns:a16="http://schemas.microsoft.com/office/drawing/2014/main" val="4233672002"/>
                    </a:ext>
                  </a:extLst>
                </a:gridCol>
                <a:gridCol w="1457598">
                  <a:extLst>
                    <a:ext uri="{9D8B030D-6E8A-4147-A177-3AD203B41FA5}">
                      <a16:colId xmlns:a16="http://schemas.microsoft.com/office/drawing/2014/main" val="544214163"/>
                    </a:ext>
                  </a:extLst>
                </a:gridCol>
                <a:gridCol w="1457598">
                  <a:extLst>
                    <a:ext uri="{9D8B030D-6E8A-4147-A177-3AD203B41FA5}">
                      <a16:colId xmlns:a16="http://schemas.microsoft.com/office/drawing/2014/main" val="3026430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latin typeface="+mn-lt"/>
                        </a:rPr>
                        <a:t>Method</a:t>
                      </a:r>
                      <a:endParaRPr lang="pt-PT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>
                          <a:latin typeface="+mn-lt"/>
                        </a:rPr>
                        <a:t>URI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latin typeface="+mn-lt"/>
                        </a:rPr>
                        <a:t>Operation</a:t>
                      </a:r>
                      <a:endParaRPr lang="pt-PT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latin typeface="+mn-lt"/>
                        </a:rPr>
                        <a:t>Description</a:t>
                      </a:r>
                      <a:endParaRPr lang="pt-PT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 err="1">
                          <a:latin typeface="+mn-lt"/>
                        </a:rPr>
                        <a:t>Request</a:t>
                      </a:r>
                      <a:r>
                        <a:rPr lang="pt-PT" sz="1200" dirty="0">
                          <a:latin typeface="+mn-lt"/>
                        </a:rPr>
                        <a:t> 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>
                          <a:latin typeface="+mn-lt"/>
                        </a:rPr>
                        <a:t>Response body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19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2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</a:t>
                      </a:r>
                      <a:endParaRPr lang="pt-PT" sz="12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latin typeface="+mn-lt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api</a:t>
                      </a:r>
                      <a:r>
                        <a:rPr lang="pt-PT" sz="1200" dirty="0">
                          <a:latin typeface="+mn-lt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students</a:t>
                      </a:r>
                      <a:r>
                        <a:rPr lang="pt-PT" sz="1200" dirty="0">
                          <a:latin typeface="+mn-lt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register</a:t>
                      </a:r>
                      <a:endParaRPr lang="pt-PT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200" dirty="0" err="1">
                          <a:latin typeface="+mn-lt"/>
                        </a:rPr>
                        <a:t>Create</a:t>
                      </a:r>
                      <a:endParaRPr lang="pt-PT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Registo de novo estudante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Dados do estudante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latin typeface="+mn-lt"/>
                        </a:rPr>
                        <a:t>Estudante criado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6749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b="1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</a:t>
                      </a:r>
                      <a:endParaRPr lang="pt-PT" sz="12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dirty="0">
                          <a:latin typeface="+mn-lt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api</a:t>
                      </a:r>
                      <a:r>
                        <a:rPr lang="pt-PT" sz="1200" dirty="0">
                          <a:latin typeface="+mn-lt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students</a:t>
                      </a:r>
                      <a:r>
                        <a:rPr lang="pt-PT" sz="1200" dirty="0">
                          <a:latin typeface="+mn-lt"/>
                        </a:rPr>
                        <a:t>/login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200" dirty="0" err="1">
                          <a:latin typeface="+mn-lt"/>
                        </a:rPr>
                        <a:t>Auth</a:t>
                      </a:r>
                      <a:endParaRPr lang="pt-PT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Autenticação de estudante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Credenciais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pt-PT" sz="1200" dirty="0" err="1">
                          <a:latin typeface="+mn-lt"/>
                        </a:rPr>
                        <a:t>Token</a:t>
                      </a:r>
                      <a:r>
                        <a:rPr lang="pt-PT" sz="1200" dirty="0">
                          <a:latin typeface="+mn-lt"/>
                        </a:rPr>
                        <a:t> JWT </a:t>
                      </a:r>
                    </a:p>
                    <a:p>
                      <a:r>
                        <a:rPr lang="pt-PT" sz="1200" dirty="0">
                          <a:latin typeface="+mn-lt"/>
                        </a:rPr>
                        <a:t>+ dados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822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200" b="1" dirty="0">
                          <a:latin typeface="+mn-lt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dirty="0">
                          <a:latin typeface="+mn-lt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api</a:t>
                      </a:r>
                      <a:r>
                        <a:rPr lang="pt-PT" sz="1200" dirty="0">
                          <a:latin typeface="+mn-lt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students</a:t>
                      </a:r>
                      <a:r>
                        <a:rPr lang="pt-PT" sz="1200" dirty="0">
                          <a:latin typeface="+mn-lt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profile</a:t>
                      </a:r>
                      <a:endParaRPr lang="pt-PT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200" dirty="0" err="1">
                          <a:latin typeface="+mn-lt"/>
                        </a:rPr>
                        <a:t>Read</a:t>
                      </a:r>
                      <a:endParaRPr lang="pt-PT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Consulta do perfil próprio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pt-PT" sz="1200" dirty="0" err="1">
                          <a:latin typeface="+mn-lt"/>
                        </a:rPr>
                        <a:t>None</a:t>
                      </a:r>
                      <a:endParaRPr lang="pt-PT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latin typeface="+mn-lt"/>
                        </a:rPr>
                        <a:t>Dados do estudante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4740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200" b="1" dirty="0">
                          <a:solidFill>
                            <a:srgbClr val="FFC000"/>
                          </a:solidFill>
                          <a:latin typeface="+mn-lt"/>
                        </a:rPr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dirty="0">
                          <a:latin typeface="+mn-lt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api</a:t>
                      </a:r>
                      <a:r>
                        <a:rPr lang="pt-PT" sz="1200" dirty="0">
                          <a:latin typeface="+mn-lt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students</a:t>
                      </a:r>
                      <a:r>
                        <a:rPr lang="pt-PT" sz="1200" dirty="0">
                          <a:latin typeface="+mn-lt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profile</a:t>
                      </a:r>
                      <a:endParaRPr lang="pt-PT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200" dirty="0" err="1">
                          <a:latin typeface="+mn-lt"/>
                        </a:rPr>
                        <a:t>Update</a:t>
                      </a:r>
                      <a:endParaRPr lang="pt-PT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Atualização do perfil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latin typeface="+mn-lt"/>
                        </a:rPr>
                        <a:t>Dados a atualizar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latin typeface="+mn-lt"/>
                        </a:rPr>
                        <a:t>Estudante atualizado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945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200" dirty="0">
                          <a:latin typeface="+mn-lt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api</a:t>
                      </a:r>
                      <a:r>
                        <a:rPr lang="pt-PT" sz="1200" dirty="0">
                          <a:latin typeface="+mn-lt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students</a:t>
                      </a:r>
                      <a:r>
                        <a:rPr lang="pt-PT" sz="1200" dirty="0">
                          <a:latin typeface="+mn-lt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questions</a:t>
                      </a:r>
                      <a:r>
                        <a:rPr lang="pt-PT" sz="1200" dirty="0">
                          <a:latin typeface="+mn-lt"/>
                        </a:rPr>
                        <a:t>/{</a:t>
                      </a:r>
                      <a:r>
                        <a:rPr lang="pt-PT" sz="1200" dirty="0" err="1">
                          <a:latin typeface="+mn-lt"/>
                        </a:rPr>
                        <a:t>accesscode</a:t>
                      </a:r>
                      <a:r>
                        <a:rPr lang="pt-PT" sz="1200" dirty="0">
                          <a:latin typeface="+mn-lt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200" dirty="0" err="1">
                          <a:latin typeface="+mn-lt"/>
                        </a:rPr>
                        <a:t>Read</a:t>
                      </a:r>
                      <a:endParaRPr lang="pt-PT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Acesso a pergunta por código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latin typeface="+mn-lt"/>
                        </a:rPr>
                        <a:t>Código de acesso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latin typeface="+mn-lt"/>
                        </a:rPr>
                        <a:t>Pergunta completa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6269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200" b="1" dirty="0">
                          <a:solidFill>
                            <a:srgbClr val="00B050"/>
                          </a:solidFill>
                          <a:latin typeface="+mn-lt"/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pt-PT" sz="1200" dirty="0" err="1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students</a:t>
                      </a: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pt-PT" sz="1200" dirty="0" err="1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questions</a:t>
                      </a: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/{</a:t>
                      </a:r>
                      <a:r>
                        <a:rPr lang="pt-PT" sz="1200" dirty="0" err="1">
                          <a:latin typeface="+mn-lt"/>
                        </a:rPr>
                        <a:t>accesscode</a:t>
                      </a: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pt-PT" sz="1200" dirty="0" err="1">
                          <a:latin typeface="+mn-lt"/>
                        </a:rPr>
                        <a:t>Create</a:t>
                      </a:r>
                      <a:endParaRPr lang="pt-PT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Submissão de resposta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latin typeface="+mn-lt"/>
                        </a:rPr>
                        <a:t>Opção escolhida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200" dirty="0">
                          <a:latin typeface="+mn-lt"/>
                        </a:rPr>
                        <a:t>Confirmação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810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200" b="1" dirty="0">
                          <a:latin typeface="+mn-lt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pt-PT" sz="1200" dirty="0" err="1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pt-PT" sz="1200" dirty="0" err="1">
                          <a:latin typeface="+mn-lt"/>
                        </a:rPr>
                        <a:t>students</a:t>
                      </a: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/responses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pt-PT" sz="1200" dirty="0" err="1">
                          <a:latin typeface="+mn-lt"/>
                        </a:rPr>
                        <a:t>Read</a:t>
                      </a:r>
                      <a:endParaRPr lang="pt-PT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2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Lista de respostas submetidas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pt-PT" sz="1200" dirty="0" err="1">
                          <a:latin typeface="+mn-lt"/>
                        </a:rPr>
                        <a:t>None</a:t>
                      </a:r>
                      <a:endParaRPr lang="pt-PT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200" dirty="0" err="1">
                          <a:latin typeface="+mn-lt"/>
                        </a:rPr>
                        <a:t>Array</a:t>
                      </a:r>
                      <a:r>
                        <a:rPr lang="pt-PT" sz="1200" dirty="0">
                          <a:latin typeface="+mn-lt"/>
                        </a:rPr>
                        <a:t> de respostas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477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870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88AFA-3297-BFF1-F84C-7E9A94E55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63BDEA28-E5A8-7002-4095-8A1E2657B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API REST – Descrição detalhada de mensagens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931AA767-0956-5C88-32C9-141703204CF8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EBC41443-AEDC-F56F-DF79-37DC392E3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267365"/>
              </p:ext>
            </p:extLst>
          </p:nvPr>
        </p:nvGraphicFramePr>
        <p:xfrm>
          <a:off x="1877785" y="2905032"/>
          <a:ext cx="5388429" cy="206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2714">
                  <a:extLst>
                    <a:ext uri="{9D8B030D-6E8A-4147-A177-3AD203B41FA5}">
                      <a16:colId xmlns:a16="http://schemas.microsoft.com/office/drawing/2014/main" val="4291502864"/>
                    </a:ext>
                  </a:extLst>
                </a:gridCol>
                <a:gridCol w="3265715">
                  <a:extLst>
                    <a:ext uri="{9D8B030D-6E8A-4147-A177-3AD203B41FA5}">
                      <a16:colId xmlns:a16="http://schemas.microsoft.com/office/drawing/2014/main" val="2718381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200" dirty="0">
                          <a:latin typeface="+mn-lt"/>
                        </a:rPr>
                        <a:t>Pedido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>
                          <a:latin typeface="+mn-lt"/>
                        </a:rPr>
                        <a:t>Resposta(Sucesso)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19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sz="105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</a:t>
                      </a:r>
                      <a: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</a:t>
                      </a:r>
                      <a:r>
                        <a:rPr lang="pt-PT" sz="105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pt-PT" sz="105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students</a:t>
                      </a:r>
                      <a: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pt-PT" sz="105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register</a:t>
                      </a:r>
                      <a:b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pt-PT" sz="10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pt-PT" sz="105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Request</a:t>
                      </a:r>
                      <a:r>
                        <a:rPr lang="pt-PT" sz="105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Body</a:t>
                      </a:r>
                      <a:b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"email": "joao.silva@student.pt",</a:t>
                      </a:r>
                      <a:b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pt-PT" sz="105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studentNumber</a:t>
                      </a:r>
                      <a: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": "2023001",</a:t>
                      </a:r>
                      <a:b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pt-PT" sz="105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": "João Pedro Silva",</a:t>
                      </a:r>
                      <a:b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"password": "minhaPassword123"</a:t>
                      </a:r>
                      <a:b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pt-PT" sz="8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sz="105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Response Body</a:t>
                      </a:r>
                      <a:endParaRPr lang="pt-PT" sz="105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</a:t>
                      </a:r>
                      <a:b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"</a:t>
                      </a:r>
                      <a:r>
                        <a:rPr lang="pt-PT" sz="105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message</a:t>
                      </a:r>
                      <a: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": "Estudante registado com sucesso",	</a:t>
                      </a:r>
                    </a:p>
                    <a:p>
                      <a:r>
                        <a:rPr lang="pt-PT" sz="10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endParaRPr lang="pt-PT" sz="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674957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7C8B07E8-CE70-FBC0-DB5D-D905AED7130C}"/>
              </a:ext>
            </a:extLst>
          </p:cNvPr>
          <p:cNvSpPr txBox="1"/>
          <p:nvPr/>
        </p:nvSpPr>
        <p:spPr>
          <a:xfrm>
            <a:off x="365760" y="856919"/>
            <a:ext cx="844236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50" b="1" dirty="0"/>
              <a:t>Registo de Estudante (POST /</a:t>
            </a:r>
            <a:r>
              <a:rPr lang="pt-PT" sz="1050" b="1" dirty="0" err="1"/>
              <a:t>api</a:t>
            </a:r>
            <a:r>
              <a:rPr lang="pt-PT" sz="1050" b="1" dirty="0"/>
              <a:t>/</a:t>
            </a:r>
            <a:r>
              <a:rPr lang="pt-PT" sz="1050" b="1" dirty="0" err="1"/>
              <a:t>students</a:t>
            </a:r>
            <a:r>
              <a:rPr lang="pt-PT" sz="1050" b="1" dirty="0"/>
              <a:t>/</a:t>
            </a:r>
            <a:r>
              <a:rPr lang="pt-PT" sz="1050" b="1" dirty="0" err="1"/>
              <a:t>register</a:t>
            </a:r>
            <a:r>
              <a:rPr lang="pt-PT" sz="1050" b="1" dirty="0"/>
              <a:t>)</a:t>
            </a:r>
          </a:p>
          <a:p>
            <a:endParaRPr lang="pt-PT" sz="1050" b="1" dirty="0"/>
          </a:p>
          <a:p>
            <a:r>
              <a:rPr lang="pt-PT" sz="1050" b="1" dirty="0" err="1"/>
              <a:t>Request</a:t>
            </a:r>
            <a:r>
              <a:rPr lang="pt-PT" sz="1050" b="1" dirty="0"/>
              <a:t> Body: </a:t>
            </a:r>
            <a:r>
              <a:rPr lang="pt-PT" sz="1050" dirty="0"/>
              <a:t>Contém os dados necessários para criar um estudante: endereço de email, número de estudante, nome e password. A password será processada na classe </a:t>
            </a:r>
            <a:r>
              <a:rPr lang="pt-PT" sz="1050" dirty="0" err="1"/>
              <a:t>SecurityUtils</a:t>
            </a:r>
            <a:r>
              <a:rPr lang="pt-PT" sz="1050" dirty="0"/>
              <a:t> para converter a password em </a:t>
            </a:r>
            <a:r>
              <a:rPr lang="pt-PT" sz="1050" dirty="0" err="1"/>
              <a:t>hash</a:t>
            </a:r>
            <a:r>
              <a:rPr lang="pt-PT" sz="1050" dirty="0"/>
              <a:t> antes de ser armazenada.</a:t>
            </a:r>
          </a:p>
          <a:p>
            <a:endParaRPr lang="pt-PT" sz="1050" dirty="0"/>
          </a:p>
          <a:p>
            <a:r>
              <a:rPr lang="pt-PT" sz="1050" b="1" dirty="0"/>
              <a:t>Response Body (Sucesso - 201 </a:t>
            </a:r>
            <a:r>
              <a:rPr lang="pt-PT" sz="1050" b="1" dirty="0" err="1"/>
              <a:t>Created</a:t>
            </a:r>
            <a:r>
              <a:rPr lang="pt-PT" sz="1050" b="1" dirty="0"/>
              <a:t>): </a:t>
            </a:r>
            <a:r>
              <a:rPr lang="pt-PT" sz="1050" dirty="0"/>
              <a:t>Confirma o sucesso do registo e retorna um objeto com </a:t>
            </a:r>
            <a:r>
              <a:rPr lang="pt-PT" sz="1050" dirty="0" err="1"/>
              <a:t>flag</a:t>
            </a:r>
            <a:r>
              <a:rPr lang="pt-PT" sz="1050" dirty="0"/>
              <a:t> de sucesso, mensagem informativa e os dados do estudante criado (sem a password). Inclui email, número de estudante e nome.</a:t>
            </a:r>
          </a:p>
          <a:p>
            <a:endParaRPr lang="pt-PT" sz="1050" dirty="0"/>
          </a:p>
          <a:p>
            <a:r>
              <a:rPr lang="pt-PT" sz="1050" b="1" dirty="0"/>
              <a:t>Response Body (Erro - 400 </a:t>
            </a:r>
            <a:r>
              <a:rPr lang="pt-PT" sz="1050" b="1" dirty="0" err="1"/>
              <a:t>Bad</a:t>
            </a:r>
            <a:r>
              <a:rPr lang="pt-PT" sz="1050" b="1" dirty="0"/>
              <a:t> </a:t>
            </a:r>
            <a:r>
              <a:rPr lang="pt-PT" sz="1050" b="1" dirty="0" err="1"/>
              <a:t>Request</a:t>
            </a:r>
            <a:r>
              <a:rPr lang="pt-PT" sz="1050" b="1" dirty="0"/>
              <a:t>): </a:t>
            </a:r>
            <a:r>
              <a:rPr lang="pt-PT" sz="1050" dirty="0"/>
              <a:t>Em caso de email ou número de estudante já existente, retorna um objeto com </a:t>
            </a:r>
            <a:r>
              <a:rPr lang="pt-PT" sz="1050" dirty="0" err="1"/>
              <a:t>flag</a:t>
            </a:r>
            <a:r>
              <a:rPr lang="pt-PT" sz="1050" dirty="0"/>
              <a:t> de erro, </a:t>
            </a:r>
          </a:p>
          <a:p>
            <a:r>
              <a:rPr lang="pt-PT" sz="1050" dirty="0"/>
              <a:t>código do erro (EMAIL_EXISTS ou STUDENT_NUMBER_EXISTS) e mensagem informativa.</a:t>
            </a:r>
          </a:p>
        </p:txBody>
      </p:sp>
    </p:spTree>
    <p:extLst>
      <p:ext uri="{BB962C8B-B14F-4D97-AF65-F5344CB8AC3E}">
        <p14:creationId xmlns:p14="http://schemas.microsoft.com/office/powerpoint/2010/main" val="1706365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81A7A-5CE6-67B5-046E-5DB6BE22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259EA33A-DB4D-EC57-C4EB-52F0DBC53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500" dirty="0">
                <a:solidFill>
                  <a:schemeClr val="dk1"/>
                </a:solidFill>
                <a:latin typeface="Figtree"/>
                <a:ea typeface="Figtree"/>
              </a:rPr>
              <a:t>API REST – Descrição detalhada de mensagens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0F646DAD-A466-F8BC-3264-50BCFD172FB7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09443FD-404F-D153-E0C1-C58FC1AE9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446230"/>
              </p:ext>
            </p:extLst>
          </p:nvPr>
        </p:nvGraphicFramePr>
        <p:xfrm>
          <a:off x="1770685" y="2707542"/>
          <a:ext cx="5388429" cy="157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2714">
                  <a:extLst>
                    <a:ext uri="{9D8B030D-6E8A-4147-A177-3AD203B41FA5}">
                      <a16:colId xmlns:a16="http://schemas.microsoft.com/office/drawing/2014/main" val="4291502864"/>
                    </a:ext>
                  </a:extLst>
                </a:gridCol>
                <a:gridCol w="3265715">
                  <a:extLst>
                    <a:ext uri="{9D8B030D-6E8A-4147-A177-3AD203B41FA5}">
                      <a16:colId xmlns:a16="http://schemas.microsoft.com/office/drawing/2014/main" val="2718381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PT" sz="1200" dirty="0">
                          <a:latin typeface="+mn-lt"/>
                        </a:rPr>
                        <a:t>Pedido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dirty="0">
                          <a:latin typeface="+mn-lt"/>
                        </a:rPr>
                        <a:t>Resposta(Sucesso)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192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50" b="1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POST</a:t>
                      </a: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 /</a:t>
                      </a:r>
                      <a:r>
                        <a:rPr lang="en-US" sz="105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api</a:t>
                      </a: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/students/login</a:t>
                      </a:r>
                      <a:b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endParaRPr lang="en-US" sz="105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</a:endParaRPr>
                    </a:p>
                    <a:p>
                      <a:r>
                        <a:rPr lang="pt-PT" sz="10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Request</a:t>
                      </a:r>
                      <a:r>
                        <a:rPr lang="pt-PT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Body</a:t>
                      </a:r>
                      <a:b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{</a:t>
                      </a:r>
                      <a:b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"email": "joao.silva@student.pt",</a:t>
                      </a:r>
                      <a:b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"password": “</a:t>
                      </a:r>
                      <a:r>
                        <a:rPr lang="en-US" sz="105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hashpassword</a:t>
                      </a: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"</a:t>
                      </a:r>
                      <a:b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}</a:t>
                      </a:r>
                      <a:endParaRPr lang="pt-PT" sz="8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Response Body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{</a:t>
                      </a:r>
                      <a:endParaRPr lang="pt-PT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"token": "eyJhbGciOiJIUzI1NiIsInR5cCI6…",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}</a:t>
                      </a:r>
                      <a:endParaRPr lang="pt-PT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2674957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221731E6-939C-6E03-D1DE-16D24E05D578}"/>
              </a:ext>
            </a:extLst>
          </p:cNvPr>
          <p:cNvSpPr txBox="1"/>
          <p:nvPr/>
        </p:nvSpPr>
        <p:spPr>
          <a:xfrm>
            <a:off x="365760" y="856919"/>
            <a:ext cx="8442360" cy="1337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pt-PT" sz="1050" b="1" dirty="0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Autenticação (POST /</a:t>
            </a:r>
            <a:r>
              <a:rPr lang="pt-PT" sz="1050" b="1" dirty="0" err="1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pt-PT" sz="1050" b="1" dirty="0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PT" sz="1050" b="1" dirty="0" err="1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pt-PT" sz="1050" b="1" dirty="0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/login)</a:t>
            </a:r>
            <a:endParaRPr lang="pt-PT" sz="1050" b="1" dirty="0">
              <a:solidFill>
                <a:srgbClr val="0F4761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PT" sz="1050" b="1" dirty="0"/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050" b="1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Request</a:t>
            </a: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Body: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Contém as credenciais de autenticação: email e password em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hash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pt-PT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Response Body (Sucesso - 200 OK):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Retorna um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JWT com dados completos do estudante autenticado. O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JWT contém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claims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encriptado.</a:t>
            </a:r>
            <a:endParaRPr lang="pt-PT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Response Body (Erro - 401 </a:t>
            </a:r>
            <a:r>
              <a:rPr lang="pt-PT" sz="1050" b="1" dirty="0" err="1">
                <a:effectLst/>
                <a:latin typeface="Arial" panose="020B0604020202020204" pitchFamily="34" charset="0"/>
                <a:ea typeface="Aptos" panose="020B0004020202020204" pitchFamily="34" charset="0"/>
              </a:rPr>
              <a:t>Unauthorized</a:t>
            </a: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):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</a:rPr>
              <a:t> Se as credenciais forem inválidas envia uma mensagem de erro apropriada.</a:t>
            </a:r>
            <a:endParaRPr lang="pt-PT" sz="1050" b="1" dirty="0"/>
          </a:p>
        </p:txBody>
      </p:sp>
    </p:spTree>
    <p:extLst>
      <p:ext uri="{BB962C8B-B14F-4D97-AF65-F5344CB8AC3E}">
        <p14:creationId xmlns:p14="http://schemas.microsoft.com/office/powerpoint/2010/main" val="5730764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50DD9-E54F-0AF5-C8A0-FF62F9AAE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DA02C431-B832-9CD0-40CD-7D92F3502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500" dirty="0">
                <a:solidFill>
                  <a:schemeClr val="dk1"/>
                </a:solidFill>
                <a:latin typeface="Figtree"/>
                <a:ea typeface="Figtree"/>
              </a:rPr>
              <a:t>API REST – Descrição detalhada de mensagens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83DF17DC-62C1-A738-3031-155711B47A1E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67EDDB87-75CA-E4A5-61F5-946E6F073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736158"/>
              </p:ext>
            </p:extLst>
          </p:nvPr>
        </p:nvGraphicFramePr>
        <p:xfrm>
          <a:off x="1822269" y="2682438"/>
          <a:ext cx="5251937" cy="2199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8944">
                  <a:extLst>
                    <a:ext uri="{9D8B030D-6E8A-4147-A177-3AD203B41FA5}">
                      <a16:colId xmlns:a16="http://schemas.microsoft.com/office/drawing/2014/main" val="4291502864"/>
                    </a:ext>
                  </a:extLst>
                </a:gridCol>
                <a:gridCol w="3182993">
                  <a:extLst>
                    <a:ext uri="{9D8B030D-6E8A-4147-A177-3AD203B41FA5}">
                      <a16:colId xmlns:a16="http://schemas.microsoft.com/office/drawing/2014/main" val="2718381619"/>
                    </a:ext>
                  </a:extLst>
                </a:gridCol>
              </a:tblGrid>
              <a:tr h="326206">
                <a:tc>
                  <a:txBody>
                    <a:bodyPr/>
                    <a:lstStyle/>
                    <a:p>
                      <a:pPr algn="ctr"/>
                      <a:r>
                        <a:rPr lang="pt-PT" sz="1100" dirty="0">
                          <a:latin typeface="+mn-lt"/>
                        </a:rPr>
                        <a:t>Pedido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dirty="0">
                          <a:latin typeface="+mn-lt"/>
                        </a:rPr>
                        <a:t>Resposta(Sucesso)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192681"/>
                  </a:ext>
                </a:extLst>
              </a:tr>
              <a:tr h="1873450">
                <a:tc>
                  <a:txBody>
                    <a:bodyPr/>
                    <a:lstStyle/>
                    <a:p>
                      <a:r>
                        <a:rPr lang="en-US" sz="1000" b="1" dirty="0">
                          <a:effectLst/>
                          <a:latin typeface="+mn-lt"/>
                          <a:ea typeface="Aptos" panose="020B0004020202020204" pitchFamily="34" charset="0"/>
                        </a:rPr>
                        <a:t>PUT</a:t>
                      </a:r>
                      <a:r>
                        <a:rPr lang="en-US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  <a:t> /</a:t>
                      </a:r>
                      <a:r>
                        <a:rPr lang="en-US" sz="1000" dirty="0" err="1">
                          <a:effectLst/>
                          <a:latin typeface="+mn-lt"/>
                          <a:ea typeface="Aptos" panose="020B0004020202020204" pitchFamily="34" charset="0"/>
                        </a:rPr>
                        <a:t>api</a:t>
                      </a:r>
                      <a:r>
                        <a:rPr lang="en-US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  <a:t>/students/profile</a:t>
                      </a:r>
                      <a:br>
                        <a:rPr lang="en-US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</a:br>
                      <a:br>
                        <a:rPr lang="en-US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</a:br>
                      <a:r>
                        <a:rPr lang="en-US" sz="1000" b="1" dirty="0">
                          <a:effectLst/>
                          <a:latin typeface="+mn-lt"/>
                          <a:ea typeface="Aptos" panose="020B0004020202020204" pitchFamily="34" charset="0"/>
                        </a:rPr>
                        <a:t>Headers:</a:t>
                      </a:r>
                      <a:br>
                        <a:rPr lang="en-US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</a:br>
                      <a:r>
                        <a:rPr lang="en-US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  <a:t>Authorization: Bearer </a:t>
                      </a:r>
                      <a:r>
                        <a:rPr lang="en-US" sz="1000" dirty="0" err="1">
                          <a:effectLst/>
                          <a:latin typeface="+mn-lt"/>
                          <a:ea typeface="Aptos" panose="020B0004020202020204" pitchFamily="34" charset="0"/>
                        </a:rPr>
                        <a:t>eyJhbGc</a:t>
                      </a:r>
                      <a:r>
                        <a:rPr lang="en-US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  <a:t>...</a:t>
                      </a:r>
                      <a:br>
                        <a:rPr lang="en-US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</a:br>
                      <a:br>
                        <a:rPr lang="en-US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</a:br>
                      <a:r>
                        <a:rPr lang="pt-PT" sz="1000" b="1" dirty="0" err="1">
                          <a:effectLst/>
                          <a:latin typeface="+mn-lt"/>
                          <a:ea typeface="Aptos" panose="020B0004020202020204" pitchFamily="34" charset="0"/>
                        </a:rPr>
                        <a:t>Request</a:t>
                      </a:r>
                      <a:r>
                        <a:rPr lang="pt-PT" sz="1000" b="1" dirty="0">
                          <a:effectLst/>
                          <a:latin typeface="+mn-lt"/>
                          <a:ea typeface="Aptos" panose="020B0004020202020204" pitchFamily="34" charset="0"/>
                        </a:rPr>
                        <a:t> Body</a:t>
                      </a:r>
                      <a:br>
                        <a:rPr lang="pt-PT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</a:br>
                      <a:r>
                        <a:rPr lang="pt-PT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  <a:t>{</a:t>
                      </a:r>
                      <a:br>
                        <a:rPr lang="pt-PT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</a:br>
                      <a:r>
                        <a:rPr lang="pt-PT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  <a:t>"</a:t>
                      </a:r>
                      <a:r>
                        <a:rPr lang="pt-PT" sz="1000" dirty="0" err="1">
                          <a:effectLst/>
                          <a:latin typeface="+mn-lt"/>
                          <a:ea typeface="Aptos" panose="020B0004020202020204" pitchFamily="34" charset="0"/>
                        </a:rPr>
                        <a:t>name</a:t>
                      </a:r>
                      <a:r>
                        <a:rPr lang="pt-PT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  <a:t>": "João Pedro Silva Santos",</a:t>
                      </a:r>
                      <a:br>
                        <a:rPr lang="pt-PT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</a:br>
                      <a:r>
                        <a:rPr lang="pt-PT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  <a:t>"password": “</a:t>
                      </a:r>
                      <a:r>
                        <a:rPr lang="pt-PT" sz="1000" dirty="0" err="1">
                          <a:effectLst/>
                          <a:latin typeface="+mn-lt"/>
                          <a:ea typeface="Aptos" panose="020B0004020202020204" pitchFamily="34" charset="0"/>
                        </a:rPr>
                        <a:t>hashpassword</a:t>
                      </a:r>
                      <a:r>
                        <a:rPr lang="pt-PT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  <a:t>"</a:t>
                      </a:r>
                      <a:br>
                        <a:rPr lang="pt-PT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</a:br>
                      <a:r>
                        <a:rPr lang="pt-PT" sz="1000" dirty="0">
                          <a:effectLst/>
                          <a:latin typeface="+mn-lt"/>
                          <a:ea typeface="Aptos" panose="020B0004020202020204" pitchFamily="34" charset="0"/>
                        </a:rPr>
                        <a:t>}</a:t>
                      </a:r>
                      <a:endParaRPr lang="pt-PT" sz="7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50" b="1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Response Body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5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{</a:t>
                      </a:r>
                      <a:endParaRPr lang="pt-PT" sz="16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105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pt-PT" sz="8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pt-PT" sz="800" dirty="0" err="1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message</a:t>
                      </a:r>
                      <a:r>
                        <a:rPr lang="pt-PT" sz="800" dirty="0">
                          <a:effectLst/>
                          <a:latin typeface="+mn-lt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": "Perfil atualizado com sucesso",</a:t>
                      </a:r>
                      <a:endParaRPr lang="pt-PT" sz="1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pt-PT" sz="1050" dirty="0">
                          <a:effectLst/>
                          <a:latin typeface="+mn-lt"/>
                          <a:ea typeface="Aptos" panose="020B0004020202020204" pitchFamily="34" charset="0"/>
                        </a:rPr>
                        <a:t>}</a:t>
                      </a:r>
                      <a:endParaRPr lang="pt-PT" sz="105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2674957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7AB53BF9-7F9A-D5D5-16CC-43BC7D90B195}"/>
              </a:ext>
            </a:extLst>
          </p:cNvPr>
          <p:cNvSpPr txBox="1"/>
          <p:nvPr/>
        </p:nvSpPr>
        <p:spPr>
          <a:xfrm>
            <a:off x="365760" y="856919"/>
            <a:ext cx="8442360" cy="19243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lang="pt-PT" sz="1050" b="1" dirty="0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Atualização de Perfil (PUT /</a:t>
            </a:r>
            <a:r>
              <a:rPr lang="pt-PT" sz="1050" b="1" dirty="0" err="1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pt-PT" sz="1050" b="1" dirty="0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PT" sz="1050" b="1" dirty="0" err="1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lang="pt-PT" sz="1050" b="1" dirty="0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PT" sz="1050" b="1" dirty="0" err="1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  <a:r>
              <a:rPr lang="pt-PT" sz="1050" b="1" dirty="0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 lang="pt-PT" sz="1050" b="1" dirty="0"/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050" b="1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Request</a:t>
            </a: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Body: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Contém os campos que o estudante deseja atualizar. Pode incluir nome (novo nome completo),password (nova password em texto simples)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número, mail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Campos não enviados mantêm os valores atuais.</a:t>
            </a:r>
            <a:endParaRPr lang="pt-PT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Response Body (Sucesso - 200 OK):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Confirma a atualização.</a:t>
            </a:r>
            <a:endParaRPr lang="pt-PT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Response Body (Erro - 400 Dados inválidos):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 os dados fornecidos forem inválidos (por exemplo: nome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password, email, número de estudante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vazios), retorna uma mensagem de erro referente 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problema.</a:t>
            </a:r>
            <a:endParaRPr lang="pt-PT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 lang="pt-PT" sz="1050" b="1" dirty="0"/>
          </a:p>
        </p:txBody>
      </p:sp>
    </p:spTree>
    <p:extLst>
      <p:ext uri="{BB962C8B-B14F-4D97-AF65-F5344CB8AC3E}">
        <p14:creationId xmlns:p14="http://schemas.microsoft.com/office/powerpoint/2010/main" val="39732328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AA06A-A923-3F17-0B1A-669962131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3B524D7A-CE73-C0C8-8899-53EE1611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500" dirty="0">
                <a:solidFill>
                  <a:schemeClr val="dk1"/>
                </a:solidFill>
                <a:latin typeface="Figtree"/>
                <a:ea typeface="Figtree"/>
              </a:rPr>
              <a:t>API REST – Descrição detalhada de mensagens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E3811C58-BDD9-85F2-4856-9F42C941DCF9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4BFA50-F66A-8F83-99CF-83786C882305}"/>
              </a:ext>
            </a:extLst>
          </p:cNvPr>
          <p:cNvSpPr txBox="1"/>
          <p:nvPr/>
        </p:nvSpPr>
        <p:spPr>
          <a:xfrm>
            <a:off x="365760" y="856919"/>
            <a:ext cx="8442360" cy="2225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pt-PT" sz="1050" b="1" dirty="0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Acesso a Pergunta por Código (GET </a:t>
            </a:r>
            <a:r>
              <a:rPr lang="pt-PT" sz="1050" b="1" dirty="0">
                <a:solidFill>
                  <a:schemeClr val="bg2"/>
                </a:solidFill>
              </a:rPr>
              <a:t>/</a:t>
            </a:r>
            <a:r>
              <a:rPr lang="pt-PT" sz="1050" b="1" dirty="0" err="1">
                <a:solidFill>
                  <a:schemeClr val="bg2"/>
                </a:solidFill>
              </a:rPr>
              <a:t>api</a:t>
            </a:r>
            <a:r>
              <a:rPr lang="pt-PT" sz="1050" b="1" dirty="0">
                <a:solidFill>
                  <a:schemeClr val="bg2"/>
                </a:solidFill>
              </a:rPr>
              <a:t>/</a:t>
            </a:r>
            <a:r>
              <a:rPr lang="pt-PT" sz="1050" b="1" dirty="0" err="1">
                <a:solidFill>
                  <a:schemeClr val="bg2"/>
                </a:solidFill>
              </a:rPr>
              <a:t>students</a:t>
            </a:r>
            <a:r>
              <a:rPr lang="pt-PT" sz="1050" b="1" dirty="0">
                <a:solidFill>
                  <a:schemeClr val="bg2"/>
                </a:solidFill>
              </a:rPr>
              <a:t>/</a:t>
            </a:r>
            <a:r>
              <a:rPr lang="pt-PT" sz="1050" b="1" dirty="0" err="1">
                <a:solidFill>
                  <a:schemeClr val="bg2"/>
                </a:solidFill>
              </a:rPr>
              <a:t>questions</a:t>
            </a:r>
            <a:r>
              <a:rPr lang="pt-PT" sz="1050" b="1" dirty="0">
                <a:solidFill>
                  <a:schemeClr val="bg2"/>
                </a:solidFill>
              </a:rPr>
              <a:t>/{</a:t>
            </a:r>
            <a:r>
              <a:rPr lang="pt-PT" sz="1050" b="1" dirty="0" err="1">
                <a:solidFill>
                  <a:schemeClr val="bg2"/>
                </a:solidFill>
              </a:rPr>
              <a:t>accesscode</a:t>
            </a:r>
            <a:r>
              <a:rPr lang="pt-PT" sz="1050" b="1" dirty="0">
                <a:solidFill>
                  <a:schemeClr val="bg2"/>
                </a:solidFill>
              </a:rPr>
              <a:t>}</a:t>
            </a:r>
            <a:r>
              <a:rPr lang="pt-PT" sz="1050" b="1" dirty="0">
                <a:solidFill>
                  <a:schemeClr val="bg2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PT" sz="1050" b="1" dirty="0">
              <a:solidFill>
                <a:schemeClr val="bg2"/>
              </a:solidFill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pt-PT" sz="1050" b="1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Path</a:t>
            </a:r>
            <a:r>
              <a:rPr lang="pt-PT" sz="1050" b="1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PT" sz="1050" b="1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parameter</a:t>
            </a:r>
            <a:r>
              <a:rPr lang="pt-PT" sz="1050" b="1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</a:t>
            </a:r>
            <a:r>
              <a:rPr lang="pt-PT" sz="1050" dirty="0" err="1"/>
              <a:t>accesscode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 pergunta é fornecido como </a:t>
            </a:r>
            <a:r>
              <a:rPr lang="pt-PT" sz="1050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path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PT" sz="1050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parameter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pt-PT" sz="1050" b="1" dirty="0"/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Response Body (Sucesso - 200 OK):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Retorna a pergunta completa se o código for válido e a pergunta estiver no período de disponibilidade. Inclui: enunciado, horários de início e fim, e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array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 todas as opções de resposta.</a:t>
            </a:r>
            <a:endParaRPr lang="pt-PT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Response Body (Erro - 404 </a:t>
            </a:r>
            <a:r>
              <a:rPr lang="pt-PT" sz="1050" b="1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</a:t>
            </a: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PT" sz="1050" b="1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Found</a:t>
            </a: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 o código não existir, retorna mensagem de erro.</a:t>
            </a:r>
            <a:endParaRPr lang="pt-PT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Response Body (Erro - 403 </a:t>
            </a:r>
            <a:r>
              <a:rPr lang="pt-PT" sz="1050" b="1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Forbidden</a:t>
            </a: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 a pergunta existir mas não estiver no período de disponibilidade (ainda não iniciou ou já expirou), 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retorna mensagem de erro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pt-PT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 lang="pt-PT" sz="1050" b="1" dirty="0"/>
          </a:p>
        </p:txBody>
      </p:sp>
    </p:spTree>
    <p:extLst>
      <p:ext uri="{BB962C8B-B14F-4D97-AF65-F5344CB8AC3E}">
        <p14:creationId xmlns:p14="http://schemas.microsoft.com/office/powerpoint/2010/main" val="320730299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4CDE0-01F2-26EF-B869-558298134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572B3B78-9437-3929-D48B-3D9F2E101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500" dirty="0">
                <a:solidFill>
                  <a:schemeClr val="dk1"/>
                </a:solidFill>
                <a:latin typeface="Figtree"/>
                <a:ea typeface="Figtree"/>
              </a:rPr>
              <a:t>API REST – Descrição detalhada de mensagens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CE20DF61-D9BA-CBD7-538F-02556183EF73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9E80E84A-9C5F-39A7-FAF2-A040573182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887334"/>
              </p:ext>
            </p:extLst>
          </p:nvPr>
        </p:nvGraphicFramePr>
        <p:xfrm>
          <a:off x="1832400" y="730441"/>
          <a:ext cx="5251937" cy="4334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8944">
                  <a:extLst>
                    <a:ext uri="{9D8B030D-6E8A-4147-A177-3AD203B41FA5}">
                      <a16:colId xmlns:a16="http://schemas.microsoft.com/office/drawing/2014/main" val="4291502864"/>
                    </a:ext>
                  </a:extLst>
                </a:gridCol>
                <a:gridCol w="3182993">
                  <a:extLst>
                    <a:ext uri="{9D8B030D-6E8A-4147-A177-3AD203B41FA5}">
                      <a16:colId xmlns:a16="http://schemas.microsoft.com/office/drawing/2014/main" val="2718381619"/>
                    </a:ext>
                  </a:extLst>
                </a:gridCol>
              </a:tblGrid>
              <a:tr h="330794">
                <a:tc>
                  <a:txBody>
                    <a:bodyPr/>
                    <a:lstStyle/>
                    <a:p>
                      <a:pPr algn="ctr"/>
                      <a:r>
                        <a:rPr lang="pt-PT" sz="1100" dirty="0">
                          <a:latin typeface="+mn-lt"/>
                        </a:rPr>
                        <a:t>Pedido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dirty="0">
                          <a:latin typeface="+mn-lt"/>
                        </a:rPr>
                        <a:t>Resposta(Sucesso)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192681"/>
                  </a:ext>
                </a:extLst>
              </a:tr>
              <a:tr h="4003708">
                <a:tc>
                  <a:txBody>
                    <a:bodyPr/>
                    <a:lstStyle/>
                    <a:p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GET</a:t>
                      </a:r>
                      <a:r>
                        <a:rPr lang="en-US" sz="9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 </a:t>
                      </a:r>
                      <a:r>
                        <a:rPr lang="pt-PT" sz="900" b="1" dirty="0">
                          <a:solidFill>
                            <a:schemeClr val="bg2"/>
                          </a:solidFill>
                        </a:rPr>
                        <a:t>/</a:t>
                      </a:r>
                      <a:r>
                        <a:rPr lang="pt-PT" sz="900" b="1" dirty="0" err="1">
                          <a:solidFill>
                            <a:schemeClr val="bg2"/>
                          </a:solidFill>
                        </a:rPr>
                        <a:t>api</a:t>
                      </a:r>
                      <a:r>
                        <a:rPr lang="pt-PT" sz="900" b="1" dirty="0">
                          <a:solidFill>
                            <a:schemeClr val="bg2"/>
                          </a:solidFill>
                        </a:rPr>
                        <a:t>/</a:t>
                      </a:r>
                      <a:r>
                        <a:rPr lang="pt-PT" sz="900" b="1" dirty="0" err="1">
                          <a:solidFill>
                            <a:schemeClr val="bg2"/>
                          </a:solidFill>
                        </a:rPr>
                        <a:t>students</a:t>
                      </a:r>
                      <a:r>
                        <a:rPr lang="pt-PT" sz="900" b="1" dirty="0">
                          <a:solidFill>
                            <a:schemeClr val="bg2"/>
                          </a:solidFill>
                        </a:rPr>
                        <a:t>/</a:t>
                      </a:r>
                      <a:r>
                        <a:rPr lang="pt-PT" sz="900" b="1" dirty="0" err="1">
                          <a:solidFill>
                            <a:schemeClr val="bg2"/>
                          </a:solidFill>
                        </a:rPr>
                        <a:t>questions</a:t>
                      </a:r>
                      <a:r>
                        <a:rPr lang="pt-PT" sz="900" b="1" dirty="0">
                          <a:solidFill>
                            <a:schemeClr val="bg2"/>
                          </a:solidFill>
                        </a:rPr>
                        <a:t>/3</a:t>
                      </a:r>
                      <a:br>
                        <a:rPr lang="en-US" sz="9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br>
                        <a:rPr lang="en-US" sz="9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900" b="1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Headers:</a:t>
                      </a:r>
                      <a:br>
                        <a:rPr lang="en-US" sz="9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9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Authorization: Bearer </a:t>
                      </a:r>
                      <a:r>
                        <a:rPr lang="en-US" sz="90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eyJhbGc</a:t>
                      </a:r>
                      <a:r>
                        <a:rPr lang="en-US" sz="9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...</a:t>
                      </a:r>
                      <a:br>
                        <a:rPr lang="en-US" sz="9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endParaRPr lang="pt-PT" sz="9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b="1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Response Body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{</a:t>
                      </a:r>
                      <a:endParaRPr lang="pt-PT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	"question": {</a:t>
                      </a:r>
                      <a:b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	"statement": "Qual é a capital de 	Portugal?",</a:t>
                      </a:r>
                      <a:b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	"</a:t>
                      </a:r>
                      <a:r>
                        <a:rPr lang="en-US" sz="105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startTime</a:t>
                      </a: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": "2025-11-	29T10:00:00",</a:t>
                      </a:r>
                      <a:b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	"</a:t>
                      </a:r>
                      <a:r>
                        <a:rPr lang="en-US" sz="105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endTime</a:t>
                      </a: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": "2025-11-	29T10:30:00",</a:t>
                      </a:r>
                      <a:endParaRPr lang="pt-PT" sz="16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	"options": [</a:t>
                      </a:r>
                      <a:b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	"Lisboa”,</a:t>
                      </a:r>
                      <a:b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	"Porto",</a:t>
                      </a:r>
                      <a:b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	"Coimbra",</a:t>
                      </a:r>
                      <a:b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	"</a:t>
                      </a:r>
                      <a:r>
                        <a:rPr lang="en-US" sz="105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Paços</a:t>
                      </a: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 de Ferreira"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                         ]</a:t>
                      </a:r>
                      <a:b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	}</a:t>
                      </a:r>
                      <a:b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5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}</a:t>
                      </a:r>
                      <a:endParaRPr lang="pt-PT" sz="105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2674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9156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EC4D8-F353-85CE-2C3D-D5EDBB615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6F475216-AF9A-3B67-A6B8-40D4821F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500" dirty="0">
                <a:solidFill>
                  <a:schemeClr val="dk1"/>
                </a:solidFill>
                <a:latin typeface="Figtree"/>
                <a:ea typeface="Figtree"/>
              </a:rPr>
              <a:t>API REST – Descrição detalhada de mensagens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42E7BFBA-4854-0AD8-2156-CE9AFCE66B6E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24F87BA8-0B8D-0B92-1262-A5393AEB3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3653"/>
              </p:ext>
            </p:extLst>
          </p:nvPr>
        </p:nvGraphicFramePr>
        <p:xfrm>
          <a:off x="1822269" y="2682438"/>
          <a:ext cx="5225142" cy="223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8388">
                  <a:extLst>
                    <a:ext uri="{9D8B030D-6E8A-4147-A177-3AD203B41FA5}">
                      <a16:colId xmlns:a16="http://schemas.microsoft.com/office/drawing/2014/main" val="4291502864"/>
                    </a:ext>
                  </a:extLst>
                </a:gridCol>
                <a:gridCol w="3166754">
                  <a:extLst>
                    <a:ext uri="{9D8B030D-6E8A-4147-A177-3AD203B41FA5}">
                      <a16:colId xmlns:a16="http://schemas.microsoft.com/office/drawing/2014/main" val="2718381619"/>
                    </a:ext>
                  </a:extLst>
                </a:gridCol>
              </a:tblGrid>
              <a:tr h="359212">
                <a:tc>
                  <a:txBody>
                    <a:bodyPr/>
                    <a:lstStyle/>
                    <a:p>
                      <a:pPr algn="ctr"/>
                      <a:r>
                        <a:rPr lang="pt-PT" sz="1100" dirty="0">
                          <a:latin typeface="+mn-lt"/>
                        </a:rPr>
                        <a:t>Pedido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dirty="0">
                          <a:latin typeface="+mn-lt"/>
                        </a:rPr>
                        <a:t>Resposta(Sucesso)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192681"/>
                  </a:ext>
                </a:extLst>
              </a:tr>
              <a:tr h="1873450">
                <a:tc>
                  <a:txBody>
                    <a:bodyPr/>
                    <a:lstStyle/>
                    <a:p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POST</a:t>
                      </a:r>
                      <a: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 /</a:t>
                      </a:r>
                      <a:r>
                        <a:rPr lang="en-US" sz="100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api</a:t>
                      </a:r>
                      <a: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/questions/15</a:t>
                      </a:r>
                      <a:b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b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Headers:</a:t>
                      </a:r>
                      <a:b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Authorization: Bearer </a:t>
                      </a:r>
                      <a:r>
                        <a:rPr lang="en-US" sz="100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eyJhbGc</a:t>
                      </a:r>
                      <a: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...</a:t>
                      </a:r>
                      <a:b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endParaRPr lang="en-US" sz="1000" dirty="0">
                        <a:effectLst/>
                        <a:latin typeface="Arial" panose="020B0604020202020204" pitchFamily="34" charset="0"/>
                        <a:ea typeface="Aptos" panose="020B0004020202020204" pitchFamily="34" charset="0"/>
                      </a:endParaRPr>
                    </a:p>
                    <a:p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Request Body</a:t>
                      </a:r>
                      <a:b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{</a:t>
                      </a:r>
                      <a:b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"</a:t>
                      </a:r>
                      <a:r>
                        <a:rPr lang="en-US" sz="100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chosenIndex</a:t>
                      </a:r>
                      <a: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": 2</a:t>
                      </a:r>
                      <a:b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}</a:t>
                      </a:r>
                      <a:endParaRPr lang="pt-PT" sz="7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b="1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Response Body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pt-PT" sz="7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"</a:t>
                      </a:r>
                      <a:r>
                        <a:rPr lang="pt-PT" sz="70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message</a:t>
                      </a:r>
                      <a:r>
                        <a:rPr lang="pt-PT" sz="7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": "Resposta submetida com sucesso",</a:t>
                      </a:r>
                      <a:endParaRPr lang="pt-PT" sz="105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8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}</a:t>
                      </a:r>
                      <a:endParaRPr lang="pt-PT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2674957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07374CFE-64BC-C580-9F25-F17340B3CC29}"/>
              </a:ext>
            </a:extLst>
          </p:cNvPr>
          <p:cNvSpPr txBox="1"/>
          <p:nvPr/>
        </p:nvSpPr>
        <p:spPr>
          <a:xfrm>
            <a:off x="365760" y="856919"/>
            <a:ext cx="8442360" cy="2103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pt-PT" sz="1050" b="1" dirty="0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Submissão de Resposta (POST </a:t>
            </a:r>
            <a:r>
              <a:rPr lang="pt-PT" sz="1050" b="1" dirty="0">
                <a:solidFill>
                  <a:srgbClr val="0F476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/</a:t>
            </a:r>
            <a:r>
              <a:rPr lang="pt-PT" sz="1050" b="1" dirty="0" err="1">
                <a:solidFill>
                  <a:srgbClr val="0F476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api</a:t>
            </a:r>
            <a:r>
              <a:rPr lang="pt-PT" sz="1050" b="1" dirty="0">
                <a:solidFill>
                  <a:srgbClr val="0F476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/</a:t>
            </a:r>
            <a:r>
              <a:rPr lang="pt-PT" sz="1050" b="1" dirty="0" err="1">
                <a:solidFill>
                  <a:srgbClr val="0F476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students</a:t>
            </a:r>
            <a:r>
              <a:rPr lang="pt-PT" sz="1050" b="1" dirty="0">
                <a:solidFill>
                  <a:srgbClr val="0F476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/</a:t>
            </a:r>
            <a:r>
              <a:rPr lang="pt-PT" sz="1050" b="1" dirty="0" err="1">
                <a:solidFill>
                  <a:srgbClr val="0F476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questions</a:t>
            </a:r>
            <a:r>
              <a:rPr lang="pt-PT" sz="1050" b="1" dirty="0">
                <a:solidFill>
                  <a:srgbClr val="0F476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/{</a:t>
            </a:r>
            <a:r>
              <a:rPr lang="pt-PT" sz="1050" b="1" dirty="0" err="1">
                <a:solidFill>
                  <a:srgbClr val="0F476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accesscode</a:t>
            </a:r>
            <a:r>
              <a:rPr lang="pt-PT" sz="1050" b="1" dirty="0">
                <a:solidFill>
                  <a:srgbClr val="0F476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})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 lang="pt-PT" sz="1050" b="1" dirty="0"/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pt-PT" sz="1050" b="1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Path</a:t>
            </a:r>
            <a:r>
              <a:rPr lang="pt-PT" sz="1050" b="1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PT" sz="1050" b="1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parameter</a:t>
            </a:r>
            <a:r>
              <a:rPr lang="pt-PT" sz="1050" b="1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 </a:t>
            </a:r>
            <a:r>
              <a:rPr lang="pt-PT" sz="1050" dirty="0" err="1"/>
              <a:t>accesscode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 pergunta é fornecido como </a:t>
            </a:r>
            <a:r>
              <a:rPr lang="pt-PT" sz="1050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path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PT" sz="1050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parameter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pt-PT" sz="1050" b="1" dirty="0"/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050" b="1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Request</a:t>
            </a: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Body: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Contém o </a:t>
            </a:r>
            <a:r>
              <a:rPr lang="pt-PT" sz="1050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index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 opção escolhida pelo estudante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Response Body (Sucesso - 201 </a:t>
            </a:r>
            <a:r>
              <a:rPr lang="pt-PT" sz="1050" b="1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Created</a:t>
            </a: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Confirma a submissão.</a:t>
            </a:r>
            <a:endParaRPr lang="pt-PT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Response Body (Erro - 400 </a:t>
            </a:r>
            <a:r>
              <a:rPr lang="pt-PT" sz="1050" b="1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Bad</a:t>
            </a: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pt-PT" sz="1050" b="1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Request</a:t>
            </a: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 o estudante já tiver respondido a esta pergunta, retorna mensagem de erro.</a:t>
            </a:r>
            <a:endParaRPr lang="pt-PT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Response Body (Erro - 403 </a:t>
            </a:r>
            <a:r>
              <a:rPr lang="pt-PT" sz="1050" b="1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Forbidden</a:t>
            </a: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):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 a pergunta não estiver mais disponível,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retorna mensagem de erro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pt-PT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 lang="pt-PT" sz="1050" b="1" dirty="0"/>
          </a:p>
        </p:txBody>
      </p:sp>
    </p:spTree>
    <p:extLst>
      <p:ext uri="{BB962C8B-B14F-4D97-AF65-F5344CB8AC3E}">
        <p14:creationId xmlns:p14="http://schemas.microsoft.com/office/powerpoint/2010/main" val="31377987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9335-A6B8-4A6E-AD1F-034BC721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41D2BCCA-2DC8-5D12-4784-649B8CC5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500" dirty="0">
                <a:solidFill>
                  <a:schemeClr val="dk1"/>
                </a:solidFill>
                <a:latin typeface="Figtree"/>
                <a:ea typeface="Figtree"/>
              </a:rPr>
              <a:t>API REST – Descrição detalhada de mensagens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0454F04-BA7E-EA06-F8CB-9DACAC80D506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1D693B-5C9A-1B04-60E3-FC9A310758D0}"/>
              </a:ext>
            </a:extLst>
          </p:cNvPr>
          <p:cNvSpPr txBox="1"/>
          <p:nvPr/>
        </p:nvSpPr>
        <p:spPr>
          <a:xfrm>
            <a:off x="365760" y="856919"/>
            <a:ext cx="8442360" cy="177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pt-PT" sz="1050" b="1" dirty="0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Lista de Respostas Submetidas (GET </a:t>
            </a:r>
            <a:r>
              <a:rPr lang="pt-PT" sz="1050" b="1" dirty="0">
                <a:solidFill>
                  <a:srgbClr val="0F476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/</a:t>
            </a:r>
            <a:r>
              <a:rPr lang="pt-PT" sz="1050" b="1" dirty="0" err="1">
                <a:solidFill>
                  <a:srgbClr val="0F476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api</a:t>
            </a:r>
            <a:r>
              <a:rPr lang="pt-PT" sz="1050" b="1" dirty="0">
                <a:solidFill>
                  <a:srgbClr val="0F476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/</a:t>
            </a:r>
            <a:r>
              <a:rPr lang="pt-PT" sz="1050" b="1" dirty="0" err="1">
                <a:solidFill>
                  <a:srgbClr val="0F476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students</a:t>
            </a:r>
            <a:r>
              <a:rPr lang="pt-PT" sz="1050" b="1" dirty="0">
                <a:solidFill>
                  <a:srgbClr val="0F4761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/responses)</a:t>
            </a: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pt-PT" sz="1050" b="1" dirty="0" err="1"/>
              <a:t>Query</a:t>
            </a:r>
            <a:r>
              <a:rPr lang="pt-PT" sz="1050" b="1" dirty="0"/>
              <a:t> </a:t>
            </a:r>
            <a:r>
              <a:rPr lang="pt-PT" sz="1050" b="1" dirty="0" err="1"/>
              <a:t>Parameters</a:t>
            </a:r>
            <a:r>
              <a:rPr lang="pt-PT" sz="1050" b="1" dirty="0"/>
              <a:t> : 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Pode incluir parâmetros de </a:t>
            </a:r>
            <a:r>
              <a:rPr lang="pt-PT" sz="1050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query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opcionais: </a:t>
            </a:r>
            <a:r>
              <a:rPr lang="pt-PT" sz="1050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startDate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 </a:t>
            </a:r>
            <a:r>
              <a:rPr lang="pt-PT" sz="1050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endDate</a:t>
            </a:r>
            <a:r>
              <a:rPr lang="pt-PT" sz="105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no formato (YYYY-MM-DD) para filtrar respostas por período de submissão.</a:t>
            </a:r>
            <a:endParaRPr lang="pt-PT" sz="1050" b="1" dirty="0"/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050" b="1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Request</a:t>
            </a: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Body: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Nenhum.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Response Body (Sucesso - 200 OK):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Retorna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array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 todas as respostas submetidas pelo estudante. Para cada resposta que tenha período já expirada, inclui: </a:t>
            </a:r>
            <a:r>
              <a:rPr lang="pt-PT" sz="105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Questionaccesscode</a:t>
            </a:r>
            <a:r>
              <a:rPr lang="pt-PT" sz="105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enunciado da pergunta, todas as opções disponíveis, opção escolhida pelo estudante, opção correta,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flag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indicando se acertou, horário de fim da pergunta.</a:t>
            </a:r>
            <a:endParaRPr lang="pt-PT" sz="105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pt-PT" sz="1050" b="1" dirty="0"/>
          </a:p>
        </p:txBody>
      </p:sp>
    </p:spTree>
    <p:extLst>
      <p:ext uri="{BB962C8B-B14F-4D97-AF65-F5344CB8AC3E}">
        <p14:creationId xmlns:p14="http://schemas.microsoft.com/office/powerpoint/2010/main" val="33529887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C1D4E-7DF4-D0FF-CA58-C93E9CA38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B5800474-9E57-16E2-887D-5256A76E3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500" dirty="0">
                <a:solidFill>
                  <a:schemeClr val="dk1"/>
                </a:solidFill>
                <a:latin typeface="Figtree"/>
                <a:ea typeface="Figtree"/>
              </a:rPr>
              <a:t>API REST – Descrição detalhada de mensagens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1EF06494-D12B-62E3-BD49-6F631B97AAAA}"/>
              </a:ext>
            </a:extLst>
          </p:cNvPr>
          <p:cNvCxnSpPr>
            <a:cxnSpLocks/>
          </p:cNvCxnSpPr>
          <p:nvPr/>
        </p:nvCxnSpPr>
        <p:spPr>
          <a:xfrm>
            <a:off x="0" y="678189"/>
            <a:ext cx="9144000" cy="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0D0748A7-7F65-B66C-A21A-95E98F893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289863"/>
              </p:ext>
            </p:extLst>
          </p:nvPr>
        </p:nvGraphicFramePr>
        <p:xfrm>
          <a:off x="427808" y="801384"/>
          <a:ext cx="8288383" cy="4293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119">
                  <a:extLst>
                    <a:ext uri="{9D8B030D-6E8A-4147-A177-3AD203B41FA5}">
                      <a16:colId xmlns:a16="http://schemas.microsoft.com/office/drawing/2014/main" val="4291502864"/>
                    </a:ext>
                  </a:extLst>
                </a:gridCol>
                <a:gridCol w="5023264">
                  <a:extLst>
                    <a:ext uri="{9D8B030D-6E8A-4147-A177-3AD203B41FA5}">
                      <a16:colId xmlns:a16="http://schemas.microsoft.com/office/drawing/2014/main" val="2718381619"/>
                    </a:ext>
                  </a:extLst>
                </a:gridCol>
              </a:tblGrid>
              <a:tr h="332297">
                <a:tc>
                  <a:txBody>
                    <a:bodyPr/>
                    <a:lstStyle/>
                    <a:p>
                      <a:pPr algn="ctr"/>
                      <a:r>
                        <a:rPr lang="pt-PT" sz="1100" dirty="0">
                          <a:latin typeface="+mn-lt"/>
                        </a:rPr>
                        <a:t>Pedido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100" dirty="0">
                          <a:latin typeface="+mn-lt"/>
                        </a:rPr>
                        <a:t>Resposta(Sucesso)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192681"/>
                  </a:ext>
                </a:extLst>
              </a:tr>
              <a:tr h="3960832">
                <a:tc>
                  <a:txBody>
                    <a:bodyPr/>
                    <a:lstStyle/>
                    <a:p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GET</a:t>
                      </a:r>
                      <a: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 </a:t>
                      </a:r>
                      <a:r>
                        <a:rPr lang="pt-PT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/</a:t>
                      </a:r>
                      <a:r>
                        <a:rPr lang="pt-PT" sz="10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api</a:t>
                      </a:r>
                      <a:r>
                        <a:rPr lang="pt-PT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/</a:t>
                      </a:r>
                      <a:r>
                        <a:rPr lang="pt-PT" sz="100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students</a:t>
                      </a:r>
                      <a:r>
                        <a:rPr lang="pt-PT" sz="1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/responses</a:t>
                      </a:r>
                      <a: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?</a:t>
                      </a:r>
                      <a:r>
                        <a:rPr lang="en-US" sz="100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startDate</a:t>
                      </a:r>
                      <a: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=2025-11-01&amp;endDate=2025-11-30</a:t>
                      </a:r>
                      <a:b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b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00" b="1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Headers:</a:t>
                      </a:r>
                      <a:b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</a:br>
                      <a: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Authorization: Bearer </a:t>
                      </a:r>
                      <a:r>
                        <a:rPr lang="en-US" sz="1000" dirty="0" err="1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eyJhbGc</a:t>
                      </a:r>
                      <a:r>
                        <a:rPr lang="en-US" sz="1000" dirty="0">
                          <a:effectLst/>
                          <a:latin typeface="Arial" panose="020B0604020202020204" pitchFamily="34" charset="0"/>
                          <a:ea typeface="Aptos" panose="020B0004020202020204" pitchFamily="34" charset="0"/>
                        </a:rPr>
                        <a:t>…</a:t>
                      </a:r>
                      <a:endParaRPr lang="pt-PT" sz="700" dirty="0">
                        <a:solidFill>
                          <a:srgbClr val="00B050"/>
                        </a:solidFill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"responses": [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    {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        "</a:t>
                      </a:r>
                      <a:r>
                        <a:rPr lang="pt-PT" sz="8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questionaccesscode</a:t>
                      </a: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": 2,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        "</a:t>
                      </a:r>
                      <a:r>
                        <a:rPr lang="pt-PT" sz="8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questionStatement</a:t>
                      </a: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": "Qual é a capital de Portugal?",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        "</a:t>
                      </a:r>
                      <a:r>
                        <a:rPr lang="pt-PT" sz="8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options</a:t>
                      </a: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": ["Lisboa",    "Porto",    "Coimbra", "Faro"],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        "</a:t>
                      </a:r>
                      <a:r>
                        <a:rPr lang="pt-PT" sz="8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chosenIndex</a:t>
                      </a: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": 3,"correctIndex": 2,"isCorrect": </a:t>
                      </a:r>
                      <a:r>
                        <a:rPr lang="pt-PT" sz="8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        "</a:t>
                      </a:r>
                      <a:r>
                        <a:rPr lang="pt-PT" sz="8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questionEndTime</a:t>
                      </a: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": "2025-11-29T10:30:00"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    },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    {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        ...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    }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   ]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pt-PT" sz="8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pt-PT" sz="8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2674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2999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A592B-A404-23BB-8D52-3A836E9F4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>
            <a:extLst>
              <a:ext uri="{FF2B5EF4-FFF2-40B4-BE49-F238E27FC236}">
                <a16:creationId xmlns:a16="http://schemas.microsoft.com/office/drawing/2014/main" id="{356522DA-535D-412B-6E2F-CF933EFD9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240" y="3067200"/>
            <a:ext cx="3352320" cy="187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3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Interface RMI</a:t>
            </a:r>
            <a:endParaRPr lang="pt-PT" sz="3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>
            <a:extLst>
              <a:ext uri="{FF2B5EF4-FFF2-40B4-BE49-F238E27FC236}">
                <a16:creationId xmlns:a16="http://schemas.microsoft.com/office/drawing/2014/main" id="{724D2665-A9FE-FFC6-CAA1-56D9B177A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280" y="1609560"/>
            <a:ext cx="1266480" cy="126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6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  <a:ea typeface="Figtree"/>
              </a:rPr>
              <a:t>06</a:t>
            </a:r>
            <a:endParaRPr lang="pt-PT" sz="6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Google Shape;220;p32">
            <a:extLst>
              <a:ext uri="{FF2B5EF4-FFF2-40B4-BE49-F238E27FC236}">
                <a16:creationId xmlns:a16="http://schemas.microsoft.com/office/drawing/2014/main" id="{BA6C59B8-DF41-C0F4-3F6F-0A95CAC693A9}"/>
              </a:ext>
            </a:extLst>
          </p:cNvPr>
          <p:cNvCxnSpPr/>
          <p:nvPr/>
        </p:nvCxnSpPr>
        <p:spPr>
          <a:xfrm>
            <a:off x="-76320" y="2943000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241150813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D0295-8F9C-28DB-883E-323A105C4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8C71E027-8289-C2C5-2F69-F80E85D61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pt-PT" sz="2800" dirty="0">
                <a:solidFill>
                  <a:schemeClr val="dk1"/>
                </a:solidFill>
                <a:latin typeface="Figtree"/>
                <a:ea typeface="Figtree"/>
              </a:rPr>
              <a:t>Interface RMI – Tabela síntese de </a:t>
            </a:r>
            <a:r>
              <a:rPr lang="pt-PT" sz="2800" dirty="0" err="1">
                <a:solidFill>
                  <a:schemeClr val="dk1"/>
                </a:solidFill>
                <a:latin typeface="Figtree"/>
                <a:ea typeface="Figtree"/>
              </a:rPr>
              <a:t>endpoints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C21FA986-D20C-53D0-51DA-7BC3CE9FA3D7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FA9AF39D-36EB-D240-3DB6-9F4D56224066}"/>
              </a:ext>
            </a:extLst>
          </p:cNvPr>
          <p:cNvSpPr txBox="1"/>
          <p:nvPr/>
        </p:nvSpPr>
        <p:spPr>
          <a:xfrm>
            <a:off x="365760" y="856919"/>
            <a:ext cx="8442360" cy="429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A interface RMI StudentRemoteService define os métodos remotos disponíveis para que aplicações cliente possam interagir com o sistema. Todos os métodos podem lançar RemoteException.</a:t>
            </a:r>
            <a:endParaRPr lang="pt-PT" sz="105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B6982F4-2AAA-4063-B1B3-D01EE9746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276525"/>
              </p:ext>
            </p:extLst>
          </p:nvPr>
        </p:nvGraphicFramePr>
        <p:xfrm>
          <a:off x="1088147" y="1348090"/>
          <a:ext cx="6732211" cy="3619422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1196666">
                  <a:extLst>
                    <a:ext uri="{9D8B030D-6E8A-4147-A177-3AD203B41FA5}">
                      <a16:colId xmlns:a16="http://schemas.microsoft.com/office/drawing/2014/main" val="326943107"/>
                    </a:ext>
                  </a:extLst>
                </a:gridCol>
                <a:gridCol w="1106637">
                  <a:extLst>
                    <a:ext uri="{9D8B030D-6E8A-4147-A177-3AD203B41FA5}">
                      <a16:colId xmlns:a16="http://schemas.microsoft.com/office/drawing/2014/main" val="1886770020"/>
                    </a:ext>
                  </a:extLst>
                </a:gridCol>
                <a:gridCol w="1569269">
                  <a:extLst>
                    <a:ext uri="{9D8B030D-6E8A-4147-A177-3AD203B41FA5}">
                      <a16:colId xmlns:a16="http://schemas.microsoft.com/office/drawing/2014/main" val="364598136"/>
                    </a:ext>
                  </a:extLst>
                </a:gridCol>
                <a:gridCol w="1036321">
                  <a:extLst>
                    <a:ext uri="{9D8B030D-6E8A-4147-A177-3AD203B41FA5}">
                      <a16:colId xmlns:a16="http://schemas.microsoft.com/office/drawing/2014/main" val="4174478559"/>
                    </a:ext>
                  </a:extLst>
                </a:gridCol>
                <a:gridCol w="1823318">
                  <a:extLst>
                    <a:ext uri="{9D8B030D-6E8A-4147-A177-3AD203B41FA5}">
                      <a16:colId xmlns:a16="http://schemas.microsoft.com/office/drawing/2014/main" val="4140225920"/>
                    </a:ext>
                  </a:extLst>
                </a:gridCol>
              </a:tblGrid>
              <a:tr h="1395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800" dirty="0">
                          <a:effectLst/>
                        </a:rPr>
                        <a:t>Método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800" dirty="0">
                          <a:effectLst/>
                        </a:rPr>
                        <a:t>Parâmetros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800">
                          <a:effectLst/>
                        </a:rPr>
                        <a:t>Retorno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800">
                          <a:effectLst/>
                        </a:rPr>
                        <a:t>Descrição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800">
                          <a:effectLst/>
                        </a:rPr>
                        <a:t>Exceções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extLst>
                  <a:ext uri="{0D108BD9-81ED-4DB2-BD59-A6C34878D82A}">
                    <a16:rowId xmlns:a16="http://schemas.microsoft.com/office/drawing/2014/main" val="2608990529"/>
                  </a:ext>
                </a:extLst>
              </a:tr>
              <a:tr h="48434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 dirty="0" err="1">
                          <a:effectLst/>
                        </a:rPr>
                        <a:t>register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 dirty="0">
                          <a:effectLst/>
                        </a:rPr>
                        <a:t>email, </a:t>
                      </a:r>
                      <a:r>
                        <a:rPr lang="pt-PT" sz="700" dirty="0" err="1">
                          <a:effectLst/>
                        </a:rPr>
                        <a:t>studentNumber</a:t>
                      </a:r>
                      <a:r>
                        <a:rPr lang="pt-PT" sz="700" dirty="0">
                          <a:effectLst/>
                        </a:rPr>
                        <a:t>, </a:t>
                      </a:r>
                      <a:r>
                        <a:rPr lang="pt-PT" sz="700" dirty="0" err="1">
                          <a:effectLst/>
                        </a:rPr>
                        <a:t>name</a:t>
                      </a:r>
                      <a:r>
                        <a:rPr lang="pt-PT" sz="700" dirty="0">
                          <a:effectLst/>
                        </a:rPr>
                        <a:t>, </a:t>
                      </a:r>
                      <a:r>
                        <a:rPr lang="pt-PT" sz="700" dirty="0" err="1">
                          <a:effectLst/>
                        </a:rPr>
                        <a:t>passwordHash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Student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Registo de novo estudante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ValidationException, EmailExistsException, StudentNumberExistsException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extLst>
                  <a:ext uri="{0D108BD9-81ED-4DB2-BD59-A6C34878D82A}">
                    <a16:rowId xmlns:a16="http://schemas.microsoft.com/office/drawing/2014/main" val="3666244595"/>
                  </a:ext>
                </a:extLst>
              </a:tr>
              <a:tr h="3617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authenticate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 dirty="0">
                          <a:effectLst/>
                        </a:rPr>
                        <a:t>email, </a:t>
                      </a:r>
                      <a:r>
                        <a:rPr lang="pt-PT" sz="700" dirty="0" err="1">
                          <a:effectLst/>
                        </a:rPr>
                        <a:t>passwordHash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 dirty="0" err="1">
                          <a:effectLst/>
                        </a:rPr>
                        <a:t>AuthResponse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Autenticação e obtenção de token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InvalidCredentialsException</a:t>
                      </a:r>
                      <a:endParaRPr lang="pt-PT" sz="800">
                        <a:effectLst/>
                      </a:endParaRPr>
                    </a:p>
                    <a:p>
                      <a:pPr indent="44958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 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extLst>
                  <a:ext uri="{0D108BD9-81ED-4DB2-BD59-A6C34878D82A}">
                    <a16:rowId xmlns:a16="http://schemas.microsoft.com/office/drawing/2014/main" val="4135263826"/>
                  </a:ext>
                </a:extLst>
              </a:tr>
              <a:tr h="23910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getProfile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token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 dirty="0" err="1">
                          <a:effectLst/>
                        </a:rPr>
                        <a:t>Student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Consulta do perfil próprio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InvalidTokenException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extLst>
                  <a:ext uri="{0D108BD9-81ED-4DB2-BD59-A6C34878D82A}">
                    <a16:rowId xmlns:a16="http://schemas.microsoft.com/office/drawing/2014/main" val="2861421394"/>
                  </a:ext>
                </a:extLst>
              </a:tr>
              <a:tr h="70257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 dirty="0" err="1">
                          <a:effectLst/>
                        </a:rPr>
                        <a:t>updateProfile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 dirty="0" err="1">
                          <a:effectLst/>
                        </a:rPr>
                        <a:t>token</a:t>
                      </a:r>
                      <a:r>
                        <a:rPr lang="pt-PT" sz="700" dirty="0">
                          <a:effectLst/>
                        </a:rPr>
                        <a:t>, </a:t>
                      </a:r>
                      <a:r>
                        <a:rPr lang="pt-PT" sz="700" dirty="0" err="1">
                          <a:effectLst/>
                        </a:rPr>
                        <a:t>name</a:t>
                      </a:r>
                      <a:r>
                        <a:rPr lang="pt-PT" sz="700" dirty="0">
                          <a:effectLst/>
                        </a:rPr>
                        <a:t>, </a:t>
                      </a:r>
                      <a:r>
                        <a:rPr lang="pt-PT" sz="700" dirty="0" err="1">
                          <a:effectLst/>
                        </a:rPr>
                        <a:t>passwordHash</a:t>
                      </a:r>
                      <a:r>
                        <a:rPr lang="pt-PT" sz="700" dirty="0">
                          <a:effectLst/>
                        </a:rPr>
                        <a:t>, email, </a:t>
                      </a:r>
                      <a:r>
                        <a:rPr lang="pt-PT" sz="700" dirty="0" err="1">
                          <a:effectLst/>
                        </a:rPr>
                        <a:t>studentNumber</a:t>
                      </a:r>
                      <a:r>
                        <a:rPr lang="pt-PT" sz="700" dirty="0">
                          <a:effectLst/>
                        </a:rPr>
                        <a:t> 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 dirty="0" err="1">
                          <a:effectLst/>
                        </a:rPr>
                        <a:t>Student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Atualização do perfil (campos opcionais)</a:t>
                      </a:r>
                      <a:endParaRPr lang="pt-PT" sz="8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 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InvalidTokenException, ValidationException</a:t>
                      </a:r>
                      <a:endParaRPr lang="pt-PT" sz="80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 </a:t>
                      </a:r>
                      <a:endParaRPr lang="pt-PT" sz="800">
                        <a:effectLst/>
                      </a:endParaRPr>
                    </a:p>
                    <a:p>
                      <a:pPr indent="449580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 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extLst>
                  <a:ext uri="{0D108BD9-81ED-4DB2-BD59-A6C34878D82A}">
                    <a16:rowId xmlns:a16="http://schemas.microsoft.com/office/drawing/2014/main" val="810417997"/>
                  </a:ext>
                </a:extLst>
              </a:tr>
              <a:tr h="3617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accessQuestionByCode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token, accessCode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QuestionDetail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 dirty="0">
                          <a:effectLst/>
                        </a:rPr>
                        <a:t>Acesso a pergunta por código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InvalidTokenException, InvalidCodeException, QuestionNotAvailableException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extLst>
                  <a:ext uri="{0D108BD9-81ED-4DB2-BD59-A6C34878D82A}">
                    <a16:rowId xmlns:a16="http://schemas.microsoft.com/office/drawing/2014/main" val="4084588199"/>
                  </a:ext>
                </a:extLst>
              </a:tr>
              <a:tr h="3617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submitAnswer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token, questionId, chosenOptionId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SubmissionConfirmation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Submissão de resposta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 dirty="0" err="1">
                          <a:effectLst/>
                        </a:rPr>
                        <a:t>InvalidTokenException</a:t>
                      </a:r>
                      <a:r>
                        <a:rPr lang="pt-PT" sz="700" dirty="0">
                          <a:effectLst/>
                        </a:rPr>
                        <a:t>, </a:t>
                      </a:r>
                      <a:r>
                        <a:rPr lang="pt-PT" sz="700" dirty="0" err="1">
                          <a:effectLst/>
                        </a:rPr>
                        <a:t>AlreadyAnsweredException</a:t>
                      </a:r>
                      <a:r>
                        <a:rPr lang="pt-PT" sz="700" dirty="0">
                          <a:effectLst/>
                        </a:rPr>
                        <a:t>, </a:t>
                      </a:r>
                      <a:r>
                        <a:rPr lang="pt-PT" sz="700" dirty="0" err="1">
                          <a:effectLst/>
                        </a:rPr>
                        <a:t>QuestionExpiredException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extLst>
                  <a:ext uri="{0D108BD9-81ED-4DB2-BD59-A6C34878D82A}">
                    <a16:rowId xmlns:a16="http://schemas.microsoft.com/office/drawing/2014/main" val="3084391833"/>
                  </a:ext>
                </a:extLst>
              </a:tr>
              <a:tr h="6069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getMyResponses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token, startDate, endDate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List&lt;ResponseSummary&gt;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Lista de respostas submetidas (datas opcionais)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 dirty="0" err="1">
                          <a:effectLst/>
                        </a:rPr>
                        <a:t>InvalidTokenException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extLst>
                  <a:ext uri="{0D108BD9-81ED-4DB2-BD59-A6C34878D82A}">
                    <a16:rowId xmlns:a16="http://schemas.microsoft.com/office/drawing/2014/main" val="3510142098"/>
                  </a:ext>
                </a:extLst>
              </a:tr>
              <a:tr h="36172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 dirty="0" err="1">
                          <a:effectLst/>
                        </a:rPr>
                        <a:t>getResponseDetail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token, responseId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 dirty="0" err="1">
                          <a:effectLst/>
                        </a:rPr>
                        <a:t>ResponseDetail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>
                          <a:effectLst/>
                        </a:rPr>
                        <a:t>Detalhe de resposta específica</a:t>
                      </a:r>
                      <a:endParaRPr lang="pt-PT" sz="80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PT" sz="700" dirty="0" err="1">
                          <a:effectLst/>
                        </a:rPr>
                        <a:t>InvalidTokenException</a:t>
                      </a:r>
                      <a:r>
                        <a:rPr lang="pt-PT" sz="700" dirty="0">
                          <a:effectLst/>
                        </a:rPr>
                        <a:t>, </a:t>
                      </a:r>
                      <a:r>
                        <a:rPr lang="pt-PT" sz="700" dirty="0" err="1">
                          <a:effectLst/>
                        </a:rPr>
                        <a:t>ResponseNotFoundException</a:t>
                      </a:r>
                      <a:endParaRPr lang="pt-PT" sz="800" dirty="0">
                        <a:effectLst/>
                        <a:latin typeface="Aptos" panose="020B0004020202020204"/>
                        <a:ea typeface="Aptos" panose="020B0004020202020204"/>
                        <a:cs typeface="Times New Roman" panose="02020603050405020304" pitchFamily="18" charset="0"/>
                      </a:endParaRPr>
                    </a:p>
                  </a:txBody>
                  <a:tcPr marL="52312" marR="52312" marT="0" marB="0"/>
                </a:tc>
                <a:extLst>
                  <a:ext uri="{0D108BD9-81ED-4DB2-BD59-A6C34878D82A}">
                    <a16:rowId xmlns:a16="http://schemas.microsoft.com/office/drawing/2014/main" val="2288982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01427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9335-A6B8-4A6E-AD1F-034BC721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41D2BCCA-2DC8-5D12-4784-649B8CC5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Interface RMI - Métodos de Autenticação e Registo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0454F04-BA7E-EA06-F8CB-9DACAC80D506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1D693B-5C9A-1B04-60E3-FC9A310758D0}"/>
              </a:ext>
            </a:extLst>
          </p:cNvPr>
          <p:cNvSpPr txBox="1"/>
          <p:nvPr/>
        </p:nvSpPr>
        <p:spPr>
          <a:xfrm>
            <a:off x="365760" y="856919"/>
            <a:ext cx="8442360" cy="3486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register (email, </a:t>
            </a:r>
            <a:r>
              <a:rPr lang="en-US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studentNumber</a:t>
            </a:r>
            <a:r>
              <a:rPr lang="en-US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name, </a:t>
            </a:r>
            <a:r>
              <a:rPr lang="en-US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passwordHash</a:t>
            </a:r>
            <a:r>
              <a:rPr lang="en-US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PT" sz="1050" b="1" dirty="0">
              <a:solidFill>
                <a:srgbClr val="0F4761"/>
              </a:solidFill>
              <a:effectLst/>
              <a:latin typeface="Aptos" panose="020B0004020202020204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Propósito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Criar uma conta de estudante no sistema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Parâmetros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email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Endereço de email institucional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studentNumber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Número de estudante único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name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Nome completo do estudante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passwordHash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Hash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da password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Retorno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Objeto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Student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com os dados do estudante criado (sem password)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Exceções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ValidationException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Dados inválidos (email malformado, campos vazios)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EmailExistsException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Email já registado no sistema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StudentNumberExistsException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Número de estudante já existe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458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9335-A6B8-4A6E-AD1F-034BC721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41D2BCCA-2DC8-5D12-4784-649B8CC5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Interface RMI - Métodos de Autenticação e Registo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0454F04-BA7E-EA06-F8CB-9DACAC80D506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1D693B-5C9A-1B04-60E3-FC9A310758D0}"/>
              </a:ext>
            </a:extLst>
          </p:cNvPr>
          <p:cNvSpPr txBox="1"/>
          <p:nvPr/>
        </p:nvSpPr>
        <p:spPr>
          <a:xfrm>
            <a:off x="365760" y="856919"/>
            <a:ext cx="8442360" cy="265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authenticate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(email, </a:t>
            </a: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passwordHash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PT" sz="1050" b="1" dirty="0">
              <a:solidFill>
                <a:srgbClr val="0F4761"/>
              </a:solidFill>
              <a:effectLst/>
              <a:latin typeface="Aptos" panose="020B0004020202020204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Propósito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Autenticar estudante e obter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de acesso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Parâmetros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email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Email da conta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passwordHash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Hash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da password para validação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Retorno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Objeto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AuthResponse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contendo: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JWT para autenticação futura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student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Student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Dados do estudante autenticado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Exceções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InvalidCredentialsException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Email ou password incorretos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07562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9335-A6B8-4A6E-AD1F-034BC721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41D2BCCA-2DC8-5D12-4784-649B8CC5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Interface RMI - Métodos de Gestão de Perfil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0454F04-BA7E-EA06-F8CB-9DACAC80D506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1D693B-5C9A-1B04-60E3-FC9A310758D0}"/>
              </a:ext>
            </a:extLst>
          </p:cNvPr>
          <p:cNvSpPr txBox="1"/>
          <p:nvPr/>
        </p:nvSpPr>
        <p:spPr>
          <a:xfrm>
            <a:off x="365760" y="856919"/>
            <a:ext cx="8442360" cy="1832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getProfile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PT" sz="1050" b="1" dirty="0">
              <a:solidFill>
                <a:srgbClr val="0F4761"/>
              </a:solidFill>
              <a:effectLst/>
              <a:latin typeface="Aptos" panose="020B0004020202020204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Propósito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Obter dados atuais do perfil do estudante autenticado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Parâmetros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22860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JWT de autenticação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Retorno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Objeto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Student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com email, número de estudante e nome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050" b="1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Exceções</a:t>
            </a:r>
            <a:r>
              <a:rPr lang="en-US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en-US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InvalidTokenException</a:t>
            </a:r>
            <a:r>
              <a:rPr lang="en-US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Token </a:t>
            </a:r>
            <a:r>
              <a:rPr lang="en-US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inválido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2352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9335-A6B8-4A6E-AD1F-034BC721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41D2BCCA-2DC8-5D12-4784-649B8CC5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Interface RMI - Métodos de Gestão de Perfil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0454F04-BA7E-EA06-F8CB-9DACAC80D506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1D693B-5C9A-1B04-60E3-FC9A310758D0}"/>
              </a:ext>
            </a:extLst>
          </p:cNvPr>
          <p:cNvSpPr txBox="1"/>
          <p:nvPr/>
        </p:nvSpPr>
        <p:spPr>
          <a:xfrm>
            <a:off x="365760" y="856919"/>
            <a:ext cx="8442360" cy="346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updateProfile</a:t>
            </a:r>
            <a:r>
              <a:rPr lang="en-US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(token, name, </a:t>
            </a:r>
            <a:r>
              <a:rPr lang="en-US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passwordHash</a:t>
            </a:r>
            <a:r>
              <a:rPr lang="en-US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PT" sz="1050" b="1" dirty="0">
              <a:solidFill>
                <a:srgbClr val="0F4761"/>
              </a:solidFill>
              <a:latin typeface="Aptos" panose="020B0004020202020204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Propósito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Atualizar dados do perfil (nome e/ou password), email e número de estudante não podem ser alterados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 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Parâmetros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JWT de autenticação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name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opcional): Novo nome completo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passwordHash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opcional): Novo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hash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de password </a:t>
            </a: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email (</a:t>
            </a:r>
            <a:r>
              <a:rPr lang="pt-PT" sz="1050" dirty="0" err="1"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opcional): Novo email completo </a:t>
            </a: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studentNumber</a:t>
            </a:r>
            <a:r>
              <a:rPr lang="pt-PT" sz="1050" dirty="0"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opcional): Novo numero de estudante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Retorno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Objeto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Student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com os dados atualizados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Exceções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InvalidTokenException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inválido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ValidationException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Dados inválidos (nome vazio, password,</a:t>
            </a:r>
            <a:r>
              <a:rPr lang="pt-PT" sz="1050" dirty="0"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email, </a:t>
            </a:r>
            <a:r>
              <a:rPr lang="pt-PT" sz="1050" dirty="0" err="1"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studentNumber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04480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9335-A6B8-4A6E-AD1F-034BC721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41D2BCCA-2DC8-5D12-4784-649B8CC5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Interface RMI - Métodos de Interação com Perguntas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0454F04-BA7E-EA06-F8CB-9DACAC80D506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1D693B-5C9A-1B04-60E3-FC9A310758D0}"/>
              </a:ext>
            </a:extLst>
          </p:cNvPr>
          <p:cNvSpPr txBox="1"/>
          <p:nvPr/>
        </p:nvSpPr>
        <p:spPr>
          <a:xfrm>
            <a:off x="365760" y="856919"/>
            <a:ext cx="8442360" cy="42857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accessQuestionByCode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accessCode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PT" sz="1050" b="1" dirty="0">
              <a:solidFill>
                <a:srgbClr val="0F4761"/>
              </a:solidFill>
              <a:latin typeface="Aptos" panose="020B0004020202020204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Propósito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Obter pergunta completa através de código de acesso, não dá informação sobre qual é a opção correta 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Parâmetros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JWT de autenticação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accessCode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Código de acesso à pergunta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Retorno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Objeto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QuestionDetail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contendo: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questionId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int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Identificador da pergunta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statement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Enunciado da pergunta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startTime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(Date/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Timestamp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Início do período de disponibilidade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endTime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(Date/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Timestamp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Fim do período de disponibilidade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en-US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status (String): Estado </a:t>
            </a:r>
            <a:r>
              <a:rPr lang="en-US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atual</a:t>
            </a:r>
            <a:r>
              <a:rPr lang="en-US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("active", "pending", "expired")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marL="22860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options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List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&lt;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Option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&gt;): Lista de opções de resposta (cada uma com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optionId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e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optionText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Exceções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InvalidTokenException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inválido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InvalidCodeException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Código de acesso não existe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QuestionNotAvailableException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Pergunta fora do período de disponibilidade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122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9335-A6B8-4A6E-AD1F-034BC721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41D2BCCA-2DC8-5D12-4784-649B8CC5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Interface RMI - Métodos de Interação com Perguntas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0454F04-BA7E-EA06-F8CB-9DACAC80D506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1D693B-5C9A-1B04-60E3-FC9A310758D0}"/>
              </a:ext>
            </a:extLst>
          </p:cNvPr>
          <p:cNvSpPr txBox="1"/>
          <p:nvPr/>
        </p:nvSpPr>
        <p:spPr>
          <a:xfrm>
            <a:off x="365760" y="856919"/>
            <a:ext cx="8442360" cy="3485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pt-PT" sz="1050" b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submitAnswer (token, questionId, chosenOptionId)</a:t>
            </a:r>
            <a:endParaRPr lang="pt-PT" sz="1050" b="1">
              <a:solidFill>
                <a:srgbClr val="0F4761"/>
              </a:solidFill>
              <a:effectLst/>
              <a:latin typeface="Aptos" panose="020B0004020202020204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Propósito</a:t>
            </a:r>
            <a:r>
              <a:rPr lang="pt-PT" sz="105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Submeter resposta a uma pergunta</a:t>
            </a:r>
            <a:endParaRPr lang="pt-PT" sz="105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Parâmetros</a:t>
            </a:r>
            <a:r>
              <a:rPr lang="pt-PT" sz="105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endParaRPr lang="pt-PT" sz="105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 (String): Token JWT de autenticação</a:t>
            </a:r>
            <a:endParaRPr lang="pt-PT" sz="105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questionId (int): Identificador da pergunta</a:t>
            </a:r>
            <a:endParaRPr lang="pt-PT" sz="105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chosenOptionId (int): Identificador da opção escolhida</a:t>
            </a:r>
            <a:endParaRPr lang="pt-PT" sz="105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Retorno</a:t>
            </a:r>
            <a:r>
              <a:rPr lang="pt-PT" sz="105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Objeto SubmissionConfirmation contendo: </a:t>
            </a:r>
            <a:endParaRPr lang="pt-PT" sz="105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responseId (int): Identificador da resposta criada</a:t>
            </a:r>
            <a:endParaRPr lang="pt-PT" sz="105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submissionTime (Date/Timestamp): Momento da submissão</a:t>
            </a:r>
            <a:endParaRPr lang="pt-PT" sz="105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1050" b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Exceções</a:t>
            </a:r>
            <a:r>
              <a:rPr lang="pt-PT" sz="105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endParaRPr lang="pt-PT" sz="105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InvalidTokenException: Token inválido </a:t>
            </a:r>
            <a:endParaRPr lang="pt-PT" sz="105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AlreadyAnsweredException: Estudante já respondeu a esta pergunta</a:t>
            </a:r>
            <a:endParaRPr lang="pt-PT" sz="105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QuestionExpiredException: Período da pergunta já terminou</a:t>
            </a:r>
            <a:endParaRPr lang="pt-PT" sz="105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57228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9335-A6B8-4A6E-AD1F-034BC721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41D2BCCA-2DC8-5D12-4784-649B8CC5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Interface RMI - Métodos de Consulta de Histórico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0454F04-BA7E-EA06-F8CB-9DACAC80D506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1D693B-5C9A-1B04-60E3-FC9A310758D0}"/>
              </a:ext>
            </a:extLst>
          </p:cNvPr>
          <p:cNvSpPr txBox="1"/>
          <p:nvPr/>
        </p:nvSpPr>
        <p:spPr>
          <a:xfrm>
            <a:off x="365760" y="856919"/>
            <a:ext cx="8442360" cy="4104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getMyResponses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startDate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endDate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PT" sz="1050" b="1" dirty="0">
              <a:solidFill>
                <a:srgbClr val="0F4761"/>
              </a:solidFill>
              <a:effectLst/>
              <a:latin typeface="Aptos" panose="020B0004020202020204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70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Propósito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Obter lista de todas as respostas submetidas pelo estudante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70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Parâmetros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</a:t>
            </a: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JWT de autenticação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startDate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(Date, opcional): Data inicial para filtro 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endDate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(Date, opcional): Data final para filtro 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70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Retorno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Lista de objetos </a:t>
            </a: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ResponseSummary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, cada um contendo: 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responseId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int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Identificador da resposta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questionId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int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Identificador da pergunta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questionStatement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Enunciado da pergunta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options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List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&lt;</a:t>
            </a: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Option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&gt;): Todas as opções disponíveis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chosenOptionId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int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Opção escolhida pelo estudante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correctOptionId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int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, condicional): Opção correta (apenas se período expirou)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marL="449580">
              <a:lnSpc>
                <a:spcPct val="107000"/>
              </a:lnSpc>
              <a:spcAft>
                <a:spcPts val="800"/>
              </a:spcAft>
            </a:pP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isCorrect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boolean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, condicional): Indicação se acertou (apenas se período expirou)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submissionTime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(Date/</a:t>
            </a: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Timestamp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Momento da submissão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questionEndTime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(Date/</a:t>
            </a: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Timestamp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Fim do período da pergunta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70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Exceções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228600">
              <a:lnSpc>
                <a:spcPct val="107000"/>
              </a:lnSpc>
              <a:spcAft>
                <a:spcPts val="800"/>
              </a:spcAft>
            </a:pP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InvalidTokenException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r>
              <a:rPr lang="pt-PT" sz="7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inválido ou expirada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228600">
              <a:lnSpc>
                <a:spcPct val="107000"/>
              </a:lnSpc>
              <a:spcAft>
                <a:spcPts val="800"/>
              </a:spcAft>
            </a:pPr>
            <a:r>
              <a:rPr lang="pt-PT" sz="7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Informação de correção só é revelada após expiração do período da pergunta</a:t>
            </a:r>
            <a:endParaRPr lang="pt-PT" sz="7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7426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9335-A6B8-4A6E-AD1F-034BC721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41D2BCCA-2DC8-5D12-4784-649B8CC5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Interface RMI - Métodos de Gestão de Perfil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0454F04-BA7E-EA06-F8CB-9DACAC80D506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1D693B-5C9A-1B04-60E3-FC9A310758D0}"/>
              </a:ext>
            </a:extLst>
          </p:cNvPr>
          <p:cNvSpPr txBox="1"/>
          <p:nvPr/>
        </p:nvSpPr>
        <p:spPr>
          <a:xfrm>
            <a:off x="365760" y="856919"/>
            <a:ext cx="8442360" cy="2658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getResponseDetail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responseId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PT" sz="1050" b="1" dirty="0">
              <a:solidFill>
                <a:srgbClr val="0F4761"/>
              </a:solidFill>
              <a:effectLst/>
              <a:latin typeface="Aptos" panose="020B0004020202020204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Propósito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Obter detalhes completos de uma resposta específica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latin typeface="Arial" panose="020B0604020202020204" pitchFamily="34" charset="0"/>
                <a:cs typeface="Times New Roman" panose="02020603050405020304" pitchFamily="18" charset="0"/>
              </a:rPr>
              <a:t>Parâmetros:</a:t>
            </a:r>
            <a:r>
              <a:rPr lang="pt-PT" sz="105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latin typeface="Arial" panose="020B0604020202020204" pitchFamily="34" charset="0"/>
                <a:cs typeface="Times New Roman" panose="02020603050405020304" pitchFamily="18" charset="0"/>
              </a:rPr>
              <a:t>token</a:t>
            </a:r>
            <a:r>
              <a:rPr lang="pt-PT" sz="1050" dirty="0">
                <a:latin typeface="Arial" panose="020B0604020202020204" pitchFamily="34" charset="0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latin typeface="Arial" panose="020B0604020202020204" pitchFamily="34" charset="0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latin typeface="Arial" panose="020B0604020202020204" pitchFamily="34" charset="0"/>
                <a:cs typeface="Times New Roman" panose="02020603050405020304" pitchFamily="18" charset="0"/>
              </a:rPr>
              <a:t>): </a:t>
            </a:r>
            <a:r>
              <a:rPr lang="pt-PT" sz="1050" dirty="0" err="1">
                <a:latin typeface="Arial" panose="020B0604020202020204" pitchFamily="34" charset="0"/>
                <a:cs typeface="Times New Roman" panose="02020603050405020304" pitchFamily="18" charset="0"/>
              </a:rPr>
              <a:t>Token</a:t>
            </a:r>
            <a:r>
              <a:rPr lang="pt-PT" sz="1050" dirty="0">
                <a:latin typeface="Arial" panose="020B0604020202020204" pitchFamily="34" charset="0"/>
                <a:cs typeface="Times New Roman" panose="02020603050405020304" pitchFamily="18" charset="0"/>
              </a:rPr>
              <a:t> JWT de autenticação</a:t>
            </a: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latin typeface="Arial" panose="020B0604020202020204" pitchFamily="34" charset="0"/>
                <a:cs typeface="Times New Roman" panose="02020603050405020304" pitchFamily="18" charset="0"/>
              </a:rPr>
              <a:t>responseId</a:t>
            </a:r>
            <a:r>
              <a:rPr lang="pt-PT" sz="1050" dirty="0">
                <a:latin typeface="Arial" panose="020B0604020202020204" pitchFamily="34" charset="0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latin typeface="Arial" panose="020B0604020202020204" pitchFamily="34" charset="0"/>
                <a:cs typeface="Times New Roman" panose="02020603050405020304" pitchFamily="18" charset="0"/>
              </a:rPr>
              <a:t>int</a:t>
            </a:r>
            <a:r>
              <a:rPr lang="pt-PT" sz="1050" dirty="0">
                <a:latin typeface="Arial" panose="020B0604020202020204" pitchFamily="34" charset="0"/>
                <a:cs typeface="Times New Roman" panose="02020603050405020304" pitchFamily="18" charset="0"/>
              </a:rPr>
              <a:t>): Identificador da resposta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latin typeface="Arial" panose="020B0604020202020204" pitchFamily="34" charset="0"/>
                <a:cs typeface="Times New Roman" panose="02020603050405020304" pitchFamily="18" charset="0"/>
              </a:rPr>
              <a:t>Retorno:</a:t>
            </a:r>
            <a:r>
              <a:rPr lang="pt-PT" sz="105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</a:t>
            </a:r>
            <a:r>
              <a:rPr lang="pt-PT" sz="1050" dirty="0">
                <a:latin typeface="Arial" panose="020B0604020202020204" pitchFamily="34" charset="0"/>
                <a:cs typeface="Times New Roman" panose="02020603050405020304" pitchFamily="18" charset="0"/>
              </a:rPr>
              <a:t>Objeto </a:t>
            </a:r>
            <a:r>
              <a:rPr lang="pt-PT" sz="1050" dirty="0" err="1">
                <a:latin typeface="Arial" panose="020B0604020202020204" pitchFamily="34" charset="0"/>
                <a:cs typeface="Times New Roman" panose="02020603050405020304" pitchFamily="18" charset="0"/>
              </a:rPr>
              <a:t>ResponseDetail</a:t>
            </a:r>
            <a:r>
              <a:rPr lang="pt-PT" sz="1050" dirty="0">
                <a:latin typeface="Arial" panose="020B0604020202020204" pitchFamily="34" charset="0"/>
                <a:cs typeface="Times New Roman" panose="02020603050405020304" pitchFamily="18" charset="0"/>
              </a:rPr>
              <a:t> contendo todos os campos de </a:t>
            </a:r>
            <a:r>
              <a:rPr lang="pt-PT" sz="1050" dirty="0" err="1">
                <a:latin typeface="Arial" panose="020B0604020202020204" pitchFamily="34" charset="0"/>
                <a:cs typeface="Times New Roman" panose="02020603050405020304" pitchFamily="18" charset="0"/>
              </a:rPr>
              <a:t>ResponseSummary</a:t>
            </a:r>
            <a:r>
              <a:rPr lang="pt-PT" sz="1050" dirty="0">
                <a:latin typeface="Arial" panose="020B0604020202020204" pitchFamily="34" charset="0"/>
                <a:cs typeface="Times New Roman" panose="02020603050405020304" pitchFamily="18" charset="0"/>
              </a:rPr>
              <a:t> mais: </a:t>
            </a: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latin typeface="Arial" panose="020B0604020202020204" pitchFamily="34" charset="0"/>
                <a:cs typeface="Times New Roman" panose="02020603050405020304" pitchFamily="18" charset="0"/>
              </a:rPr>
              <a:t>questionStartTime</a:t>
            </a:r>
            <a:r>
              <a:rPr lang="pt-PT" sz="1050" dirty="0">
                <a:latin typeface="Arial" panose="020B0604020202020204" pitchFamily="34" charset="0"/>
                <a:cs typeface="Times New Roman" panose="02020603050405020304" pitchFamily="18" charset="0"/>
              </a:rPr>
              <a:t> (Date/</a:t>
            </a:r>
            <a:r>
              <a:rPr lang="pt-PT" sz="1050" dirty="0" err="1">
                <a:latin typeface="Arial" panose="020B0604020202020204" pitchFamily="34" charset="0"/>
                <a:cs typeface="Times New Roman" panose="02020603050405020304" pitchFamily="18" charset="0"/>
              </a:rPr>
              <a:t>Timestamp</a:t>
            </a:r>
            <a:r>
              <a:rPr lang="pt-PT" sz="1050" dirty="0">
                <a:latin typeface="Arial" panose="020B0604020202020204" pitchFamily="34" charset="0"/>
                <a:cs typeface="Times New Roman" panose="02020603050405020304" pitchFamily="18" charset="0"/>
              </a:rPr>
              <a:t>): Início do período da pergunta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latin typeface="Arial" panose="020B0604020202020204" pitchFamily="34" charset="0"/>
                <a:cs typeface="Times New Roman" panose="02020603050405020304" pitchFamily="18" charset="0"/>
              </a:rPr>
              <a:t>Exceções: </a:t>
            </a: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latin typeface="Arial" panose="020B0604020202020204" pitchFamily="34" charset="0"/>
                <a:cs typeface="Times New Roman" panose="02020603050405020304" pitchFamily="18" charset="0"/>
              </a:rPr>
              <a:t>InvalidTokenException</a:t>
            </a:r>
            <a:r>
              <a:rPr lang="pt-PT" sz="1050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pt-PT" sz="1050" dirty="0" err="1">
                <a:latin typeface="Arial" panose="020B0604020202020204" pitchFamily="34" charset="0"/>
                <a:cs typeface="Times New Roman" panose="02020603050405020304" pitchFamily="18" charset="0"/>
              </a:rPr>
              <a:t>Token</a:t>
            </a:r>
            <a:r>
              <a:rPr lang="pt-PT" sz="1050" dirty="0">
                <a:latin typeface="Arial" panose="020B0604020202020204" pitchFamily="34" charset="0"/>
                <a:cs typeface="Times New Roman" panose="02020603050405020304" pitchFamily="18" charset="0"/>
              </a:rPr>
              <a:t> inválido ou expirada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dirty="0">
                <a:latin typeface="Arial" panose="020B0604020202020204" pitchFamily="34" charset="0"/>
                <a:cs typeface="Times New Roman" panose="02020603050405020304" pitchFamily="18" charset="0"/>
              </a:rPr>
              <a:t>            </a:t>
            </a:r>
            <a:r>
              <a:rPr lang="pt-PT" sz="1050" dirty="0" err="1">
                <a:latin typeface="Arial" panose="020B0604020202020204" pitchFamily="34" charset="0"/>
                <a:cs typeface="Times New Roman" panose="02020603050405020304" pitchFamily="18" charset="0"/>
              </a:rPr>
              <a:t>ResponseNotFoundException</a:t>
            </a:r>
            <a:r>
              <a:rPr lang="pt-PT" sz="1050" dirty="0">
                <a:latin typeface="Arial" panose="020B0604020202020204" pitchFamily="34" charset="0"/>
                <a:cs typeface="Times New Roman" panose="02020603050405020304" pitchFamily="18" charset="0"/>
              </a:rPr>
              <a:t>: Resposta não encontrada ou não pertence ao estudante</a:t>
            </a:r>
          </a:p>
        </p:txBody>
      </p:sp>
    </p:spTree>
    <p:extLst>
      <p:ext uri="{BB962C8B-B14F-4D97-AF65-F5344CB8AC3E}">
        <p14:creationId xmlns:p14="http://schemas.microsoft.com/office/powerpoint/2010/main" val="18773874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9335-A6B8-4A6E-AD1F-034BC721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41D2BCCA-2DC8-5D12-4784-649B8CC5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Interface RMI - Métodos de Gestão de Perfil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0454F04-BA7E-EA06-F8CB-9DACAC80D506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1D693B-5C9A-1B04-60E3-FC9A310758D0}"/>
              </a:ext>
            </a:extLst>
          </p:cNvPr>
          <p:cNvSpPr txBox="1"/>
          <p:nvPr/>
        </p:nvSpPr>
        <p:spPr>
          <a:xfrm>
            <a:off x="365760" y="856919"/>
            <a:ext cx="8442360" cy="3485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Bef>
                <a:spcPts val="400"/>
              </a:spcBef>
              <a:spcAft>
                <a:spcPts val="200"/>
              </a:spcAft>
            </a:pP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submitAnswer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questionId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sz="1050" b="1" dirty="0" err="1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chosenOptionId</a:t>
            </a:r>
            <a:r>
              <a:rPr lang="pt-PT" sz="1050" b="1" dirty="0">
                <a:solidFill>
                  <a:srgbClr val="215E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PT" sz="1050" b="1" dirty="0">
              <a:solidFill>
                <a:srgbClr val="0F4761"/>
              </a:solidFill>
              <a:effectLst/>
              <a:latin typeface="Aptos" panose="020B0004020202020204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Propósito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Submeter resposta a uma pergunta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Parâmetros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String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JWT de autenticação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questionId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int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Identificador da pergunta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chosenOptionId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int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Identificador da opção escolhida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Retorno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Objeto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SubmissionConfirmation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contendo: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responseId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int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Identificador da resposta criada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submissionTime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(Date/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Timestamp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): Momento da submissão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PT" sz="1050" b="1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Exceções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InvalidTokenException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inválido 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AlreadyAnsweredException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Estudante já respondeu a esta pergunta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r>
              <a:rPr lang="pt-PT" sz="105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QuestionExpiredException</a:t>
            </a:r>
            <a:r>
              <a:rPr lang="pt-PT" sz="105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Período da pergunta já terminou</a:t>
            </a:r>
            <a:endParaRPr lang="pt-PT" sz="105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0161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9335-A6B8-4A6E-AD1F-034BC721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41D2BCCA-2DC8-5D12-4784-649B8CC5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Interface RMI - </a:t>
            </a:r>
            <a:r>
              <a:rPr lang="pt-PT" sz="2400" dirty="0" err="1">
                <a:solidFill>
                  <a:schemeClr val="dk1"/>
                </a:solidFill>
                <a:latin typeface="Figtree"/>
                <a:ea typeface="Figtree"/>
              </a:rPr>
              <a:t>DTOs</a:t>
            </a: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 (Data </a:t>
            </a:r>
            <a:r>
              <a:rPr lang="pt-PT" sz="2400" dirty="0" err="1">
                <a:solidFill>
                  <a:schemeClr val="dk1"/>
                </a:solidFill>
                <a:latin typeface="Figtree"/>
                <a:ea typeface="Figtree"/>
              </a:rPr>
              <a:t>Transfer</a:t>
            </a: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 </a:t>
            </a:r>
            <a:r>
              <a:rPr lang="pt-PT" sz="2400" dirty="0" err="1">
                <a:solidFill>
                  <a:schemeClr val="dk1"/>
                </a:solidFill>
                <a:latin typeface="Figtree"/>
                <a:ea typeface="Figtree"/>
              </a:rPr>
              <a:t>Object</a:t>
            </a: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)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0454F04-BA7E-EA06-F8CB-9DACAC80D506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1D693B-5C9A-1B04-60E3-FC9A310758D0}"/>
              </a:ext>
            </a:extLst>
          </p:cNvPr>
          <p:cNvSpPr txBox="1"/>
          <p:nvPr/>
        </p:nvSpPr>
        <p:spPr>
          <a:xfrm>
            <a:off x="350820" y="776471"/>
            <a:ext cx="8442360" cy="4367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Para simplificar a comunicação remota e serialização, são utilizados objetos de transferência de dados:</a:t>
            </a:r>
            <a:endParaRPr lang="pt-PT" sz="9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900" b="1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AuthResponse</a:t>
            </a:r>
            <a:r>
              <a:rPr lang="en-US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r>
              <a:rPr lang="en-US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Contém</a:t>
            </a:r>
            <a:r>
              <a:rPr lang="en-US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token (String), </a:t>
            </a:r>
            <a:r>
              <a:rPr lang="en-US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expiresIn</a:t>
            </a:r>
            <a:r>
              <a:rPr lang="en-US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(long), e student (Student serializable).</a:t>
            </a:r>
            <a:endParaRPr lang="pt-PT" sz="9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900" b="1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QuestionDetail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Contém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questionId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,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statement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,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startTime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,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endTime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, status e lista de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options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(cada uma com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optionId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e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optionText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). Não inclui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correctOptionId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.</a:t>
            </a:r>
            <a:endParaRPr lang="pt-PT" sz="9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900" b="1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SubmissionConfirmation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Contém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responseId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e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submissionTime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.</a:t>
            </a:r>
            <a:endParaRPr lang="pt-PT" sz="9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900" b="1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ResponseSummary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Contém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responseId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,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questionId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,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questionStatement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, lista de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options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,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chosenOptionId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,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correctOptionId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(se período expirada),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isCorrect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(se período expirada),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submissionTime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e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questionEndTime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.</a:t>
            </a:r>
            <a:endParaRPr lang="pt-PT" sz="9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900" b="1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ResponseDetail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Versão estendida de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ResponseSummary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com informação adicional como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questionStartTime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.</a:t>
            </a:r>
            <a:endParaRPr lang="pt-PT" sz="9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Todos os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DTOs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implementam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Serializable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para permitir comunicação por RMI.</a:t>
            </a:r>
            <a:endParaRPr lang="pt-PT" sz="9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</a:pPr>
            <a:r>
              <a:rPr lang="pt-PT" sz="1050" b="1" dirty="0">
                <a:solidFill>
                  <a:srgbClr val="0F476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Exceções</a:t>
            </a:r>
            <a:endParaRPr lang="pt-PT" sz="1050" b="1" dirty="0">
              <a:solidFill>
                <a:srgbClr val="0F4761"/>
              </a:solidFill>
              <a:effectLst/>
              <a:latin typeface="Aptos" panose="020B0004020202020204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900" b="1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InvalidTokenException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Token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 JWT inválido</a:t>
            </a:r>
            <a:endParaRPr lang="pt-PT" sz="9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900" b="1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InvalidCredentialsException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Email ou password incorretos</a:t>
            </a:r>
            <a:endParaRPr lang="pt-PT" sz="9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900" b="1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InvalidCodeException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Código de acesso à pergunta não existe</a:t>
            </a:r>
            <a:endParaRPr lang="pt-PT" sz="9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900" b="1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QuestionNotAvailableException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Pergunta fora do período de disponibilidade</a:t>
            </a:r>
            <a:endParaRPr lang="pt-PT" sz="9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900" b="1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QuestionExpiredException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Período da pergunta já terminou</a:t>
            </a:r>
            <a:endParaRPr lang="pt-PT" sz="9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900" b="1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AlreadyAnsweredException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Estudante já submeteu resposta para determinada pergunta</a:t>
            </a:r>
            <a:endParaRPr lang="pt-PT" sz="9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900" b="1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ResponseNotFoundException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Resposta não encontrada </a:t>
            </a:r>
            <a:endParaRPr lang="pt-PT" sz="9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pt-PT" sz="900" b="1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ValidationException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Dados de entrada inválidos (</a:t>
            </a:r>
            <a:r>
              <a:rPr lang="pt-PT" sz="9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ex</a:t>
            </a:r>
            <a:r>
              <a:rPr lang="pt-PT" sz="9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: email incorreto, campos obrigatórios vazios)</a:t>
            </a:r>
            <a:endParaRPr lang="pt-PT" sz="9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1144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A592B-A404-23BB-8D52-3A836E9F4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>
            <a:extLst>
              <a:ext uri="{FF2B5EF4-FFF2-40B4-BE49-F238E27FC236}">
                <a16:creationId xmlns:a16="http://schemas.microsoft.com/office/drawing/2014/main" id="{356522DA-535D-412B-6E2F-CF933EFD9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239" y="3067200"/>
            <a:ext cx="4252073" cy="1875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3500" b="0" u="none" strike="noStrike" noProof="0" dirty="0">
                <a:solidFill>
                  <a:schemeClr val="dk1"/>
                </a:solidFill>
                <a:effectLst/>
                <a:uFillTx/>
                <a:latin typeface="Figtree"/>
                <a:ea typeface="Figtree"/>
              </a:rPr>
              <a:t>Manual de Utilizador</a:t>
            </a:r>
            <a:endParaRPr lang="pt-PT" sz="3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>
            <a:extLst>
              <a:ext uri="{FF2B5EF4-FFF2-40B4-BE49-F238E27FC236}">
                <a16:creationId xmlns:a16="http://schemas.microsoft.com/office/drawing/2014/main" id="{724D2665-A9FE-FFC6-CAA1-56D9B177A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280" y="1609560"/>
            <a:ext cx="1266480" cy="126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6000" b="0" u="none" strike="noStrike" noProof="0" dirty="0">
                <a:solidFill>
                  <a:schemeClr val="dk1"/>
                </a:solidFill>
                <a:effectLst/>
                <a:uFillTx/>
                <a:latin typeface="Calibri"/>
                <a:ea typeface="Figtree"/>
              </a:rPr>
              <a:t>06</a:t>
            </a:r>
            <a:endParaRPr lang="pt-PT" sz="6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Google Shape;220;p32">
            <a:extLst>
              <a:ext uri="{FF2B5EF4-FFF2-40B4-BE49-F238E27FC236}">
                <a16:creationId xmlns:a16="http://schemas.microsoft.com/office/drawing/2014/main" id="{BA6C59B8-DF41-C0F4-3F6F-0A95CAC693A9}"/>
              </a:ext>
            </a:extLst>
          </p:cNvPr>
          <p:cNvCxnSpPr/>
          <p:nvPr/>
        </p:nvCxnSpPr>
        <p:spPr>
          <a:xfrm>
            <a:off x="-76320" y="2943000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131007191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9335-A6B8-4A6E-AD1F-034BC721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41D2BCCA-2DC8-5D12-4784-649B8CC5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Manual de Utilizador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0454F04-BA7E-EA06-F8CB-9DACAC80D506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1D693B-5C9A-1B04-60E3-FC9A310758D0}"/>
              </a:ext>
            </a:extLst>
          </p:cNvPr>
          <p:cNvSpPr txBox="1"/>
          <p:nvPr/>
        </p:nvSpPr>
        <p:spPr>
          <a:xfrm>
            <a:off x="350820" y="776471"/>
            <a:ext cx="8442360" cy="872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2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O software apresentado tem com funcionalidade principal a criação de perguntas e respostas das mesma por parte de um estudante. O professor tem um código disponibilizado pelos desenvolvedores do sistema para registar-se e os alunos devem se registar com o código de aluno, para alem do email e password. Ambos os utilizadores podem editar os seus dados bem como a sua password. </a:t>
            </a:r>
            <a:endParaRPr lang="pt-PT" sz="12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AE51B66-9A94-47B8-8A3E-6E29F5046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898" y="2315510"/>
            <a:ext cx="2083560" cy="214980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98F3C35-EB07-4AC8-BC53-1E8B8D9F6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310296"/>
            <a:ext cx="2113412" cy="218713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5C56EDF-A0F6-4F76-B7D6-718726A9A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20" y="2313773"/>
            <a:ext cx="1712398" cy="2153277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2427016A-86F9-4D3A-8780-01B951CDE2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7954" y="2310296"/>
            <a:ext cx="1979386" cy="2187135"/>
          </a:xfrm>
          <a:prstGeom prst="rect">
            <a:avLst/>
          </a:prstGeom>
        </p:spPr>
      </p:pic>
      <p:sp>
        <p:nvSpPr>
          <p:cNvPr id="15" name="CaixaDeTexto 14">
            <a:extLst>
              <a:ext uri="{FF2B5EF4-FFF2-40B4-BE49-F238E27FC236}">
                <a16:creationId xmlns:a16="http://schemas.microsoft.com/office/drawing/2014/main" id="{C429E8AC-A85D-419B-8466-3F85AF7CEB13}"/>
              </a:ext>
            </a:extLst>
          </p:cNvPr>
          <p:cNvSpPr txBox="1"/>
          <p:nvPr/>
        </p:nvSpPr>
        <p:spPr>
          <a:xfrm>
            <a:off x="535200" y="4464952"/>
            <a:ext cx="1343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Login no sistema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43DA9478-A67C-457C-ACE0-B46EBFE6C8F0}"/>
              </a:ext>
            </a:extLst>
          </p:cNvPr>
          <p:cNvSpPr txBox="1"/>
          <p:nvPr/>
        </p:nvSpPr>
        <p:spPr>
          <a:xfrm>
            <a:off x="5145840" y="4497431"/>
            <a:ext cx="1120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Registo aluno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6AE0673-306A-41CC-8A46-1FBE2E4533AE}"/>
              </a:ext>
            </a:extLst>
          </p:cNvPr>
          <p:cNvSpPr txBox="1"/>
          <p:nvPr/>
        </p:nvSpPr>
        <p:spPr>
          <a:xfrm>
            <a:off x="2611244" y="4464951"/>
            <a:ext cx="13869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Registo professor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BB0E281-EC67-45C9-BE70-5958CB529F25}"/>
              </a:ext>
            </a:extLst>
          </p:cNvPr>
          <p:cNvSpPr txBox="1"/>
          <p:nvPr/>
        </p:nvSpPr>
        <p:spPr>
          <a:xfrm>
            <a:off x="7417387" y="4497431"/>
            <a:ext cx="9605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Editar perfil</a:t>
            </a:r>
          </a:p>
        </p:txBody>
      </p:sp>
    </p:spTree>
    <p:extLst>
      <p:ext uri="{BB962C8B-B14F-4D97-AF65-F5344CB8AC3E}">
        <p14:creationId xmlns:p14="http://schemas.microsoft.com/office/powerpoint/2010/main" val="21480208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9335-A6B8-4A6E-AD1F-034BC721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41D2BCCA-2DC8-5D12-4784-649B8CC5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Manual de Utilizador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0454F04-BA7E-EA06-F8CB-9DACAC80D506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1D693B-5C9A-1B04-60E3-FC9A310758D0}"/>
              </a:ext>
            </a:extLst>
          </p:cNvPr>
          <p:cNvSpPr txBox="1"/>
          <p:nvPr/>
        </p:nvSpPr>
        <p:spPr>
          <a:xfrm>
            <a:off x="350820" y="776471"/>
            <a:ext cx="8442360" cy="1268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2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O professor tem acesso a todas as questões criadas por ele. Pode editar e eliminar questões que ainda não contenham qualquer resposta associada. O professor pode consultar as respostas associadas a cada resposta e exportar os dados para um ficheiro </a:t>
            </a:r>
            <a:r>
              <a:rPr lang="pt-PT" sz="1200" dirty="0" err="1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csv</a:t>
            </a:r>
            <a:r>
              <a:rPr lang="pt-PT" sz="12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. Existem a possibilidade de filtrar as questões por ativas, um estudante consegue responder, expiradas, a data de resposta já foi ultrapassada, e futuras para verificar as questões a serem programadas. </a:t>
            </a:r>
            <a:r>
              <a:rPr lang="pt-PT" sz="1200" dirty="0"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É apresentado um código de acesso que identifica a pergunta no sistema, este código deve ser dados aos estudante para que estes consigam responder. </a:t>
            </a:r>
            <a:endParaRPr lang="pt-PT" sz="12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CD6020D-7809-48E6-95CA-44D482428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01" y="2331677"/>
            <a:ext cx="3654952" cy="237251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C17C7DF-7DAE-4E1C-83CA-13F843469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220" y="2331677"/>
            <a:ext cx="3026475" cy="237251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1D8E830-104C-457B-B447-875E4F2F8D04}"/>
              </a:ext>
            </a:extLst>
          </p:cNvPr>
          <p:cNvSpPr txBox="1"/>
          <p:nvPr/>
        </p:nvSpPr>
        <p:spPr>
          <a:xfrm>
            <a:off x="1734703" y="4694168"/>
            <a:ext cx="16161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 err="1"/>
              <a:t>Dashboard</a:t>
            </a:r>
            <a:r>
              <a:rPr lang="pt-PT" sz="1200" dirty="0"/>
              <a:t> professor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B4786CB-3F32-4A12-8210-E84F3FCB707A}"/>
              </a:ext>
            </a:extLst>
          </p:cNvPr>
          <p:cNvSpPr txBox="1"/>
          <p:nvPr/>
        </p:nvSpPr>
        <p:spPr>
          <a:xfrm>
            <a:off x="6215447" y="4690512"/>
            <a:ext cx="15220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Vista das respostas</a:t>
            </a:r>
          </a:p>
        </p:txBody>
      </p:sp>
    </p:spTree>
    <p:extLst>
      <p:ext uri="{BB962C8B-B14F-4D97-AF65-F5344CB8AC3E}">
        <p14:creationId xmlns:p14="http://schemas.microsoft.com/office/powerpoint/2010/main" val="43619013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9335-A6B8-4A6E-AD1F-034BC721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>
            <a:extLst>
              <a:ext uri="{FF2B5EF4-FFF2-40B4-BE49-F238E27FC236}">
                <a16:creationId xmlns:a16="http://schemas.microsoft.com/office/drawing/2014/main" id="{41D2BCCA-2DC8-5D12-4784-649B8CC5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680" y="175988"/>
            <a:ext cx="8686440" cy="45030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PT" sz="2400" dirty="0">
                <a:solidFill>
                  <a:schemeClr val="dk1"/>
                </a:solidFill>
                <a:latin typeface="Figtree"/>
                <a:ea typeface="Figtree"/>
              </a:rPr>
              <a:t>Manual de Utilizador</a:t>
            </a:r>
            <a:endParaRPr lang="pt-PT" sz="2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Google Shape;213;p31">
            <a:extLst>
              <a:ext uri="{FF2B5EF4-FFF2-40B4-BE49-F238E27FC236}">
                <a16:creationId xmlns:a16="http://schemas.microsoft.com/office/drawing/2014/main" id="{20454F04-BA7E-EA06-F8CB-9DACAC80D506}"/>
              </a:ext>
            </a:extLst>
          </p:cNvPr>
          <p:cNvCxnSpPr/>
          <p:nvPr/>
        </p:nvCxnSpPr>
        <p:spPr>
          <a:xfrm>
            <a:off x="0" y="678189"/>
            <a:ext cx="9302040" cy="360"/>
          </a:xfrm>
          <a:prstGeom prst="straightConnector1">
            <a:avLst/>
          </a:prstGeom>
          <a:ln w="9525">
            <a:solidFill>
              <a:srgbClr val="083C77"/>
            </a:solidFill>
            <a:round/>
          </a:ln>
        </p:spPr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1D693B-5C9A-1B04-60E3-FC9A310758D0}"/>
              </a:ext>
            </a:extLst>
          </p:cNvPr>
          <p:cNvSpPr txBox="1"/>
          <p:nvPr/>
        </p:nvSpPr>
        <p:spPr>
          <a:xfrm>
            <a:off x="350820" y="776471"/>
            <a:ext cx="8442360" cy="675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200" dirty="0">
                <a:effectLst/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O aluno após efetuar o login utilizando o código que o professor fornecer e tem acesso a questão durante o tempo ativo da questão</a:t>
            </a:r>
            <a:r>
              <a:rPr lang="pt-PT" sz="1200" dirty="0">
                <a:latin typeface="Arial" panose="020B0604020202020204" pitchFamily="34" charset="0"/>
                <a:ea typeface="Aptos" panose="020B0004020202020204"/>
                <a:cs typeface="Times New Roman" panose="02020603050405020304" pitchFamily="18" charset="0"/>
              </a:rPr>
              <a:t>. Quando uma questão passa para o estado de expirada o aluno consegue verificar se a sua resposta foi correta ou incorreta  </a:t>
            </a:r>
            <a:endParaRPr lang="pt-PT" sz="1200" dirty="0">
              <a:effectLst/>
              <a:latin typeface="Aptos" panose="020B0004020202020204"/>
              <a:ea typeface="Aptos" panose="020B0004020202020204"/>
              <a:cs typeface="Times New Roman" panose="02020603050405020304" pitchFamily="18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E4F14F2-3B4A-4476-827C-41E35BF1D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022" y="1924562"/>
            <a:ext cx="2869908" cy="204438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9ABED96-5E24-4952-B37F-C4C1F223BE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568"/>
          <a:stretch/>
        </p:blipFill>
        <p:spPr>
          <a:xfrm>
            <a:off x="6201623" y="1924562"/>
            <a:ext cx="2869908" cy="2053255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6AA5382-39D2-43F0-A5E0-149208049758}"/>
              </a:ext>
            </a:extLst>
          </p:cNvPr>
          <p:cNvSpPr txBox="1"/>
          <p:nvPr/>
        </p:nvSpPr>
        <p:spPr>
          <a:xfrm>
            <a:off x="4001895" y="3999689"/>
            <a:ext cx="13841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Vista da pergunta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FDCD7AF-BD88-4885-92E3-09DDA25EBD10}"/>
              </a:ext>
            </a:extLst>
          </p:cNvPr>
          <p:cNvSpPr txBox="1"/>
          <p:nvPr/>
        </p:nvSpPr>
        <p:spPr>
          <a:xfrm>
            <a:off x="6961552" y="3999689"/>
            <a:ext cx="1350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 err="1"/>
              <a:t>Dashboard</a:t>
            </a:r>
            <a:r>
              <a:rPr lang="pt-PT" sz="1200" dirty="0"/>
              <a:t> aluno</a:t>
            </a: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EDE7096-0960-42B2-A998-0C2B52C36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680" y="1924563"/>
            <a:ext cx="3064650" cy="2044384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85A06469-2A21-484F-A2F4-87726A5AA02B}"/>
              </a:ext>
            </a:extLst>
          </p:cNvPr>
          <p:cNvSpPr txBox="1"/>
          <p:nvPr/>
        </p:nvSpPr>
        <p:spPr>
          <a:xfrm>
            <a:off x="564604" y="3968947"/>
            <a:ext cx="21788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200" dirty="0"/>
              <a:t>Página de acesso á pergunta</a:t>
            </a:r>
          </a:p>
        </p:txBody>
      </p:sp>
    </p:spTree>
    <p:extLst>
      <p:ext uri="{BB962C8B-B14F-4D97-AF65-F5344CB8AC3E}">
        <p14:creationId xmlns:p14="http://schemas.microsoft.com/office/powerpoint/2010/main" val="1960849603"/>
      </p:ext>
    </p:extLst>
  </p:cSld>
  <p:clrMapOvr>
    <a:masterClrMapping/>
  </p:clrMapOvr>
</p:sld>
</file>

<file path=ppt/theme/theme1.xml><?xml version="1.0" encoding="utf-8"?>
<a:theme xmlns:a="http://schemas.openxmlformats.org/drawingml/2006/main" name="Blue Gradient by Slidesgo">
  <a:themeElements>
    <a:clrScheme name="Simple Light">
      <a:dk1>
        <a:srgbClr val="083C77"/>
      </a:dk1>
      <a:lt1>
        <a:srgbClr val="EBFCFF"/>
      </a:lt1>
      <a:dk2>
        <a:srgbClr val="083C77"/>
      </a:dk2>
      <a:lt2>
        <a:srgbClr val="9CE3E9"/>
      </a:lt2>
      <a:accent1>
        <a:srgbClr val="93C4E0"/>
      </a:accent1>
      <a:accent2>
        <a:srgbClr val="829EE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83C7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7B8C21C-2B5B-4309-94F6-FDFE8D8B059F}">
  <we:reference id="wa200005566" version="3.0.0.2" store="pt-PT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3644</TotalTime>
  <Words>9288</Words>
  <Application>Microsoft Office PowerPoint</Application>
  <PresentationFormat>Apresentação no Ecrã (16:9)</PresentationFormat>
  <Paragraphs>540</Paragraphs>
  <Slides>68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dos diapositivos</vt:lpstr>
      </vt:variant>
      <vt:variant>
        <vt:i4>68</vt:i4>
      </vt:variant>
    </vt:vector>
  </HeadingPairs>
  <TitlesOfParts>
    <vt:vector size="79" baseType="lpstr">
      <vt:lpstr>Aptos</vt:lpstr>
      <vt:lpstr>Arial</vt:lpstr>
      <vt:lpstr>Calibri</vt:lpstr>
      <vt:lpstr>Figtree</vt:lpstr>
      <vt:lpstr>JetBrains Mono</vt:lpstr>
      <vt:lpstr>Karla</vt:lpstr>
      <vt:lpstr>OpenSymbol</vt:lpstr>
      <vt:lpstr>Symbol</vt:lpstr>
      <vt:lpstr>Wingdings</vt:lpstr>
      <vt:lpstr>Blue Gradient by Slidesgo</vt:lpstr>
      <vt:lpstr>Slidesgo Final Pages</vt:lpstr>
      <vt:lpstr>Programação Distribuída</vt:lpstr>
      <vt:lpstr>Introdução</vt:lpstr>
      <vt:lpstr>Estrutura do projeto</vt:lpstr>
      <vt:lpstr>Packet Library</vt:lpstr>
      <vt:lpstr>Packet Library</vt:lpstr>
      <vt:lpstr>Packet Library</vt:lpstr>
      <vt:lpstr>Packet Library</vt:lpstr>
      <vt:lpstr>Packet Library</vt:lpstr>
      <vt:lpstr>Packet Library</vt:lpstr>
      <vt:lpstr>Packet Library</vt:lpstr>
      <vt:lpstr>Packet Library</vt:lpstr>
      <vt:lpstr>Serviço Diretoria</vt:lpstr>
      <vt:lpstr>Serviço de Diretoria</vt:lpstr>
      <vt:lpstr>Serviço de Diretoria</vt:lpstr>
      <vt:lpstr>Serviço de Diretoria</vt:lpstr>
      <vt:lpstr>Serviço de Diretoria</vt:lpstr>
      <vt:lpstr>Serviço de Diretoria</vt:lpstr>
      <vt:lpstr>Serviço de Diretoria</vt:lpstr>
      <vt:lpstr>Apresentação do PowerPoint</vt:lpstr>
      <vt:lpstr>Servidor</vt:lpstr>
      <vt:lpstr>Servidor – Configuração Inicial</vt:lpstr>
      <vt:lpstr>Servidor – Configuração Inicial</vt:lpstr>
      <vt:lpstr>Servidor – Configuração Inicial</vt:lpstr>
      <vt:lpstr>Servidor – Criar Base de dados</vt:lpstr>
      <vt:lpstr>Servidor – Configuração Inicial</vt:lpstr>
      <vt:lpstr>Servidor – Fluxo de funcionamento</vt:lpstr>
      <vt:lpstr>Servidor – Pedido de atualização de HeartBeat</vt:lpstr>
      <vt:lpstr>Servidor – Receção do pedido do HeartBeat</vt:lpstr>
      <vt:lpstr>Servidor – Sincronização da base de dados</vt:lpstr>
      <vt:lpstr>Servidor – Sincronização da base de dados</vt:lpstr>
      <vt:lpstr>Servidor – Ligação com o cliente</vt:lpstr>
      <vt:lpstr>Servidor – Lógica de negócio para cada cliente</vt:lpstr>
      <vt:lpstr>Apresentação do PowerPoint</vt:lpstr>
      <vt:lpstr>Cliente</vt:lpstr>
      <vt:lpstr>Cliente – Sistema de Login</vt:lpstr>
      <vt:lpstr>Cliente – Sistema de registo</vt:lpstr>
      <vt:lpstr>Cliente – Sistema de registo</vt:lpstr>
      <vt:lpstr>Cliente – Fluxo do cliente com o servidor</vt:lpstr>
      <vt:lpstr>Cliente – Reconecção</vt:lpstr>
      <vt:lpstr>Cliente – DashboardViews</vt:lpstr>
      <vt:lpstr>Cliente – Student</vt:lpstr>
      <vt:lpstr>Cliente – Instructor</vt:lpstr>
      <vt:lpstr>API REST</vt:lpstr>
      <vt:lpstr>API REST – Tabela de síntese de endoints</vt:lpstr>
      <vt:lpstr>API REST – Descrição detalhada de mensagens</vt:lpstr>
      <vt:lpstr>API REST – Descrição detalhada de mensagens</vt:lpstr>
      <vt:lpstr>API REST – Descrição detalhada de mensagens</vt:lpstr>
      <vt:lpstr>API REST – Descrição detalhada de mensagens</vt:lpstr>
      <vt:lpstr>API REST – Descrição detalhada de mensagens</vt:lpstr>
      <vt:lpstr>API REST – Descrição detalhada de mensagens</vt:lpstr>
      <vt:lpstr>API REST – Descrição detalhada de mensagens</vt:lpstr>
      <vt:lpstr>API REST – Descrição detalhada de mensagens</vt:lpstr>
      <vt:lpstr>Interface RMI</vt:lpstr>
      <vt:lpstr>Interface RMI – Tabela síntese de endpoints</vt:lpstr>
      <vt:lpstr>Interface RMI - Métodos de Autenticação e Registo</vt:lpstr>
      <vt:lpstr>Interface RMI - Métodos de Autenticação e Registo</vt:lpstr>
      <vt:lpstr>Interface RMI - Métodos de Gestão de Perfil</vt:lpstr>
      <vt:lpstr>Interface RMI - Métodos de Gestão de Perfil</vt:lpstr>
      <vt:lpstr>Interface RMI - Métodos de Interação com Perguntas</vt:lpstr>
      <vt:lpstr>Interface RMI - Métodos de Interação com Perguntas</vt:lpstr>
      <vt:lpstr>Interface RMI - Métodos de Consulta de Histórico</vt:lpstr>
      <vt:lpstr>Interface RMI - Métodos de Gestão de Perfil</vt:lpstr>
      <vt:lpstr>Interface RMI - Métodos de Gestão de Perfil</vt:lpstr>
      <vt:lpstr>Interface RMI - DTOs (Data Transfer Object)</vt:lpstr>
      <vt:lpstr>Manual de Utilizador</vt:lpstr>
      <vt:lpstr>Manual de Utilizador</vt:lpstr>
      <vt:lpstr>Manual de Utilizador</vt:lpstr>
      <vt:lpstr>Manual de Utilizador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Distribuída</dc:title>
  <dc:creator>Tiago Filipe</dc:creator>
  <cp:lastModifiedBy>Tiago Filipe</cp:lastModifiedBy>
  <cp:revision>66</cp:revision>
  <dcterms:modified xsi:type="dcterms:W3CDTF">2025-12-08T03:04:44Z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2025-12-02T22:55:55Z</dcterms:created>
  <dc:creator>Unknown Creator</dc:creator>
  <dc:description/>
  <dc:language>en-US</dc:language>
  <cp:lastModifiedBy>Unknown Creator</cp:lastModifiedBy>
  <dcterms:modified xsi:type="dcterms:W3CDTF">2025-12-02T22:55:55Z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